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2" r:id="rId2"/>
    <p:sldId id="274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5" r:id="rId19"/>
    <p:sldId id="276" r:id="rId20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917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August</a:t>
            </a:r>
            <a:r>
              <a:rPr spc="-5" dirty="0"/>
              <a:t> </a:t>
            </a:r>
            <a:r>
              <a:rPr dirty="0"/>
              <a:t>23,</a:t>
            </a:r>
            <a:r>
              <a:rPr spc="10" dirty="0"/>
              <a:t> 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‹#›</a:t>
            </a:fld>
            <a:r>
              <a:rPr spc="-90" dirty="0"/>
              <a:t> </a:t>
            </a:r>
            <a:r>
              <a:rPr spc="90" dirty="0"/>
              <a:t>/</a:t>
            </a:r>
            <a:r>
              <a:rPr spc="-90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August</a:t>
            </a:r>
            <a:r>
              <a:rPr spc="-5" dirty="0"/>
              <a:t> </a:t>
            </a:r>
            <a:r>
              <a:rPr dirty="0"/>
              <a:t>23,</a:t>
            </a:r>
            <a:r>
              <a:rPr spc="10" dirty="0"/>
              <a:t> 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‹#›</a:t>
            </a:fld>
            <a:r>
              <a:rPr spc="-90" dirty="0"/>
              <a:t> </a:t>
            </a:r>
            <a:r>
              <a:rPr spc="90" dirty="0"/>
              <a:t>/</a:t>
            </a:r>
            <a:r>
              <a:rPr spc="-90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August</a:t>
            </a:r>
            <a:r>
              <a:rPr spc="-5" dirty="0"/>
              <a:t> </a:t>
            </a:r>
            <a:r>
              <a:rPr dirty="0"/>
              <a:t>23,</a:t>
            </a:r>
            <a:r>
              <a:rPr spc="10" dirty="0"/>
              <a:t> </a:t>
            </a:r>
            <a:r>
              <a:rPr spc="-20" dirty="0"/>
              <a:t>2025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‹#›</a:t>
            </a:fld>
            <a:r>
              <a:rPr spc="-90" dirty="0"/>
              <a:t> </a:t>
            </a:r>
            <a:r>
              <a:rPr spc="90" dirty="0"/>
              <a:t>/</a:t>
            </a:r>
            <a:r>
              <a:rPr spc="-90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August</a:t>
            </a:r>
            <a:r>
              <a:rPr spc="-5" dirty="0"/>
              <a:t> </a:t>
            </a:r>
            <a:r>
              <a:rPr dirty="0"/>
              <a:t>23,</a:t>
            </a:r>
            <a:r>
              <a:rPr spc="10" dirty="0"/>
              <a:t> </a:t>
            </a:r>
            <a:r>
              <a:rPr spc="-20" dirty="0"/>
              <a:t>2025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‹#›</a:t>
            </a:fld>
            <a:r>
              <a:rPr spc="-90" dirty="0"/>
              <a:t> </a:t>
            </a:r>
            <a:r>
              <a:rPr spc="90" dirty="0"/>
              <a:t>/</a:t>
            </a:r>
            <a:r>
              <a:rPr spc="-90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133" y="326174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516" y="325777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319" y="325777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52" y="325142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83" y="325777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52" y="326412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51" y="325777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52" y="325142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619" y="3251427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418" y="325777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619" y="3289528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86" y="325142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908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413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42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87743" y="827061"/>
            <a:ext cx="4432935" cy="82550"/>
          </a:xfrm>
          <a:custGeom>
            <a:avLst/>
            <a:gdLst/>
            <a:ahLst/>
            <a:cxnLst/>
            <a:rect l="l" t="t" r="r" b="b"/>
            <a:pathLst>
              <a:path w="4432935" h="82550">
                <a:moveTo>
                  <a:pt x="4381766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82384"/>
                </a:lnTo>
                <a:lnTo>
                  <a:pt x="4432567" y="82384"/>
                </a:lnTo>
                <a:lnTo>
                  <a:pt x="4432567" y="50800"/>
                </a:lnTo>
                <a:lnTo>
                  <a:pt x="4428558" y="31075"/>
                </a:lnTo>
                <a:lnTo>
                  <a:pt x="4417644" y="14922"/>
                </a:lnTo>
                <a:lnTo>
                  <a:pt x="4401491" y="4008"/>
                </a:lnTo>
                <a:lnTo>
                  <a:pt x="438176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38544" y="890309"/>
            <a:ext cx="4432935" cy="679450"/>
          </a:xfrm>
          <a:custGeom>
            <a:avLst/>
            <a:gdLst/>
            <a:ahLst/>
            <a:cxnLst/>
            <a:rect l="l" t="t" r="r" b="b"/>
            <a:pathLst>
              <a:path w="4432935" h="679450">
                <a:moveTo>
                  <a:pt x="4432567" y="0"/>
                </a:moveTo>
                <a:lnTo>
                  <a:pt x="0" y="0"/>
                </a:lnTo>
                <a:lnTo>
                  <a:pt x="0" y="678916"/>
                </a:lnTo>
                <a:lnTo>
                  <a:pt x="4432567" y="678916"/>
                </a:lnTo>
                <a:lnTo>
                  <a:pt x="44325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87743" y="871472"/>
            <a:ext cx="4432935" cy="647065"/>
          </a:xfrm>
          <a:custGeom>
            <a:avLst/>
            <a:gdLst/>
            <a:ahLst/>
            <a:cxnLst/>
            <a:rect l="l" t="t" r="r" b="b"/>
            <a:pathLst>
              <a:path w="4432935" h="647065">
                <a:moveTo>
                  <a:pt x="4432567" y="0"/>
                </a:moveTo>
                <a:lnTo>
                  <a:pt x="0" y="0"/>
                </a:lnTo>
                <a:lnTo>
                  <a:pt x="0" y="596151"/>
                </a:lnTo>
                <a:lnTo>
                  <a:pt x="4008" y="615876"/>
                </a:lnTo>
                <a:lnTo>
                  <a:pt x="14922" y="632029"/>
                </a:lnTo>
                <a:lnTo>
                  <a:pt x="31075" y="642943"/>
                </a:lnTo>
                <a:lnTo>
                  <a:pt x="50800" y="646952"/>
                </a:lnTo>
                <a:lnTo>
                  <a:pt x="4381766" y="646952"/>
                </a:lnTo>
                <a:lnTo>
                  <a:pt x="4401491" y="642943"/>
                </a:lnTo>
                <a:lnTo>
                  <a:pt x="4417644" y="632029"/>
                </a:lnTo>
                <a:lnTo>
                  <a:pt x="4428558" y="615876"/>
                </a:lnTo>
                <a:lnTo>
                  <a:pt x="4432567" y="596151"/>
                </a:lnTo>
                <a:lnTo>
                  <a:pt x="4432567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August</a:t>
            </a:r>
            <a:r>
              <a:rPr spc="-5" dirty="0"/>
              <a:t> </a:t>
            </a:r>
            <a:r>
              <a:rPr dirty="0"/>
              <a:t>23,</a:t>
            </a:r>
            <a:r>
              <a:rPr spc="10" dirty="0"/>
              <a:t> </a:t>
            </a:r>
            <a:r>
              <a:rPr spc="-20" dirty="0"/>
              <a:t>2025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‹#›</a:t>
            </a:fld>
            <a:r>
              <a:rPr spc="-90" dirty="0"/>
              <a:t> </a:t>
            </a:r>
            <a:r>
              <a:rPr spc="90" dirty="0"/>
              <a:t>/</a:t>
            </a:r>
            <a:r>
              <a:rPr spc="-90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tx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133" y="3261740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516" y="325777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319" y="3257778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52" y="3251428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83" y="325777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52" y="3264128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51" y="325777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52" y="325142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619" y="3251427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418" y="3257778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619" y="3289528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86" y="3251427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908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413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428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60004"/>
            <a:ext cx="4370705" cy="471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444" y="1284875"/>
            <a:ext cx="2956560" cy="822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37216" y="3322038"/>
            <a:ext cx="579120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August</a:t>
            </a:r>
            <a:r>
              <a:rPr spc="-5" dirty="0"/>
              <a:t> </a:t>
            </a:r>
            <a:r>
              <a:rPr dirty="0"/>
              <a:t>23,</a:t>
            </a:r>
            <a:r>
              <a:rPr spc="10" dirty="0"/>
              <a:t> </a:t>
            </a:r>
            <a:r>
              <a:rPr spc="-20" dirty="0"/>
              <a:t>2025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00956" y="3322038"/>
            <a:ext cx="252729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‹#›</a:t>
            </a:fld>
            <a:r>
              <a:rPr spc="-90" dirty="0"/>
              <a:t> </a:t>
            </a:r>
            <a:r>
              <a:rPr spc="90" dirty="0"/>
              <a:t>/</a:t>
            </a:r>
            <a:r>
              <a:rPr spc="-90" dirty="0"/>
              <a:t> </a:t>
            </a:r>
            <a:r>
              <a:rPr spc="-35" dirty="0"/>
              <a:t>16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slide" Target="slide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17.xml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slide" Target="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C601648-70B7-2041-4FDB-CFDE4ED36E24}"/>
              </a:ext>
            </a:extLst>
          </p:cNvPr>
          <p:cNvSpPr txBox="1"/>
          <p:nvPr/>
        </p:nvSpPr>
        <p:spPr>
          <a:xfrm>
            <a:off x="95250" y="2263775"/>
            <a:ext cx="3886200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TEAM MEMBERS:</a:t>
            </a:r>
          </a:p>
          <a:p>
            <a:r>
              <a:rPr lang="en-IN" sz="1100" dirty="0"/>
              <a:t>DASARI RISHIKESH-CB.SC.U4AIE24365</a:t>
            </a:r>
          </a:p>
          <a:p>
            <a:r>
              <a:rPr lang="en-IN" sz="1100" dirty="0"/>
              <a:t>ARYAN-CB.SC.U4AIE24341</a:t>
            </a:r>
          </a:p>
          <a:p>
            <a:r>
              <a:rPr lang="en-IN" sz="1100" dirty="0"/>
              <a:t>ABHISHEK-CB.SC.U4AIE24325</a:t>
            </a:r>
          </a:p>
          <a:p>
            <a:r>
              <a:rPr lang="en-IN" sz="1100" dirty="0"/>
              <a:t>INDRANEEL-CB.SC.U4AIE24323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29D7BC-60B5-8BC1-8A98-3E945E0FEC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2575"/>
            <a:ext cx="4610100" cy="8121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5250" y="1245967"/>
            <a:ext cx="4114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Enhancing Summarization </a:t>
            </a:r>
            <a:r>
              <a:rPr lang="en-US" dirty="0" err="1"/>
              <a:t>Efficiency:Text</a:t>
            </a:r>
            <a:r>
              <a:rPr lang="en-US" dirty="0"/>
              <a:t> Summarization using T5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5391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420F-05DE-AF75-1E58-7355D4BDF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945" y="1011594"/>
            <a:ext cx="3976211" cy="12464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Reading and summarizing books manually is </a:t>
            </a:r>
            <a:r>
              <a:rPr lang="en-US" b="1" dirty="0"/>
              <a:t>slow and hard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Large AI models like GPT-2 can do this job, but they need </a:t>
            </a:r>
            <a:r>
              <a:rPr lang="en-US" b="1" dirty="0"/>
              <a:t>powerful computers</a:t>
            </a:r>
            <a:r>
              <a:rPr lang="en-US" dirty="0"/>
              <a:t>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Our goal: make GPT-2 </a:t>
            </a:r>
            <a:r>
              <a:rPr lang="en-US" b="1" dirty="0"/>
              <a:t>efficient</a:t>
            </a:r>
            <a:r>
              <a:rPr lang="en-US" dirty="0"/>
              <a:t> so that summarization can run even on smaller machines.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We used the </a:t>
            </a:r>
            <a:r>
              <a:rPr lang="en-US" b="1" dirty="0"/>
              <a:t>BBC News summary dataset</a:t>
            </a:r>
            <a:r>
              <a:rPr lang="en-US" dirty="0"/>
              <a:t>, which contains around 2,225 BBC news articles and their short summaries across </a:t>
            </a:r>
            <a:r>
              <a:rPr lang="en-US" b="1" dirty="0"/>
              <a:t>5 categories</a:t>
            </a:r>
            <a:r>
              <a:rPr lang="en-US" dirty="0"/>
              <a:t> — </a:t>
            </a:r>
            <a:r>
              <a:rPr lang="en-US" i="1" dirty="0"/>
              <a:t>business, entertainment, politics, sport,</a:t>
            </a:r>
            <a:r>
              <a:rPr lang="en-US" dirty="0"/>
              <a:t> and </a:t>
            </a:r>
            <a:r>
              <a:rPr lang="en-US" i="1" dirty="0"/>
              <a:t>tech</a:t>
            </a:r>
            <a:r>
              <a:rPr lang="en-US" dirty="0"/>
              <a:t> — used for text summarization and classification tasks.</a:t>
            </a:r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316945" y="53975"/>
            <a:ext cx="2292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INTRODUCTION: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08216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Problem</a:t>
            </a:r>
            <a:r>
              <a:rPr spc="-35" dirty="0"/>
              <a:t> </a:t>
            </a:r>
            <a:r>
              <a:rPr spc="-30" dirty="0"/>
              <a:t>Statement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2516" y="1044728"/>
            <a:ext cx="4395470" cy="420821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38100" marR="30480">
              <a:lnSpc>
                <a:spcPct val="101499"/>
              </a:lnSpc>
              <a:spcBef>
                <a:spcPts val="80"/>
              </a:spcBef>
            </a:pPr>
            <a:r>
              <a:rPr sz="900" dirty="0">
                <a:latin typeface="Tahoma"/>
                <a:cs typeface="Tahoma"/>
              </a:rPr>
              <a:t>The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document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summarization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as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45" dirty="0">
                <a:latin typeface="Tahoma"/>
                <a:cs typeface="Tahoma"/>
              </a:rPr>
              <a:t>sparse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optimization</a:t>
            </a:r>
            <a:r>
              <a:rPr sz="900" spc="-20" dirty="0">
                <a:latin typeface="Tahoma"/>
                <a:cs typeface="Tahoma"/>
              </a:rPr>
              <a:t> problem </a:t>
            </a:r>
            <a:r>
              <a:rPr sz="900" spc="-25" dirty="0">
                <a:latin typeface="Tahoma"/>
                <a:cs typeface="Tahoma"/>
              </a:rPr>
              <a:t>to </a:t>
            </a:r>
            <a:r>
              <a:rPr sz="900" spc="-20" dirty="0">
                <a:latin typeface="Tahoma"/>
                <a:cs typeface="Tahoma"/>
              </a:rPr>
              <a:t>create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concise</a:t>
            </a:r>
            <a:r>
              <a:rPr sz="900" spc="-25" dirty="0">
                <a:latin typeface="Tahoma"/>
                <a:cs typeface="Tahoma"/>
              </a:rPr>
              <a:t> summaries.</a:t>
            </a:r>
            <a:r>
              <a:rPr sz="900" spc="6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Extractive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summarization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selects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key </a:t>
            </a:r>
            <a:r>
              <a:rPr sz="900" spc="-30" dirty="0">
                <a:latin typeface="Tahoma"/>
                <a:cs typeface="Tahoma"/>
              </a:rPr>
              <a:t>sentences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from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50" dirty="0">
                <a:latin typeface="Tahoma"/>
                <a:cs typeface="Tahoma"/>
              </a:rPr>
              <a:t>a </a:t>
            </a:r>
            <a:r>
              <a:rPr sz="900" spc="-10" dirty="0">
                <a:latin typeface="Tahoma"/>
                <a:cs typeface="Tahoma"/>
              </a:rPr>
              <a:t>document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spc="50" dirty="0">
                <a:latin typeface="Cambria"/>
                <a:cs typeface="Cambria"/>
              </a:rPr>
              <a:t>∈</a:t>
            </a:r>
            <a:r>
              <a:rPr sz="900" spc="40" dirty="0">
                <a:latin typeface="Cambria"/>
                <a:cs typeface="Cambria"/>
              </a:rPr>
              <a:t> </a:t>
            </a:r>
            <a:r>
              <a:rPr sz="900" dirty="0">
                <a:latin typeface="Arial MT"/>
                <a:cs typeface="Arial MT"/>
              </a:rPr>
              <a:t>R</a:t>
            </a:r>
            <a:r>
              <a:rPr sz="900" i="1" baseline="37037" dirty="0">
                <a:latin typeface="Arial"/>
                <a:cs typeface="Arial"/>
              </a:rPr>
              <a:t>d</a:t>
            </a:r>
            <a:r>
              <a:rPr sz="900" i="1" baseline="37037" dirty="0">
                <a:latin typeface="Verdana"/>
                <a:cs typeface="Verdana"/>
              </a:rPr>
              <a:t>×</a:t>
            </a:r>
            <a:r>
              <a:rPr sz="900" i="1" baseline="37037" dirty="0">
                <a:latin typeface="Arial"/>
                <a:cs typeface="Arial"/>
              </a:rPr>
              <a:t>n</a:t>
            </a:r>
            <a:r>
              <a:rPr sz="900" i="1" spc="240" baseline="37037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dirty="0">
                <a:latin typeface="Tahoma"/>
                <a:cs typeface="Tahoma"/>
              </a:rPr>
              <a:t>:</a:t>
            </a:r>
            <a:r>
              <a:rPr sz="900" spc="10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vocabulary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size,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n</a:t>
            </a:r>
            <a:r>
              <a:rPr sz="900" dirty="0">
                <a:latin typeface="Tahoma"/>
                <a:cs typeface="Tahoma"/>
              </a:rPr>
              <a:t>:</a:t>
            </a:r>
            <a:r>
              <a:rPr sz="900" spc="10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sentences)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by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finding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spc="50" dirty="0">
                <a:latin typeface="Cambria"/>
                <a:cs typeface="Cambria"/>
              </a:rPr>
              <a:t>∈</a:t>
            </a:r>
            <a:r>
              <a:rPr sz="900" spc="40" dirty="0">
                <a:latin typeface="Cambria"/>
                <a:cs typeface="Cambria"/>
              </a:rPr>
              <a:t> </a:t>
            </a:r>
            <a:r>
              <a:rPr sz="900" dirty="0">
                <a:latin typeface="Arial MT"/>
                <a:cs typeface="Arial MT"/>
              </a:rPr>
              <a:t>R</a:t>
            </a:r>
            <a:r>
              <a:rPr sz="900" i="1" baseline="37037" dirty="0">
                <a:latin typeface="Arial"/>
                <a:cs typeface="Arial"/>
              </a:rPr>
              <a:t>n</a:t>
            </a:r>
            <a:r>
              <a:rPr sz="900" i="1" baseline="37037" dirty="0">
                <a:latin typeface="Verdana"/>
                <a:cs typeface="Verdana"/>
              </a:rPr>
              <a:t>×</a:t>
            </a:r>
            <a:r>
              <a:rPr sz="900" i="1" baseline="37037" dirty="0">
                <a:latin typeface="Arial"/>
                <a:cs typeface="Arial"/>
              </a:rPr>
              <a:t>n</a:t>
            </a:r>
            <a:r>
              <a:rPr sz="900" i="1" spc="240" baseline="37037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minimize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8321" y="1507896"/>
            <a:ext cx="31750" cy="1143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97329" y="1507896"/>
            <a:ext cx="31750" cy="1143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630438" y="1456631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2455" y="1507896"/>
            <a:ext cx="31750" cy="1143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209" y="1507896"/>
            <a:ext cx="31750" cy="1143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605038" y="1528323"/>
            <a:ext cx="140779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259840" algn="l"/>
              </a:tabLst>
            </a:pPr>
            <a:r>
              <a:rPr sz="600" i="1" spc="-50" dirty="0">
                <a:latin typeface="Arial"/>
                <a:cs typeface="Arial"/>
              </a:rPr>
              <a:t>F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900" spc="-37" baseline="9259" dirty="0">
                <a:latin typeface="Tahoma"/>
                <a:cs typeface="Tahoma"/>
              </a:rPr>
              <a:t>2</a:t>
            </a:r>
            <a:r>
              <a:rPr sz="900" i="1" spc="-37" baseline="9259" dirty="0">
                <a:latin typeface="Calibri"/>
                <a:cs typeface="Calibri"/>
              </a:rPr>
              <a:t>,</a:t>
            </a:r>
            <a:r>
              <a:rPr sz="900" spc="-37" baseline="9259" dirty="0">
                <a:latin typeface="Tahoma"/>
                <a:cs typeface="Tahoma"/>
              </a:rPr>
              <a:t>1</a:t>
            </a:r>
            <a:endParaRPr sz="900" baseline="9259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639477" y="1479697"/>
            <a:ext cx="2470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600" i="1" dirty="0">
                <a:latin typeface="Arial"/>
                <a:cs typeface="Arial"/>
              </a:rPr>
              <a:t>ij</a:t>
            </a:r>
            <a:r>
              <a:rPr sz="600" i="1" spc="170" dirty="0">
                <a:latin typeface="Arial"/>
                <a:cs typeface="Arial"/>
              </a:rPr>
              <a:t> </a:t>
            </a:r>
            <a:r>
              <a:rPr sz="1350" spc="247" baseline="6172" dirty="0">
                <a:latin typeface="Cambria"/>
                <a:cs typeface="Cambria"/>
              </a:rPr>
              <a:t>≥</a:t>
            </a:r>
            <a:endParaRPr sz="1350" baseline="6172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25844" y="1467048"/>
            <a:ext cx="38588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08455" algn="l"/>
                <a:tab pos="2854325" algn="l"/>
                <a:tab pos="3754120" algn="l"/>
              </a:tabLst>
            </a:pPr>
            <a:r>
              <a:rPr sz="900" spc="-10" dirty="0">
                <a:latin typeface="Tahoma"/>
                <a:cs typeface="Tahoma"/>
              </a:rPr>
              <a:t>reconstruction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error</a:t>
            </a:r>
            <a:r>
              <a:rPr sz="900" spc="38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6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-25" dirty="0">
                <a:latin typeface="Cambria"/>
                <a:cs typeface="Cambria"/>
              </a:rPr>
              <a:t> </a:t>
            </a:r>
            <a:r>
              <a:rPr sz="900" i="1" spc="-25" dirty="0">
                <a:latin typeface="Arial"/>
                <a:cs typeface="Arial"/>
              </a:rPr>
              <a:t>DA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dirty="0">
                <a:latin typeface="Tahoma"/>
                <a:cs typeface="Tahoma"/>
              </a:rPr>
              <a:t>with</a:t>
            </a:r>
            <a:r>
              <a:rPr sz="900" spc="-10" dirty="0">
                <a:latin typeface="Tahoma"/>
                <a:cs typeface="Tahoma"/>
              </a:rPr>
              <a:t> row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sparsity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i="1" spc="120" dirty="0">
                <a:latin typeface="Calibri"/>
                <a:cs typeface="Calibri"/>
              </a:rPr>
              <a:t>λ</a:t>
            </a:r>
            <a:r>
              <a:rPr sz="900" i="1" spc="204" dirty="0">
                <a:latin typeface="Calibri"/>
                <a:cs typeface="Calibri"/>
              </a:rPr>
              <a:t> </a:t>
            </a:r>
            <a:r>
              <a:rPr sz="900" i="1" spc="-50" dirty="0">
                <a:latin typeface="Arial"/>
                <a:cs typeface="Arial"/>
              </a:rPr>
              <a:t>A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dirty="0">
                <a:latin typeface="Tahoma"/>
                <a:cs typeface="Tahoma"/>
              </a:rPr>
              <a:t>,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constraints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a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-25" dirty="0">
                <a:latin typeface="Tahoma"/>
                <a:cs typeface="Tahoma"/>
              </a:rPr>
              <a:t>0,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33154" y="1595810"/>
            <a:ext cx="7747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05155" algn="l"/>
              </a:tabLst>
            </a:pPr>
            <a:r>
              <a:rPr sz="600" i="1" spc="15" dirty="0">
                <a:latin typeface="Arial"/>
                <a:cs typeface="Arial"/>
              </a:rPr>
              <a:t>T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25" dirty="0">
                <a:latin typeface="Arial"/>
                <a:cs typeface="Arial"/>
              </a:rPr>
              <a:t>n</a:t>
            </a:r>
            <a:r>
              <a:rPr sz="600" i="1" spc="-25" dirty="0">
                <a:latin typeface="Verdana"/>
                <a:cs typeface="Verdana"/>
              </a:rPr>
              <a:t>×</a:t>
            </a:r>
            <a:r>
              <a:rPr sz="600" i="1" spc="-25" dirty="0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844" y="1606227"/>
            <a:ext cx="38195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075305" algn="l"/>
              </a:tabLst>
            </a:pPr>
            <a:r>
              <a:rPr sz="900" spc="-10" dirty="0">
                <a:latin typeface="Tahoma"/>
                <a:cs typeface="Tahoma"/>
              </a:rPr>
              <a:t>diag(</a:t>
            </a:r>
            <a:r>
              <a:rPr sz="900" i="1" spc="-10" dirty="0">
                <a:latin typeface="Arial"/>
                <a:cs typeface="Arial"/>
              </a:rPr>
              <a:t>A</a:t>
            </a:r>
            <a:r>
              <a:rPr sz="900" spc="-10" dirty="0">
                <a:latin typeface="Tahoma"/>
                <a:cs typeface="Tahoma"/>
              </a:rPr>
              <a:t>)</a:t>
            </a:r>
            <a:r>
              <a:rPr sz="900" spc="-5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5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0, and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optional </a:t>
            </a:r>
            <a:r>
              <a:rPr sz="900" spc="-10" dirty="0">
                <a:latin typeface="Tahoma"/>
                <a:cs typeface="Tahoma"/>
              </a:rPr>
              <a:t>diversity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term </a:t>
            </a:r>
            <a:r>
              <a:rPr sz="900" i="1" spc="55" dirty="0">
                <a:latin typeface="Calibri"/>
                <a:cs typeface="Calibri"/>
              </a:rPr>
              <a:t>µ</a:t>
            </a:r>
            <a:r>
              <a:rPr sz="900" spc="55" dirty="0">
                <a:latin typeface="Tahoma"/>
                <a:cs typeface="Tahoma"/>
              </a:rPr>
              <a:t>tr(∆</a:t>
            </a:r>
            <a:r>
              <a:rPr sz="900" spc="16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Tahoma"/>
                <a:cs typeface="Tahoma"/>
              </a:rPr>
              <a:t>) </a:t>
            </a:r>
            <a:r>
              <a:rPr sz="900" spc="100" dirty="0">
                <a:latin typeface="Tahoma"/>
                <a:cs typeface="Tahoma"/>
              </a:rPr>
              <a:t>(∆</a:t>
            </a:r>
            <a:r>
              <a:rPr sz="900" spc="-50" dirty="0">
                <a:latin typeface="Tahoma"/>
                <a:cs typeface="Tahoma"/>
              </a:rPr>
              <a:t> </a:t>
            </a:r>
            <a:r>
              <a:rPr sz="900" spc="50" dirty="0">
                <a:latin typeface="Cambria"/>
                <a:cs typeface="Cambria"/>
              </a:rPr>
              <a:t>∈</a:t>
            </a:r>
            <a:r>
              <a:rPr sz="900" spc="35" dirty="0">
                <a:latin typeface="Cambria"/>
                <a:cs typeface="Cambria"/>
              </a:rPr>
              <a:t> </a:t>
            </a:r>
            <a:r>
              <a:rPr sz="900" spc="-50" dirty="0">
                <a:latin typeface="Arial MT"/>
                <a:cs typeface="Arial MT"/>
              </a:rPr>
              <a:t>R</a:t>
            </a:r>
            <a:r>
              <a:rPr sz="900" dirty="0">
                <a:latin typeface="Arial MT"/>
                <a:cs typeface="Arial MT"/>
              </a:rPr>
              <a:t>	</a:t>
            </a:r>
            <a:r>
              <a:rPr sz="900" dirty="0">
                <a:latin typeface="Tahoma"/>
                <a:cs typeface="Tahoma"/>
              </a:rPr>
              <a:t>:</a:t>
            </a:r>
            <a:r>
              <a:rPr sz="900" spc="6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dissimilarity).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0444" y="1745406"/>
            <a:ext cx="36899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Tahoma"/>
                <a:cs typeface="Tahoma"/>
              </a:rPr>
              <a:t>Compressive</a:t>
            </a:r>
            <a:r>
              <a:rPr sz="90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summarization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optimizes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35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and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45" dirty="0">
                <a:latin typeface="Tahoma"/>
                <a:cs typeface="Tahoma"/>
              </a:rPr>
              <a:t>sparse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spc="50" dirty="0">
                <a:latin typeface="Cambria"/>
                <a:cs typeface="Cambria"/>
              </a:rPr>
              <a:t>∈</a:t>
            </a:r>
            <a:r>
              <a:rPr sz="900" spc="35" dirty="0">
                <a:latin typeface="Cambria"/>
                <a:cs typeface="Cambria"/>
              </a:rPr>
              <a:t> </a:t>
            </a:r>
            <a:r>
              <a:rPr sz="900" dirty="0">
                <a:latin typeface="Arial MT"/>
                <a:cs typeface="Arial MT"/>
              </a:rPr>
              <a:t>R</a:t>
            </a:r>
            <a:r>
              <a:rPr sz="900" i="1" baseline="37037" dirty="0">
                <a:latin typeface="Arial"/>
                <a:cs typeface="Arial"/>
              </a:rPr>
              <a:t>d</a:t>
            </a:r>
            <a:r>
              <a:rPr sz="900" i="1" baseline="37037" dirty="0">
                <a:latin typeface="Verdana"/>
                <a:cs typeface="Verdana"/>
              </a:rPr>
              <a:t>×</a:t>
            </a:r>
            <a:r>
              <a:rPr sz="900" i="1" baseline="37037" dirty="0">
                <a:latin typeface="Arial"/>
                <a:cs typeface="Arial"/>
              </a:rPr>
              <a:t>n</a:t>
            </a:r>
            <a:r>
              <a:rPr sz="900" dirty="0">
                <a:latin typeface="Tahoma"/>
                <a:cs typeface="Tahoma"/>
              </a:rPr>
              <a:t>,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minimizing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244" y="1925434"/>
            <a:ext cx="31750" cy="11430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184365" y="1884586"/>
            <a:ext cx="4076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10" dirty="0">
                <a:latin typeface="Cambria"/>
                <a:cs typeface="Cambria"/>
              </a:rPr>
              <a:t> </a:t>
            </a:r>
            <a:r>
              <a:rPr sz="900" i="1" spc="-25" dirty="0">
                <a:latin typeface="Arial"/>
                <a:cs typeface="Arial"/>
              </a:rPr>
              <a:t>RA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1489" y="1925434"/>
            <a:ext cx="31750" cy="11430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624598" y="187416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4598" y="1945861"/>
            <a:ext cx="71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0437" y="1925434"/>
            <a:ext cx="31750" cy="11430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7178" y="1925434"/>
            <a:ext cx="31750" cy="114300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610999" y="1870983"/>
            <a:ext cx="1492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380" dirty="0">
                <a:latin typeface="Georgia"/>
                <a:cs typeface="Georgia"/>
              </a:rPr>
              <a:t>Σ</a:t>
            </a:r>
            <a:endParaRPr sz="900" dirty="0">
              <a:latin typeface="Georgia"/>
              <a:cs typeface="Georgia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29079" y="1977994"/>
            <a:ext cx="45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i</a:t>
            </a:r>
            <a:endParaRPr sz="600" dirty="0">
              <a:latin typeface="Arial"/>
              <a:cs typeface="Arial"/>
            </a:endParaRPr>
          </a:p>
        </p:txBody>
      </p:sp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7497" y="1925434"/>
            <a:ext cx="31750" cy="114300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7390" y="1925434"/>
            <a:ext cx="31750" cy="114300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626897" y="1897235"/>
            <a:ext cx="37877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95"/>
              </a:spcBef>
              <a:tabLst>
                <a:tab pos="1136015" algn="l"/>
              </a:tabLst>
            </a:pPr>
            <a:r>
              <a:rPr sz="1350" spc="97" baseline="6172" dirty="0">
                <a:latin typeface="Tahoma"/>
                <a:cs typeface="Tahoma"/>
              </a:rPr>
              <a:t>+</a:t>
            </a:r>
            <a:r>
              <a:rPr sz="1350" spc="-112" baseline="6172" dirty="0">
                <a:latin typeface="Tahoma"/>
                <a:cs typeface="Tahoma"/>
              </a:rPr>
              <a:t> </a:t>
            </a:r>
            <a:r>
              <a:rPr sz="1350" i="1" spc="82" baseline="6172" dirty="0">
                <a:latin typeface="Calibri"/>
                <a:cs typeface="Calibri"/>
              </a:rPr>
              <a:t>λ</a:t>
            </a:r>
            <a:r>
              <a:rPr sz="600" spc="55" dirty="0">
                <a:latin typeface="Tahoma"/>
                <a:cs typeface="Tahoma"/>
              </a:rPr>
              <a:t>1</a:t>
            </a:r>
            <a:r>
              <a:rPr sz="600" spc="345" dirty="0">
                <a:latin typeface="Tahoma"/>
                <a:cs typeface="Tahoma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A</a:t>
            </a:r>
            <a:r>
              <a:rPr sz="1350" i="1" spc="345" baseline="6172" dirty="0">
                <a:latin typeface="Arial"/>
                <a:cs typeface="Arial"/>
              </a:rPr>
              <a:t> </a:t>
            </a:r>
            <a:r>
              <a:rPr sz="600" dirty="0">
                <a:latin typeface="Tahoma"/>
                <a:cs typeface="Tahoma"/>
              </a:rPr>
              <a:t>2</a:t>
            </a:r>
            <a:r>
              <a:rPr sz="600" i="1" dirty="0">
                <a:latin typeface="Calibri"/>
                <a:cs typeface="Calibri"/>
              </a:rPr>
              <a:t>,</a:t>
            </a:r>
            <a:r>
              <a:rPr sz="600" dirty="0">
                <a:latin typeface="Tahoma"/>
                <a:cs typeface="Tahoma"/>
              </a:rPr>
              <a:t>1</a:t>
            </a:r>
            <a:r>
              <a:rPr sz="600" spc="75" dirty="0">
                <a:latin typeface="Tahoma"/>
                <a:cs typeface="Tahoma"/>
              </a:rPr>
              <a:t> </a:t>
            </a:r>
            <a:r>
              <a:rPr sz="1350" spc="97" baseline="6172" dirty="0">
                <a:latin typeface="Tahoma"/>
                <a:cs typeface="Tahoma"/>
              </a:rPr>
              <a:t>+</a:t>
            </a:r>
            <a:r>
              <a:rPr sz="1350" spc="-104" baseline="6172" dirty="0">
                <a:latin typeface="Tahoma"/>
                <a:cs typeface="Tahoma"/>
              </a:rPr>
              <a:t> </a:t>
            </a:r>
            <a:r>
              <a:rPr sz="1350" i="1" spc="44" baseline="6172" dirty="0">
                <a:latin typeface="Calibri"/>
                <a:cs typeface="Calibri"/>
              </a:rPr>
              <a:t>λ</a:t>
            </a:r>
            <a:r>
              <a:rPr sz="600" spc="30" dirty="0">
                <a:latin typeface="Tahoma"/>
                <a:cs typeface="Tahoma"/>
              </a:rPr>
              <a:t>2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1350" i="1" baseline="6172" dirty="0">
                <a:latin typeface="Arial"/>
                <a:cs typeface="Arial"/>
              </a:rPr>
              <a:t>R</a:t>
            </a:r>
            <a:r>
              <a:rPr sz="600" i="1" dirty="0">
                <a:latin typeface="Arial"/>
                <a:cs typeface="Arial"/>
              </a:rPr>
              <a:t>i</a:t>
            </a:r>
            <a:r>
              <a:rPr sz="600" i="1" spc="290" dirty="0">
                <a:latin typeface="Arial"/>
                <a:cs typeface="Arial"/>
              </a:rPr>
              <a:t> </a:t>
            </a:r>
            <a:r>
              <a:rPr sz="600" dirty="0">
                <a:latin typeface="Tahoma"/>
                <a:cs typeface="Tahoma"/>
              </a:rPr>
              <a:t>1</a:t>
            </a:r>
            <a:r>
              <a:rPr sz="1350" baseline="6172" dirty="0">
                <a:latin typeface="Tahoma"/>
                <a:cs typeface="Tahoma"/>
              </a:rPr>
              <a:t>,</a:t>
            </a:r>
            <a:r>
              <a:rPr sz="1350" spc="-7" baseline="6172" dirty="0">
                <a:latin typeface="Tahoma"/>
                <a:cs typeface="Tahoma"/>
              </a:rPr>
              <a:t> </a:t>
            </a:r>
            <a:r>
              <a:rPr sz="1350" baseline="6172" dirty="0">
                <a:latin typeface="Tahoma"/>
                <a:cs typeface="Tahoma"/>
              </a:rPr>
              <a:t>with </a:t>
            </a:r>
            <a:r>
              <a:rPr sz="1350" spc="-15" baseline="6172" dirty="0">
                <a:latin typeface="Tahoma"/>
                <a:cs typeface="Tahoma"/>
              </a:rPr>
              <a:t>grammatical</a:t>
            </a:r>
            <a:r>
              <a:rPr sz="1350" spc="-7" baseline="6172" dirty="0">
                <a:latin typeface="Tahoma"/>
                <a:cs typeface="Tahoma"/>
              </a:rPr>
              <a:t> </a:t>
            </a:r>
            <a:r>
              <a:rPr sz="1350" spc="-15" baseline="6172" dirty="0">
                <a:latin typeface="Tahoma"/>
                <a:cs typeface="Tahoma"/>
              </a:rPr>
              <a:t>constraints,</a:t>
            </a:r>
            <a:r>
              <a:rPr sz="1350" baseline="6172" dirty="0">
                <a:latin typeface="Tahoma"/>
                <a:cs typeface="Tahoma"/>
              </a:rPr>
              <a:t> </a:t>
            </a:r>
            <a:r>
              <a:rPr sz="1350" spc="-15" baseline="6172" dirty="0">
                <a:latin typeface="Tahoma"/>
                <a:cs typeface="Tahoma"/>
              </a:rPr>
              <a:t>using</a:t>
            </a:r>
            <a:r>
              <a:rPr sz="1350" spc="-7" baseline="6172" dirty="0">
                <a:latin typeface="Tahoma"/>
                <a:cs typeface="Tahoma"/>
              </a:rPr>
              <a:t> </a:t>
            </a:r>
            <a:r>
              <a:rPr sz="1350" spc="127" baseline="6172" dirty="0">
                <a:latin typeface="Tahoma"/>
                <a:cs typeface="Tahoma"/>
              </a:rPr>
              <a:t>ADMM</a:t>
            </a:r>
            <a:r>
              <a:rPr sz="1350" baseline="6172" dirty="0">
                <a:latin typeface="Tahoma"/>
                <a:cs typeface="Tahoma"/>
              </a:rPr>
              <a:t> </a:t>
            </a:r>
            <a:r>
              <a:rPr sz="1350" spc="-37" baseline="6172" dirty="0">
                <a:latin typeface="Tahoma"/>
                <a:cs typeface="Tahoma"/>
              </a:rPr>
              <a:t>for</a:t>
            </a:r>
            <a:endParaRPr sz="1350" baseline="6172" dirty="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5844" y="2082573"/>
            <a:ext cx="4037965" cy="15016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1499"/>
              </a:lnSpc>
              <a:spcBef>
                <a:spcPts val="80"/>
              </a:spcBef>
            </a:pPr>
            <a:r>
              <a:rPr sz="900" spc="-25" dirty="0">
                <a:latin typeface="Tahoma"/>
                <a:cs typeface="Tahoma"/>
              </a:rPr>
              <a:t>convex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extractive</a:t>
            </a:r>
            <a:r>
              <a:rPr sz="900" spc="-25" dirty="0">
                <a:latin typeface="Tahoma"/>
                <a:cs typeface="Tahoma"/>
              </a:rPr>
              <a:t> cases</a:t>
            </a:r>
            <a:r>
              <a:rPr sz="900" spc="-10" dirty="0">
                <a:latin typeface="Tahoma"/>
                <a:cs typeface="Tahoma"/>
              </a:rPr>
              <a:t>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39710" y="3334738"/>
            <a:ext cx="204470" cy="111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zation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523276" y="3322038"/>
            <a:ext cx="152971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Document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Summarization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via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Sparse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Optimi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August</a:t>
            </a:r>
            <a:r>
              <a:rPr spc="-5" dirty="0"/>
              <a:t> </a:t>
            </a:r>
            <a:r>
              <a:rPr dirty="0"/>
              <a:t>23,</a:t>
            </a:r>
            <a:r>
              <a:rPr spc="10" dirty="0"/>
              <a:t> </a:t>
            </a:r>
            <a:r>
              <a:rPr spc="-20" dirty="0"/>
              <a:t>2025</a:t>
            </a:r>
          </a:p>
        </p:txBody>
      </p:sp>
      <p:sp>
        <p:nvSpPr>
          <p:cNvPr id="36" name="object 3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3</a:t>
            </a:fld>
            <a:r>
              <a:rPr spc="-90" dirty="0"/>
              <a:t> </a:t>
            </a:r>
            <a:r>
              <a:rPr spc="90" dirty="0"/>
              <a:t>/</a:t>
            </a:r>
            <a:r>
              <a:rPr spc="-90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437070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105" dirty="0"/>
              <a:t> </a:t>
            </a:r>
            <a:r>
              <a:rPr spc="-20" dirty="0"/>
              <a:t>Extractive</a:t>
            </a:r>
            <a:r>
              <a:rPr spc="-35" dirty="0"/>
              <a:t> </a:t>
            </a:r>
            <a:r>
              <a:rPr spc="-30" dirty="0"/>
              <a:t>Summarization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77809" y="1070653"/>
            <a:ext cx="1574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X</a:t>
            </a:r>
            <a:r>
              <a:rPr sz="600" i="1" spc="-25" dirty="0">
                <a:latin typeface="Calibri"/>
                <a:cs typeface="Calibri"/>
              </a:rPr>
              <a:t>,</a:t>
            </a:r>
            <a:r>
              <a:rPr sz="600" i="1" spc="-25" dirty="0">
                <a:latin typeface="Arial"/>
                <a:cs typeface="Arial"/>
              </a:rPr>
              <a:t>Z</a:t>
            </a:r>
            <a:endParaRPr sz="6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9307" y="1001877"/>
            <a:ext cx="31750" cy="1143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8316" y="1001877"/>
            <a:ext cx="31750" cy="1143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361438" y="944288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50629" y="1001877"/>
            <a:ext cx="31750" cy="1143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653057" y="961029"/>
            <a:ext cx="11277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9465" algn="l"/>
              </a:tabLst>
            </a:pPr>
            <a:r>
              <a:rPr sz="900" dirty="0">
                <a:latin typeface="Tahoma"/>
                <a:cs typeface="Tahoma"/>
              </a:rPr>
              <a:t>min</a:t>
            </a:r>
            <a:r>
              <a:rPr sz="900" spc="32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5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dirty="0">
                <a:latin typeface="Cambria"/>
                <a:cs typeface="Cambria"/>
              </a:rPr>
              <a:t> </a:t>
            </a:r>
            <a:r>
              <a:rPr sz="900" i="1" spc="-25" dirty="0">
                <a:latin typeface="Arial"/>
                <a:cs typeface="Arial"/>
              </a:rPr>
              <a:t>DX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spc="120" dirty="0">
                <a:latin typeface="Calibri"/>
                <a:cs typeface="Calibri"/>
              </a:rPr>
              <a:t>λ</a:t>
            </a:r>
            <a:r>
              <a:rPr sz="900" i="1" spc="250" dirty="0">
                <a:latin typeface="Calibri"/>
                <a:cs typeface="Calibri"/>
              </a:rPr>
              <a:t> </a:t>
            </a:r>
            <a:r>
              <a:rPr sz="900" i="1" spc="-50" dirty="0">
                <a:latin typeface="Arial"/>
                <a:cs typeface="Arial"/>
              </a:rPr>
              <a:t>Z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0664" y="1001877"/>
            <a:ext cx="31750" cy="1143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361438" y="1019015"/>
            <a:ext cx="5873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4820" algn="l"/>
              </a:tabLst>
            </a:pPr>
            <a:r>
              <a:rPr sz="600" i="1" spc="-50" dirty="0">
                <a:latin typeface="Arial"/>
                <a:cs typeface="Arial"/>
              </a:rPr>
              <a:t>F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900" spc="-37" baseline="4629" dirty="0">
                <a:latin typeface="Tahoma"/>
                <a:cs typeface="Tahoma"/>
              </a:rPr>
              <a:t>2</a:t>
            </a:r>
            <a:r>
              <a:rPr sz="900" i="1" spc="-37" baseline="4629" dirty="0">
                <a:latin typeface="Calibri"/>
                <a:cs typeface="Calibri"/>
              </a:rPr>
              <a:t>,</a:t>
            </a:r>
            <a:r>
              <a:rPr sz="900" spc="-37" baseline="4629" dirty="0">
                <a:latin typeface="Tahoma"/>
                <a:cs typeface="Tahoma"/>
              </a:rPr>
              <a:t>1</a:t>
            </a:r>
            <a:endParaRPr sz="900" baseline="4629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21333" y="1221430"/>
            <a:ext cx="17780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baseline="6172" dirty="0">
                <a:latin typeface="Tahoma"/>
                <a:cs typeface="Tahoma"/>
              </a:rPr>
              <a:t>s.t.</a:t>
            </a:r>
            <a:r>
              <a:rPr sz="1350" spc="254" baseline="6172" dirty="0">
                <a:latin typeface="Tahoma"/>
                <a:cs typeface="Tahoma"/>
              </a:rPr>
              <a:t>  </a:t>
            </a:r>
            <a:r>
              <a:rPr sz="1350" i="1" baseline="6172" dirty="0">
                <a:latin typeface="Arial"/>
                <a:cs typeface="Arial"/>
              </a:rPr>
              <a:t>X</a:t>
            </a:r>
            <a:r>
              <a:rPr sz="1350" i="1" spc="7" baseline="6172" dirty="0">
                <a:latin typeface="Arial"/>
                <a:cs typeface="Arial"/>
              </a:rPr>
              <a:t> </a:t>
            </a:r>
            <a:r>
              <a:rPr sz="1350" spc="97" baseline="6172" dirty="0">
                <a:latin typeface="Tahoma"/>
                <a:cs typeface="Tahoma"/>
              </a:rPr>
              <a:t>=</a:t>
            </a:r>
            <a:r>
              <a:rPr sz="1350" spc="-37" baseline="6172" dirty="0">
                <a:latin typeface="Tahoma"/>
                <a:cs typeface="Tahoma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Z</a:t>
            </a:r>
            <a:r>
              <a:rPr sz="1350" i="1" baseline="6172" dirty="0">
                <a:latin typeface="Calibri"/>
                <a:cs typeface="Calibri"/>
              </a:rPr>
              <a:t>,</a:t>
            </a:r>
            <a:r>
              <a:rPr sz="1350" i="1" spc="382" baseline="6172" dirty="0">
                <a:latin typeface="Calibri"/>
                <a:cs typeface="Calibri"/>
              </a:rPr>
              <a:t> </a:t>
            </a:r>
            <a:r>
              <a:rPr sz="1350" spc="-15" baseline="6172" dirty="0">
                <a:latin typeface="Tahoma"/>
                <a:cs typeface="Tahoma"/>
              </a:rPr>
              <a:t>diag(</a:t>
            </a:r>
            <a:r>
              <a:rPr sz="1350" i="1" spc="-15" baseline="6172" dirty="0">
                <a:latin typeface="Arial"/>
                <a:cs typeface="Arial"/>
              </a:rPr>
              <a:t>X</a:t>
            </a:r>
            <a:r>
              <a:rPr sz="1350" spc="-15" baseline="6172" dirty="0">
                <a:latin typeface="Tahoma"/>
                <a:cs typeface="Tahoma"/>
              </a:rPr>
              <a:t>)</a:t>
            </a:r>
            <a:r>
              <a:rPr sz="1350" spc="-44" baseline="6172" dirty="0">
                <a:latin typeface="Tahoma"/>
                <a:cs typeface="Tahoma"/>
              </a:rPr>
              <a:t> </a:t>
            </a:r>
            <a:r>
              <a:rPr sz="1350" spc="97" baseline="6172" dirty="0">
                <a:latin typeface="Tahoma"/>
                <a:cs typeface="Tahoma"/>
              </a:rPr>
              <a:t>=</a:t>
            </a:r>
            <a:r>
              <a:rPr sz="1350" spc="-37" baseline="6172" dirty="0">
                <a:latin typeface="Tahoma"/>
                <a:cs typeface="Tahoma"/>
              </a:rPr>
              <a:t> </a:t>
            </a:r>
            <a:r>
              <a:rPr sz="1350" baseline="6172" dirty="0">
                <a:latin typeface="Tahoma"/>
                <a:cs typeface="Tahoma"/>
              </a:rPr>
              <a:t>0</a:t>
            </a:r>
            <a:r>
              <a:rPr sz="1350" i="1" baseline="6172" dirty="0">
                <a:latin typeface="Calibri"/>
                <a:cs typeface="Calibri"/>
              </a:rPr>
              <a:t>,</a:t>
            </a:r>
            <a:r>
              <a:rPr sz="1350" i="1" spc="375" baseline="6172" dirty="0">
                <a:latin typeface="Calibri"/>
                <a:cs typeface="Calibri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x</a:t>
            </a:r>
            <a:r>
              <a:rPr sz="600" i="1" dirty="0">
                <a:latin typeface="Arial"/>
                <a:cs typeface="Arial"/>
              </a:rPr>
              <a:t>ij</a:t>
            </a:r>
            <a:r>
              <a:rPr sz="600" i="1" spc="135" dirty="0">
                <a:latin typeface="Arial"/>
                <a:cs typeface="Arial"/>
              </a:rPr>
              <a:t> </a:t>
            </a:r>
            <a:r>
              <a:rPr sz="1350" spc="322" baseline="6172" dirty="0">
                <a:latin typeface="Cambria"/>
                <a:cs typeface="Cambria"/>
              </a:rPr>
              <a:t>≥</a:t>
            </a:r>
            <a:r>
              <a:rPr sz="1350" spc="82" baseline="6172" dirty="0">
                <a:latin typeface="Cambria"/>
                <a:cs typeface="Cambria"/>
              </a:rPr>
              <a:t> </a:t>
            </a:r>
            <a:r>
              <a:rPr sz="1350" spc="-37" baseline="6172" dirty="0">
                <a:latin typeface="Tahoma"/>
                <a:cs typeface="Tahoma"/>
              </a:rPr>
              <a:t>0</a:t>
            </a:r>
            <a:r>
              <a:rPr sz="1350" i="1" spc="-37" baseline="6172" dirty="0">
                <a:latin typeface="Calibri"/>
                <a:cs typeface="Calibri"/>
              </a:rPr>
              <a:t>.</a:t>
            </a:r>
            <a:endParaRPr sz="1350" baseline="6172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5844" y="1537736"/>
            <a:ext cx="4226560" cy="150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Tahoma"/>
                <a:cs typeface="Tahoma"/>
              </a:rPr>
              <a:t>Pick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key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sentences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summarize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book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dirty="0">
                <a:latin typeface="Tahoma"/>
                <a:cs typeface="Tahoma"/>
              </a:rPr>
              <a:t>).</a:t>
            </a:r>
            <a:r>
              <a:rPr sz="900" spc="9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Tahoma"/>
                <a:cs typeface="Tahoma"/>
              </a:rPr>
              <a:t>rebuilds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book,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picks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few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264" y="1717763"/>
            <a:ext cx="31750" cy="11430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6840" y="1717763"/>
            <a:ext cx="31750" cy="114300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1169962" y="166649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83562" y="1717763"/>
            <a:ext cx="31750" cy="11430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3585" y="1717763"/>
            <a:ext cx="31750" cy="11430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1144562" y="1738190"/>
            <a:ext cx="10629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914400" algn="l"/>
              </a:tabLst>
            </a:pPr>
            <a:r>
              <a:rPr sz="600" i="1" spc="-50" dirty="0">
                <a:latin typeface="Arial"/>
                <a:cs typeface="Arial"/>
              </a:rPr>
              <a:t>F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900" spc="-37" baseline="9259" dirty="0">
                <a:latin typeface="Tahoma"/>
                <a:cs typeface="Tahoma"/>
              </a:rPr>
              <a:t>2</a:t>
            </a:r>
            <a:r>
              <a:rPr sz="900" i="1" spc="-37" baseline="9259" dirty="0">
                <a:latin typeface="Calibri"/>
                <a:cs typeface="Calibri"/>
              </a:rPr>
              <a:t>,</a:t>
            </a:r>
            <a:r>
              <a:rPr sz="900" spc="-37" baseline="9259" dirty="0">
                <a:latin typeface="Tahoma"/>
                <a:cs typeface="Tahoma"/>
              </a:rPr>
              <a:t>1</a:t>
            </a:r>
            <a:endParaRPr sz="900" baseline="9259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5844" y="1676915"/>
            <a:ext cx="43567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46175" algn="l"/>
                <a:tab pos="2085975" algn="l"/>
              </a:tabLst>
            </a:pPr>
            <a:r>
              <a:rPr sz="900" spc="-10" dirty="0">
                <a:latin typeface="Tahoma"/>
                <a:cs typeface="Tahoma"/>
              </a:rPr>
              <a:t>sentences.</a:t>
            </a:r>
            <a:r>
              <a:rPr sz="900" spc="39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80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-50" dirty="0">
                <a:latin typeface="Cambria"/>
                <a:cs typeface="Cambria"/>
              </a:rPr>
              <a:t> </a:t>
            </a:r>
            <a:r>
              <a:rPr sz="900" i="1" spc="-25" dirty="0">
                <a:latin typeface="Arial"/>
                <a:cs typeface="Arial"/>
              </a:rPr>
              <a:t>DX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-20" dirty="0">
                <a:latin typeface="Tahoma"/>
                <a:cs typeface="Tahoma"/>
              </a:rPr>
              <a:t>checks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fit,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i="1" spc="120" dirty="0">
                <a:latin typeface="Calibri"/>
                <a:cs typeface="Calibri"/>
              </a:rPr>
              <a:t>λ</a:t>
            </a:r>
            <a:r>
              <a:rPr sz="900" i="1" spc="240" dirty="0">
                <a:latin typeface="Calibri"/>
                <a:cs typeface="Calibri"/>
              </a:rPr>
              <a:t> </a:t>
            </a:r>
            <a:r>
              <a:rPr sz="900" i="1" spc="-5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-40" dirty="0">
                <a:latin typeface="Tahoma"/>
                <a:cs typeface="Tahoma"/>
              </a:rPr>
              <a:t>keeps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it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short.</a:t>
            </a:r>
            <a:r>
              <a:rPr sz="900" spc="7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Rules:</a:t>
            </a:r>
            <a:r>
              <a:rPr sz="900" spc="7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20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5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dirty="0">
                <a:latin typeface="Tahoma"/>
                <a:cs typeface="Tahoma"/>
              </a:rPr>
              <a:t>,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no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self-</a:t>
            </a:r>
            <a:r>
              <a:rPr sz="900" spc="-10" dirty="0">
                <a:latin typeface="Tahoma"/>
                <a:cs typeface="Tahoma"/>
              </a:rPr>
              <a:t>selection,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5844" y="1816094"/>
            <a:ext cx="3188335" cy="440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Tahoma"/>
                <a:cs typeface="Tahoma"/>
              </a:rPr>
              <a:t>no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negatives.</a:t>
            </a:r>
            <a:endParaRPr sz="9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80" dirty="0">
                <a:latin typeface="Arial Black" panose="020B0A04020102020204" pitchFamily="34" charset="0"/>
                <a:cs typeface="Arial Black"/>
              </a:rPr>
              <a:t>Optimization</a:t>
            </a:r>
            <a:r>
              <a:rPr sz="900" spc="-80" dirty="0">
                <a:latin typeface="Tahoma"/>
                <a:cs typeface="Tahoma"/>
              </a:rPr>
              <a:t>:</a:t>
            </a:r>
            <a:r>
              <a:rPr sz="900" spc="7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Convex,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minimizes</a:t>
            </a:r>
            <a:r>
              <a:rPr sz="900" spc="-20" dirty="0">
                <a:latin typeface="Tahoma"/>
                <a:cs typeface="Tahoma"/>
              </a:rPr>
              <a:t> error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and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sparsity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via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55" dirty="0">
                <a:latin typeface="Tahoma"/>
                <a:cs typeface="Tahoma"/>
              </a:rPr>
              <a:t>ADMM.</a:t>
            </a:r>
            <a:endParaRPr sz="9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20" dirty="0">
                <a:latin typeface="Arial Black" panose="020B0A04020102020204" pitchFamily="34" charset="0"/>
                <a:cs typeface="Arial Black"/>
              </a:rPr>
              <a:t>Lagrangian</a:t>
            </a:r>
            <a:r>
              <a:rPr sz="900" spc="-20" dirty="0">
                <a:latin typeface="Tahoma"/>
                <a:cs typeface="Tahoma"/>
              </a:rPr>
              <a:t>: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32" name="object 3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6840" y="2353169"/>
            <a:ext cx="31750" cy="114300"/>
          </a:xfrm>
          <a:prstGeom prst="rect">
            <a:avLst/>
          </a:prstGeom>
        </p:spPr>
      </p:pic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7771" y="2352453"/>
            <a:ext cx="31750" cy="114300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1841" y="2346728"/>
            <a:ext cx="31750" cy="11430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8465" y="2350070"/>
            <a:ext cx="31750" cy="114300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894638" y="2412446"/>
            <a:ext cx="130619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0885" algn="l"/>
                <a:tab pos="1183005" algn="l"/>
              </a:tabLst>
            </a:pPr>
            <a:r>
              <a:rPr sz="900" i="1" spc="44" baseline="4629" dirty="0">
                <a:latin typeface="Calibri"/>
                <a:cs typeface="Calibri"/>
              </a:rPr>
              <a:t>ρ</a:t>
            </a:r>
            <a:r>
              <a:rPr sz="900" i="1" baseline="4629" dirty="0">
                <a:latin typeface="Calibri"/>
                <a:cs typeface="Calibri"/>
              </a:rPr>
              <a:t>	</a:t>
            </a:r>
            <a:r>
              <a:rPr sz="600" i="1" spc="-50" dirty="0">
                <a:latin typeface="Arial"/>
                <a:cs typeface="Arial"/>
              </a:rPr>
              <a:t>F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900" spc="-37" baseline="4629" dirty="0">
                <a:latin typeface="Tahoma"/>
                <a:cs typeface="Tahoma"/>
              </a:rPr>
              <a:t>2</a:t>
            </a:r>
            <a:r>
              <a:rPr sz="900" i="1" spc="-37" baseline="4629" dirty="0">
                <a:latin typeface="Calibri"/>
                <a:cs typeface="Calibri"/>
              </a:rPr>
              <a:t>,</a:t>
            </a:r>
            <a:r>
              <a:rPr sz="900" spc="-37" baseline="4629" dirty="0">
                <a:latin typeface="Tahoma"/>
                <a:cs typeface="Tahoma"/>
              </a:rPr>
              <a:t>1</a:t>
            </a:r>
            <a:endParaRPr sz="900" baseline="4629">
              <a:latin typeface="Tahoma"/>
              <a:cs typeface="Tahom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3194138" y="2452560"/>
            <a:ext cx="60325" cy="0"/>
          </a:xfrm>
          <a:custGeom>
            <a:avLst/>
            <a:gdLst/>
            <a:ahLst/>
            <a:cxnLst/>
            <a:rect l="l" t="t" r="r" b="b"/>
            <a:pathLst>
              <a:path w="60325">
                <a:moveTo>
                  <a:pt x="0" y="0"/>
                </a:moveTo>
                <a:lnTo>
                  <a:pt x="60286" y="0"/>
                </a:lnTo>
              </a:path>
            </a:pathLst>
          </a:custGeom>
          <a:ln w="4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3155691" y="2437495"/>
            <a:ext cx="844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2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39" name="object 3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78152" y="2353169"/>
            <a:ext cx="31750" cy="114300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00450" y="2345706"/>
            <a:ext cx="31750" cy="114300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792772" y="2354460"/>
            <a:ext cx="3022600" cy="16607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770"/>
              </a:lnSpc>
              <a:spcBef>
                <a:spcPts val="95"/>
              </a:spcBef>
              <a:tabLst>
                <a:tab pos="1426845" algn="l"/>
              </a:tabLst>
            </a:pPr>
            <a:r>
              <a:rPr sz="900" i="1" dirty="0">
                <a:latin typeface="Arial"/>
                <a:cs typeface="Arial"/>
              </a:rPr>
              <a:t>L</a:t>
            </a:r>
            <a:r>
              <a:rPr sz="900" i="1" spc="440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45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5" dirty="0">
                <a:latin typeface="Cambria"/>
                <a:cs typeface="Cambria"/>
              </a:rPr>
              <a:t> </a:t>
            </a:r>
            <a:r>
              <a:rPr sz="900" i="1" dirty="0">
                <a:latin typeface="Arial"/>
                <a:cs typeface="Arial"/>
              </a:rPr>
              <a:t>DX</a:t>
            </a:r>
            <a:r>
              <a:rPr sz="900" i="1" spc="215" dirty="0">
                <a:latin typeface="Arial"/>
                <a:cs typeface="Arial"/>
              </a:rPr>
              <a:t> </a:t>
            </a:r>
            <a:r>
              <a:rPr sz="900" baseline="41666" dirty="0">
                <a:latin typeface="Tahoma"/>
                <a:cs typeface="Tahoma"/>
              </a:rPr>
              <a:t>2</a:t>
            </a:r>
            <a:r>
              <a:rPr sz="900" spc="172" baseline="41666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spc="120" dirty="0">
                <a:latin typeface="Calibri"/>
                <a:cs typeface="Calibri"/>
              </a:rPr>
              <a:t>λ</a:t>
            </a:r>
            <a:r>
              <a:rPr sz="900" i="1" spc="254" dirty="0">
                <a:latin typeface="Calibri"/>
                <a:cs typeface="Calibri"/>
              </a:rPr>
              <a:t> </a:t>
            </a:r>
            <a:r>
              <a:rPr sz="900" i="1" spc="-5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tr(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baseline="41666" dirty="0">
                <a:latin typeface="Arial"/>
                <a:cs typeface="Arial"/>
              </a:rPr>
              <a:t>T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20" dirty="0">
                <a:latin typeface="Cambria"/>
                <a:cs typeface="Cambria"/>
              </a:rPr>
              <a:t> 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dirty="0">
                <a:latin typeface="Tahoma"/>
                <a:cs typeface="Tahoma"/>
              </a:rPr>
              <a:t>))</a:t>
            </a:r>
            <a:r>
              <a:rPr sz="900" spc="-6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70" dirty="0">
                <a:latin typeface="Tahoma"/>
                <a:cs typeface="Tahoma"/>
              </a:rPr>
              <a:t> </a:t>
            </a:r>
            <a:r>
              <a:rPr sz="1350" i="1" baseline="37037" dirty="0">
                <a:latin typeface="Calibri"/>
                <a:cs typeface="Calibri"/>
              </a:rPr>
              <a:t>ρ</a:t>
            </a:r>
            <a:r>
              <a:rPr sz="1350" i="1" spc="615" baseline="37037" dirty="0">
                <a:latin typeface="Calibri"/>
                <a:cs typeface="Calibri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20" dirty="0">
                <a:latin typeface="Cambria"/>
                <a:cs typeface="Cambria"/>
              </a:rPr>
              <a:t> 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i="1" spc="245" dirty="0">
                <a:latin typeface="Arial"/>
                <a:cs typeface="Arial"/>
              </a:rPr>
              <a:t> </a:t>
            </a:r>
            <a:r>
              <a:rPr sz="900" spc="-15" baseline="41666" dirty="0">
                <a:latin typeface="Tahoma"/>
                <a:cs typeface="Tahoma"/>
              </a:rPr>
              <a:t>2</a:t>
            </a:r>
            <a:r>
              <a:rPr sz="900" spc="-135" baseline="41666" dirty="0">
                <a:latin typeface="Tahoma"/>
                <a:cs typeface="Tahoma"/>
              </a:rPr>
              <a:t> </a:t>
            </a:r>
            <a:r>
              <a:rPr sz="900" i="1" spc="-50" dirty="0">
                <a:latin typeface="Calibri"/>
                <a:cs typeface="Calibri"/>
              </a:rPr>
              <a:t>.</a:t>
            </a:r>
            <a:endParaRPr sz="900" dirty="0">
              <a:latin typeface="Calibri"/>
              <a:cs typeface="Calibri"/>
            </a:endParaRPr>
          </a:p>
          <a:p>
            <a:pPr marR="81915" algn="r">
              <a:lnSpc>
                <a:spcPts val="409"/>
              </a:lnSpc>
            </a:pPr>
            <a:r>
              <a:rPr sz="600" i="1" spc="-50" dirty="0">
                <a:latin typeface="Arial"/>
                <a:cs typeface="Arial"/>
              </a:rPr>
              <a:t>F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039710" y="3334738"/>
            <a:ext cx="204470" cy="111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zation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523276" y="3322038"/>
            <a:ext cx="152971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Document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Summarization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via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Sparse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Optimi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August</a:t>
            </a:r>
            <a:r>
              <a:rPr spc="-5" dirty="0"/>
              <a:t> </a:t>
            </a:r>
            <a:r>
              <a:rPr dirty="0"/>
              <a:t>23,</a:t>
            </a:r>
            <a:r>
              <a:rPr spc="10" dirty="0"/>
              <a:t> </a:t>
            </a:r>
            <a:r>
              <a:rPr spc="-20" dirty="0"/>
              <a:t>2025</a:t>
            </a: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4</a:t>
            </a:fld>
            <a:r>
              <a:rPr spc="-90" dirty="0"/>
              <a:t> </a:t>
            </a:r>
            <a:r>
              <a:rPr spc="90" dirty="0"/>
              <a:t>/</a:t>
            </a:r>
            <a:r>
              <a:rPr spc="-90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4370705" cy="232756"/>
          </a:xfrm>
          <a:prstGeom prst="rect">
            <a:avLst/>
          </a:prstGeom>
          <a:noFill/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X-Update</a:t>
            </a:r>
            <a:r>
              <a:rPr spc="-45" dirty="0"/>
              <a:t> </a:t>
            </a:r>
            <a:endParaRPr spc="-20" dirty="0"/>
          </a:p>
        </p:txBody>
      </p:sp>
      <p:sp>
        <p:nvSpPr>
          <p:cNvPr id="4" name="object 4"/>
          <p:cNvSpPr txBox="1"/>
          <p:nvPr/>
        </p:nvSpPr>
        <p:spPr>
          <a:xfrm>
            <a:off x="1214196" y="803432"/>
            <a:ext cx="469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j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4196" y="726102"/>
            <a:ext cx="5156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7040" algn="l"/>
              </a:tabLst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5964" y="742843"/>
            <a:ext cx="9207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1780" algn="l"/>
              </a:tabLst>
            </a:pPr>
            <a:r>
              <a:rPr sz="900" i="1" spc="-50" dirty="0">
                <a:latin typeface="Arial"/>
                <a:cs typeface="Arial"/>
              </a:rPr>
              <a:t>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2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5" dirty="0">
                <a:latin typeface="Tahoma"/>
                <a:cs typeface="Tahoma"/>
              </a:rPr>
              <a:t> </a:t>
            </a:r>
            <a:r>
              <a:rPr sz="900" i="1" spc="-25" dirty="0">
                <a:latin typeface="Calibri"/>
                <a:cs typeface="Calibri"/>
              </a:rPr>
              <a:t>ρ</a:t>
            </a:r>
            <a:r>
              <a:rPr sz="900" i="1" spc="-25" dirty="0">
                <a:latin typeface="Arial"/>
                <a:cs typeface="Arial"/>
              </a:rPr>
              <a:t>I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76716" y="726102"/>
            <a:ext cx="3308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2255" algn="l"/>
              </a:tabLst>
            </a:pPr>
            <a:r>
              <a:rPr sz="600" i="1" spc="-25" dirty="0">
                <a:latin typeface="Verdana"/>
                <a:cs typeface="Verdana"/>
              </a:rPr>
              <a:t>−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31199" y="742843"/>
            <a:ext cx="467359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Tahoma"/>
                <a:cs typeface="Tahoma"/>
              </a:rPr>
              <a:t>)</a:t>
            </a:r>
            <a:r>
              <a:rPr sz="900" spc="200" dirty="0">
                <a:latin typeface="Tahoma"/>
                <a:cs typeface="Tahoma"/>
              </a:rPr>
              <a:t>  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235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D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20797" y="726102"/>
            <a:ext cx="334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305" algn="l"/>
              </a:tabLst>
            </a:pPr>
            <a:r>
              <a:rPr sz="600" i="1" spc="-50" dirty="0">
                <a:latin typeface="Arial"/>
                <a:cs typeface="Arial"/>
              </a:rPr>
              <a:t>k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50" dirty="0"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34526" y="742843"/>
            <a:ext cx="7283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668020" algn="l"/>
              </a:tabLst>
            </a:pPr>
            <a:r>
              <a:rPr sz="900" i="1" baseline="-9259" dirty="0">
                <a:latin typeface="Arial"/>
                <a:cs typeface="Arial"/>
              </a:rPr>
              <a:t>j</a:t>
            </a:r>
            <a:r>
              <a:rPr sz="900" i="1" spc="135" baseline="-9259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0" dirty="0">
                <a:latin typeface="Tahoma"/>
                <a:cs typeface="Tahoma"/>
              </a:rPr>
              <a:t> </a:t>
            </a:r>
            <a:r>
              <a:rPr sz="900" i="1" dirty="0">
                <a:latin typeface="Calibri"/>
                <a:cs typeface="Calibri"/>
              </a:rPr>
              <a:t>ρ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spc="315" dirty="0">
                <a:latin typeface="Tahoma"/>
                <a:cs typeface="Tahoma"/>
              </a:rPr>
              <a:t> </a:t>
            </a:r>
            <a:r>
              <a:rPr sz="900" i="1" spc="-75" baseline="-13888" dirty="0">
                <a:latin typeface="Arial"/>
                <a:cs typeface="Arial"/>
              </a:rPr>
              <a:t>j</a:t>
            </a:r>
            <a:r>
              <a:rPr sz="900" i="1" baseline="-13888" dirty="0">
                <a:latin typeface="Arial"/>
                <a:cs typeface="Arial"/>
              </a:rPr>
              <a:t>	</a:t>
            </a:r>
            <a:r>
              <a:rPr sz="900" i="1" spc="-75" baseline="-13888" dirty="0">
                <a:latin typeface="Arial"/>
                <a:cs typeface="Arial"/>
              </a:rPr>
              <a:t>j</a:t>
            </a:r>
            <a:endParaRPr sz="900" baseline="-13888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749283" y="742843"/>
            <a:ext cx="7232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latin typeface="Arial"/>
                <a:cs typeface="Arial"/>
              </a:rPr>
              <a:t>Z</a:t>
            </a:r>
            <a:r>
              <a:rPr sz="900" i="1" spc="320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10" dirty="0">
                <a:latin typeface="Cambria"/>
                <a:cs typeface="Cambria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spc="110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))</a:t>
            </a:r>
            <a:r>
              <a:rPr sz="900" i="1" dirty="0">
                <a:latin typeface="Calibri"/>
                <a:cs typeface="Calibri"/>
              </a:rPr>
              <a:t>,</a:t>
            </a:r>
            <a:r>
              <a:rPr sz="900" i="1" spc="260" dirty="0">
                <a:latin typeface="Calibri"/>
                <a:cs typeface="Calibri"/>
              </a:rPr>
              <a:t> </a:t>
            </a:r>
            <a:r>
              <a:rPr sz="900" spc="-25" dirty="0">
                <a:latin typeface="Cambria"/>
                <a:cs typeface="Cambria"/>
              </a:rPr>
              <a:t>∀</a:t>
            </a:r>
            <a:r>
              <a:rPr sz="900" i="1" spc="-25" dirty="0">
                <a:latin typeface="Arial"/>
                <a:cs typeface="Arial"/>
              </a:rPr>
              <a:t>j</a:t>
            </a:r>
            <a:r>
              <a:rPr sz="900" i="1" spc="-25" dirty="0">
                <a:latin typeface="Calibri"/>
                <a:cs typeface="Calibri"/>
              </a:rPr>
              <a:t>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0295" y="922215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24762" y="922215"/>
            <a:ext cx="7886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3095" algn="l"/>
              </a:tabLst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24762" y="999545"/>
            <a:ext cx="6870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3095" algn="l"/>
              </a:tabLst>
            </a:pPr>
            <a:r>
              <a:rPr sz="600" i="1" spc="-25" dirty="0">
                <a:latin typeface="Arial"/>
                <a:cs typeface="Arial"/>
              </a:rPr>
              <a:t>ij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25" dirty="0">
                <a:latin typeface="Arial"/>
                <a:cs typeface="Arial"/>
              </a:rPr>
              <a:t>ij</a:t>
            </a:r>
            <a:endParaRPr sz="6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5844" y="932632"/>
            <a:ext cx="21951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25500" algn="l"/>
                <a:tab pos="1392555" algn="l"/>
                <a:tab pos="1980564" algn="l"/>
              </a:tabLst>
            </a:pPr>
            <a:r>
              <a:rPr sz="900" dirty="0">
                <a:latin typeface="Tahoma"/>
                <a:cs typeface="Tahoma"/>
              </a:rPr>
              <a:t>Then:</a:t>
            </a:r>
            <a:r>
              <a:rPr sz="900" spc="55" dirty="0">
                <a:latin typeface="Tahoma"/>
                <a:cs typeface="Tahoma"/>
              </a:rPr>
              <a:t> </a:t>
            </a:r>
            <a:r>
              <a:rPr sz="900" spc="-10" dirty="0" err="1">
                <a:latin typeface="Tahoma"/>
                <a:cs typeface="Tahoma"/>
              </a:rPr>
              <a:t>diag</a:t>
            </a:r>
            <a:r>
              <a:rPr sz="900" spc="-10" dirty="0">
                <a:latin typeface="Tahoma"/>
                <a:cs typeface="Tahoma"/>
              </a:rPr>
              <a:t>(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dirty="0">
                <a:latin typeface="Tahoma"/>
                <a:cs typeface="Tahoma"/>
              </a:rPr>
              <a:t>)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0,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max</a:t>
            </a:r>
            <a:r>
              <a:rPr sz="900" spc="-10" dirty="0">
                <a:latin typeface="Cambria"/>
                <a:cs typeface="Cambria"/>
              </a:rPr>
              <a:t>{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i="1" dirty="0">
                <a:latin typeface="Calibri"/>
                <a:cs typeface="Calibri"/>
              </a:rPr>
              <a:t>,</a:t>
            </a:r>
            <a:r>
              <a:rPr sz="900" i="1" spc="-25" dirty="0">
                <a:latin typeface="Calibri"/>
                <a:cs typeface="Calibri"/>
              </a:rPr>
              <a:t> </a:t>
            </a:r>
            <a:r>
              <a:rPr sz="900" spc="-25" dirty="0">
                <a:latin typeface="Tahoma"/>
                <a:cs typeface="Tahoma"/>
              </a:rPr>
              <a:t>0</a:t>
            </a:r>
            <a:r>
              <a:rPr sz="900" spc="-25" dirty="0">
                <a:latin typeface="Cambria"/>
                <a:cs typeface="Cambria"/>
              </a:rPr>
              <a:t>}</a:t>
            </a:r>
            <a:r>
              <a:rPr sz="900" spc="-25" dirty="0">
                <a:latin typeface="Tahoma"/>
                <a:cs typeface="Tahoma"/>
              </a:rPr>
              <a:t>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00444" y="1242613"/>
            <a:ext cx="4407535" cy="28892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8100" marR="30480">
              <a:lnSpc>
                <a:spcPts val="1000"/>
              </a:lnSpc>
              <a:spcBef>
                <a:spcPts val="195"/>
              </a:spcBef>
            </a:pPr>
            <a:r>
              <a:rPr sz="1350" baseline="6172" dirty="0">
                <a:latin typeface="Tahoma"/>
                <a:cs typeface="Tahoma"/>
              </a:rPr>
              <a:t>Picks </a:t>
            </a:r>
            <a:r>
              <a:rPr sz="1350" i="1" baseline="6172" dirty="0">
                <a:latin typeface="Arial"/>
                <a:cs typeface="Arial"/>
              </a:rPr>
              <a:t>X</a:t>
            </a:r>
            <a:r>
              <a:rPr sz="1350" i="1" spc="44" baseline="6172" dirty="0">
                <a:latin typeface="Arial"/>
                <a:cs typeface="Arial"/>
              </a:rPr>
              <a:t> </a:t>
            </a:r>
            <a:r>
              <a:rPr sz="1350" baseline="6172" dirty="0">
                <a:latin typeface="Tahoma"/>
                <a:cs typeface="Tahoma"/>
              </a:rPr>
              <a:t>to </a:t>
            </a:r>
            <a:r>
              <a:rPr sz="1350" spc="-15" baseline="6172" dirty="0">
                <a:latin typeface="Tahoma"/>
                <a:cs typeface="Tahoma"/>
              </a:rPr>
              <a:t>rebuild</a:t>
            </a:r>
            <a:r>
              <a:rPr sz="1350" baseline="6172" dirty="0">
                <a:latin typeface="Tahoma"/>
                <a:cs typeface="Tahoma"/>
              </a:rPr>
              <a:t> </a:t>
            </a:r>
            <a:r>
              <a:rPr sz="1350" spc="-44" baseline="6172" dirty="0">
                <a:latin typeface="Tahoma"/>
                <a:cs typeface="Tahoma"/>
              </a:rPr>
              <a:t>sentence</a:t>
            </a:r>
            <a:r>
              <a:rPr sz="1350" spc="7" baseline="6172" dirty="0">
                <a:latin typeface="Tahoma"/>
                <a:cs typeface="Tahoma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D</a:t>
            </a:r>
            <a:r>
              <a:rPr sz="600" i="1" dirty="0">
                <a:latin typeface="Arial"/>
                <a:cs typeface="Arial"/>
              </a:rPr>
              <a:t>j</a:t>
            </a:r>
            <a:r>
              <a:rPr sz="1350" baseline="6172" dirty="0">
                <a:latin typeface="Tahoma"/>
                <a:cs typeface="Tahoma"/>
              </a:rPr>
              <a:t>, </a:t>
            </a:r>
            <a:r>
              <a:rPr sz="1350" spc="-30" baseline="6172" dirty="0">
                <a:latin typeface="Tahoma"/>
                <a:cs typeface="Tahoma"/>
              </a:rPr>
              <a:t>staying</a:t>
            </a:r>
            <a:r>
              <a:rPr sz="1350" baseline="6172" dirty="0">
                <a:latin typeface="Tahoma"/>
                <a:cs typeface="Tahoma"/>
              </a:rPr>
              <a:t> </a:t>
            </a:r>
            <a:r>
              <a:rPr sz="1350" spc="-30" baseline="6172" dirty="0">
                <a:latin typeface="Tahoma"/>
                <a:cs typeface="Tahoma"/>
              </a:rPr>
              <a:t>close</a:t>
            </a:r>
            <a:r>
              <a:rPr sz="1350" baseline="6172" dirty="0">
                <a:latin typeface="Tahoma"/>
                <a:cs typeface="Tahoma"/>
              </a:rPr>
              <a:t> to </a:t>
            </a:r>
            <a:r>
              <a:rPr sz="1350" i="1" baseline="6172" dirty="0">
                <a:latin typeface="Arial"/>
                <a:cs typeface="Arial"/>
              </a:rPr>
              <a:t>Z</a:t>
            </a:r>
            <a:r>
              <a:rPr sz="1350" baseline="6172" dirty="0">
                <a:latin typeface="Tahoma"/>
                <a:cs typeface="Tahoma"/>
              </a:rPr>
              <a:t>.</a:t>
            </a:r>
            <a:r>
              <a:rPr sz="1350" spc="142" baseline="6172" dirty="0">
                <a:latin typeface="Tahoma"/>
                <a:cs typeface="Tahoma"/>
              </a:rPr>
              <a:t> </a:t>
            </a:r>
            <a:r>
              <a:rPr sz="1350" baseline="6172" dirty="0">
                <a:latin typeface="Tahoma"/>
                <a:cs typeface="Tahoma"/>
              </a:rPr>
              <a:t>Like </a:t>
            </a:r>
            <a:r>
              <a:rPr sz="1350" spc="-15" baseline="6172" dirty="0">
                <a:latin typeface="Tahoma"/>
                <a:cs typeface="Tahoma"/>
              </a:rPr>
              <a:t>choosing</a:t>
            </a:r>
            <a:r>
              <a:rPr sz="1350" baseline="6172" dirty="0">
                <a:latin typeface="Tahoma"/>
                <a:cs typeface="Tahoma"/>
              </a:rPr>
              <a:t> </a:t>
            </a:r>
            <a:r>
              <a:rPr sz="1350" spc="-15" baseline="6172" dirty="0">
                <a:latin typeface="Tahoma"/>
                <a:cs typeface="Tahoma"/>
              </a:rPr>
              <a:t>puzzle</a:t>
            </a:r>
            <a:r>
              <a:rPr sz="1350" spc="7" baseline="6172" dirty="0">
                <a:latin typeface="Tahoma"/>
                <a:cs typeface="Tahoma"/>
              </a:rPr>
              <a:t> </a:t>
            </a:r>
            <a:r>
              <a:rPr sz="1350" spc="-37" baseline="6172" dirty="0">
                <a:latin typeface="Tahoma"/>
                <a:cs typeface="Tahoma"/>
              </a:rPr>
              <a:t>pieces</a:t>
            </a:r>
            <a:r>
              <a:rPr sz="1350" baseline="6172" dirty="0">
                <a:latin typeface="Tahoma"/>
                <a:cs typeface="Tahoma"/>
              </a:rPr>
              <a:t> </a:t>
            </a:r>
            <a:r>
              <a:rPr sz="1350" spc="-37" baseline="6172" dirty="0">
                <a:latin typeface="Tahoma"/>
                <a:cs typeface="Tahoma"/>
              </a:rPr>
              <a:t>for </a:t>
            </a:r>
            <a:r>
              <a:rPr sz="900" spc="-20" dirty="0">
                <a:latin typeface="Tahoma"/>
                <a:cs typeface="Tahoma"/>
              </a:rPr>
              <a:t>one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page,</a:t>
            </a:r>
            <a:r>
              <a:rPr sz="90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matching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dirty="0">
                <a:latin typeface="Tahoma"/>
                <a:cs typeface="Tahoma"/>
              </a:rPr>
              <a:t>’s </a:t>
            </a:r>
            <a:r>
              <a:rPr sz="900" spc="-10" dirty="0">
                <a:latin typeface="Tahoma"/>
                <a:cs typeface="Tahoma"/>
              </a:rPr>
              <a:t>guess.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30107" y="1538121"/>
            <a:ext cx="31750" cy="11430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79217" y="1549171"/>
            <a:ext cx="31750" cy="11430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2412326" y="1569585"/>
            <a:ext cx="71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635745" y="1606423"/>
            <a:ext cx="48895" cy="0"/>
          </a:xfrm>
          <a:custGeom>
            <a:avLst/>
            <a:gdLst/>
            <a:ahLst/>
            <a:cxnLst/>
            <a:rect l="l" t="t" r="r" b="b"/>
            <a:pathLst>
              <a:path w="48894">
                <a:moveTo>
                  <a:pt x="0" y="0"/>
                </a:moveTo>
                <a:lnTo>
                  <a:pt x="48501" y="0"/>
                </a:lnTo>
              </a:path>
            </a:pathLst>
          </a:custGeom>
          <a:ln w="4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/>
          <p:nvPr/>
        </p:nvSpPr>
        <p:spPr>
          <a:xfrm>
            <a:off x="2627134" y="1584914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27" name="object 2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12135" y="1549158"/>
            <a:ext cx="31750" cy="11430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9163" y="1549158"/>
            <a:ext cx="31750" cy="11430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2412326" y="1497906"/>
            <a:ext cx="7962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2885" algn="l"/>
                <a:tab pos="638175" algn="l"/>
              </a:tabLst>
            </a:pPr>
            <a:r>
              <a:rPr sz="600" spc="-50" dirty="0">
                <a:latin typeface="Tahoma"/>
                <a:cs typeface="Tahoma"/>
              </a:rPr>
              <a:t>2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30" dirty="0">
                <a:latin typeface="Calibri"/>
                <a:cs typeface="Calibri"/>
              </a:rPr>
              <a:t>ρ</a:t>
            </a:r>
            <a:r>
              <a:rPr sz="600" i="1" dirty="0">
                <a:latin typeface="Calibri"/>
                <a:cs typeface="Calibri"/>
              </a:rPr>
              <a:t>	</a:t>
            </a:r>
            <a:r>
              <a:rPr sz="600" i="1" dirty="0">
                <a:latin typeface="Arial"/>
                <a:cs typeface="Arial"/>
              </a:rPr>
              <a:t>k</a:t>
            </a:r>
            <a:r>
              <a:rPr sz="600" i="1" spc="340" dirty="0">
                <a:latin typeface="Arial"/>
                <a:cs typeface="Arial"/>
              </a:rPr>
              <a:t> </a:t>
            </a: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142284" y="1569585"/>
            <a:ext cx="71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25844" y="1508323"/>
            <a:ext cx="3127375" cy="150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77440" algn="l"/>
                <a:tab pos="2631440" algn="l"/>
                <a:tab pos="3081020" algn="l"/>
              </a:tabLst>
            </a:pPr>
            <a:r>
              <a:rPr sz="900" spc="-80" dirty="0">
                <a:latin typeface="+mj-lt"/>
                <a:cs typeface="Arial Black"/>
              </a:rPr>
              <a:t>Optimization</a:t>
            </a:r>
            <a:r>
              <a:rPr sz="900" spc="-80" dirty="0">
                <a:latin typeface="Tahoma"/>
                <a:cs typeface="Tahoma"/>
              </a:rPr>
              <a:t>:</a:t>
            </a:r>
            <a:r>
              <a:rPr sz="900" spc="10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Minimizes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quadratic</a:t>
            </a:r>
            <a:r>
              <a:rPr sz="900" spc="450" dirty="0">
                <a:latin typeface="Tahoma"/>
                <a:cs typeface="Tahoma"/>
              </a:rPr>
              <a:t> </a:t>
            </a:r>
            <a:r>
              <a:rPr lang="en-US" sz="900" spc="450" dirty="0">
                <a:latin typeface="Tahoma"/>
                <a:cs typeface="Tahoma"/>
              </a:rPr>
              <a:t> 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6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-5" dirty="0">
                <a:latin typeface="Cambria"/>
                <a:cs typeface="Cambria"/>
              </a:rPr>
              <a:t> </a:t>
            </a:r>
            <a:r>
              <a:rPr sz="900" i="1" spc="-25" dirty="0">
                <a:latin typeface="Arial"/>
                <a:cs typeface="Arial"/>
              </a:rPr>
              <a:t>DX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15" dirty="0">
                <a:latin typeface="Tahoma"/>
                <a:cs typeface="Tahoma"/>
              </a:rPr>
              <a:t>+</a:t>
            </a:r>
            <a:r>
              <a:rPr sz="900" dirty="0">
                <a:latin typeface="Tahoma"/>
                <a:cs typeface="Tahoma"/>
              </a:rPr>
              <a:t>	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10" dirty="0">
                <a:latin typeface="Cambria"/>
                <a:cs typeface="Cambria"/>
              </a:rPr>
              <a:t> </a:t>
            </a:r>
            <a:r>
              <a:rPr sz="900" i="1" spc="-5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-50" dirty="0">
                <a:latin typeface="Tahoma"/>
                <a:cs typeface="Tahoma"/>
              </a:rPr>
              <a:t>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25844" y="1647489"/>
            <a:ext cx="596900" cy="150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80" dirty="0">
                <a:latin typeface="+mj-lt"/>
                <a:cs typeface="Arial Black"/>
              </a:rPr>
              <a:t>Derivation</a:t>
            </a:r>
            <a:r>
              <a:rPr sz="900" spc="-80" dirty="0">
                <a:latin typeface="Tahoma"/>
                <a:cs typeface="Tahoma"/>
              </a:rPr>
              <a:t>: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896122"/>
            <a:ext cx="65201" cy="65201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1264" y="1878126"/>
            <a:ext cx="31750" cy="11430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80273" y="1878126"/>
            <a:ext cx="31750" cy="114300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1813382" y="1898553"/>
            <a:ext cx="71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813382" y="1826862"/>
            <a:ext cx="10052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1645" algn="l"/>
                <a:tab pos="952500" algn="l"/>
              </a:tabLst>
            </a:pPr>
            <a:r>
              <a:rPr sz="600" spc="-50" dirty="0">
                <a:latin typeface="Tahoma"/>
                <a:cs typeface="Tahoma"/>
              </a:rPr>
              <a:t>2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dirty="0">
                <a:latin typeface="Arial"/>
                <a:cs typeface="Arial"/>
              </a:rPr>
              <a:t>k</a:t>
            </a:r>
            <a:r>
              <a:rPr sz="600" i="1" spc="235" dirty="0">
                <a:latin typeface="Arial"/>
                <a:cs typeface="Arial"/>
              </a:rPr>
              <a:t> </a:t>
            </a:r>
            <a:r>
              <a:rPr sz="600" i="1" spc="15" dirty="0">
                <a:latin typeface="Arial"/>
                <a:cs typeface="Arial"/>
              </a:rPr>
              <a:t>T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50" dirty="0"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048622" y="1824804"/>
            <a:ext cx="7429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30" dirty="0">
                <a:latin typeface="Calibri"/>
                <a:cs typeface="Calibri"/>
              </a:rPr>
              <a:t>ρ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061322" y="1935391"/>
            <a:ext cx="48895" cy="0"/>
          </a:xfrm>
          <a:custGeom>
            <a:avLst/>
            <a:gdLst/>
            <a:ahLst/>
            <a:cxnLst/>
            <a:rect l="l" t="t" r="r" b="b"/>
            <a:pathLst>
              <a:path w="48894">
                <a:moveTo>
                  <a:pt x="0" y="0"/>
                </a:moveTo>
                <a:lnTo>
                  <a:pt x="48513" y="0"/>
                </a:lnTo>
              </a:path>
            </a:pathLst>
          </a:custGeom>
          <a:ln w="4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052724" y="1913882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37725" y="1878126"/>
            <a:ext cx="31750" cy="114300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34752" y="1878126"/>
            <a:ext cx="31750" cy="114300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3463620" y="1826862"/>
            <a:ext cx="1701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dirty="0">
                <a:latin typeface="Arial"/>
                <a:cs typeface="Arial"/>
              </a:rPr>
              <a:t>k</a:t>
            </a:r>
            <a:r>
              <a:rPr sz="600" i="1" spc="340" dirty="0">
                <a:latin typeface="Arial"/>
                <a:cs typeface="Arial"/>
              </a:rPr>
              <a:t> </a:t>
            </a:r>
            <a:r>
              <a:rPr sz="600" spc="-6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67861" y="1898553"/>
            <a:ext cx="71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77532" y="1837278"/>
            <a:ext cx="33267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526540" algn="l"/>
                <a:tab pos="2805430" algn="l"/>
                <a:tab pos="3255010" algn="l"/>
              </a:tabLst>
            </a:pPr>
            <a:r>
              <a:rPr sz="900" spc="-10" dirty="0">
                <a:latin typeface="Tahoma"/>
                <a:cs typeface="Tahoma"/>
              </a:rPr>
              <a:t>Lagrangian:</a:t>
            </a:r>
            <a:r>
              <a:rPr sz="900" spc="10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L</a:t>
            </a:r>
            <a:r>
              <a:rPr sz="900" i="1" baseline="-9259" dirty="0">
                <a:latin typeface="Arial"/>
                <a:cs typeface="Arial"/>
              </a:rPr>
              <a:t>X</a:t>
            </a:r>
            <a:r>
              <a:rPr sz="900" i="1" spc="172" baseline="-9259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409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-5" dirty="0">
                <a:latin typeface="Cambria"/>
                <a:cs typeface="Cambria"/>
              </a:rPr>
              <a:t> </a:t>
            </a:r>
            <a:r>
              <a:rPr sz="900" i="1" spc="-25" dirty="0">
                <a:latin typeface="Arial"/>
                <a:cs typeface="Arial"/>
              </a:rPr>
              <a:t>DX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tr((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spc="120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)</a:t>
            </a:r>
            <a:r>
              <a:rPr sz="900" spc="2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15" dirty="0">
                <a:latin typeface="Cambria"/>
                <a:cs typeface="Cambria"/>
              </a:rPr>
              <a:t> 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i="1" spc="120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))</a:t>
            </a:r>
            <a:r>
              <a:rPr sz="900" spc="-75" dirty="0">
                <a:latin typeface="Tahoma"/>
                <a:cs typeface="Tahoma"/>
              </a:rPr>
              <a:t> </a:t>
            </a:r>
            <a:r>
              <a:rPr sz="900" spc="15" dirty="0">
                <a:latin typeface="Tahoma"/>
                <a:cs typeface="Tahoma"/>
              </a:rPr>
              <a:t>+</a:t>
            </a:r>
            <a:r>
              <a:rPr sz="900" dirty="0">
                <a:latin typeface="Tahoma"/>
                <a:cs typeface="Tahoma"/>
              </a:rPr>
              <a:t>	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10" dirty="0">
                <a:latin typeface="Cambria"/>
                <a:cs typeface="Cambria"/>
              </a:rPr>
              <a:t> </a:t>
            </a:r>
            <a:r>
              <a:rPr sz="900" i="1" spc="-5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-50" dirty="0">
                <a:latin typeface="Tahoma"/>
                <a:cs typeface="Tahoma"/>
              </a:rPr>
              <a:t>.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46" name="object 4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2085911"/>
            <a:ext cx="65201" cy="65201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4864" y="2067915"/>
            <a:ext cx="31750" cy="114300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3871" y="2059358"/>
            <a:ext cx="31750" cy="114300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1356994" y="2088342"/>
            <a:ext cx="71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77532" y="2027067"/>
            <a:ext cx="27774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Tahoma"/>
                <a:cs typeface="Tahoma"/>
              </a:rPr>
              <a:t>Expand:</a:t>
            </a:r>
            <a:r>
              <a:rPr sz="900" spc="175" dirty="0">
                <a:latin typeface="Tahoma"/>
                <a:cs typeface="Tahoma"/>
              </a:rPr>
              <a:t> 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15" dirty="0">
                <a:latin typeface="Cambria"/>
                <a:cs typeface="Cambria"/>
              </a:rPr>
              <a:t> </a:t>
            </a:r>
            <a:r>
              <a:rPr sz="900" i="1" dirty="0">
                <a:latin typeface="Arial"/>
                <a:cs typeface="Arial"/>
              </a:rPr>
              <a:t>DX</a:t>
            </a:r>
            <a:r>
              <a:rPr sz="900" i="1" spc="235" dirty="0">
                <a:latin typeface="Arial"/>
                <a:cs typeface="Arial"/>
              </a:rPr>
              <a:t> </a:t>
            </a:r>
            <a:r>
              <a:rPr sz="900" baseline="37037" dirty="0">
                <a:latin typeface="Tahoma"/>
                <a:cs typeface="Tahoma"/>
              </a:rPr>
              <a:t>2</a:t>
            </a:r>
            <a:r>
              <a:rPr sz="900" spc="262" baseline="37037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tr(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baseline="37037" dirty="0">
                <a:latin typeface="Arial"/>
                <a:cs typeface="Arial"/>
              </a:rPr>
              <a:t>T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15" dirty="0">
                <a:latin typeface="Cambria"/>
                <a:cs typeface="Cambria"/>
              </a:rPr>
              <a:t> </a:t>
            </a:r>
            <a:r>
              <a:rPr sz="900" dirty="0">
                <a:latin typeface="Tahoma"/>
                <a:cs typeface="Tahoma"/>
              </a:rPr>
              <a:t>2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baseline="37037" dirty="0">
                <a:latin typeface="Arial"/>
                <a:cs typeface="Arial"/>
              </a:rPr>
              <a:t>T</a:t>
            </a:r>
            <a:r>
              <a:rPr sz="900" i="1" dirty="0">
                <a:latin typeface="Arial"/>
                <a:cs typeface="Arial"/>
              </a:rPr>
              <a:t>DX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0" dirty="0">
                <a:latin typeface="Tahoma"/>
                <a:cs typeface="Tahoma"/>
              </a:rPr>
              <a:t> 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900" i="1" spc="-15" baseline="37037" dirty="0">
                <a:latin typeface="Arial"/>
                <a:cs typeface="Arial"/>
              </a:rPr>
              <a:t>T</a:t>
            </a:r>
            <a:r>
              <a:rPr sz="900" i="1" spc="-10" dirty="0">
                <a:latin typeface="Arial"/>
                <a:cs typeface="Arial"/>
              </a:rPr>
              <a:t>D</a:t>
            </a:r>
            <a:r>
              <a:rPr sz="900" i="1" spc="-15" baseline="37037" dirty="0">
                <a:latin typeface="Arial"/>
                <a:cs typeface="Arial"/>
              </a:rPr>
              <a:t>T</a:t>
            </a:r>
            <a:r>
              <a:rPr sz="900" i="1" spc="-10" dirty="0">
                <a:latin typeface="Arial"/>
                <a:cs typeface="Arial"/>
              </a:rPr>
              <a:t>DX</a:t>
            </a:r>
            <a:r>
              <a:rPr sz="900" spc="-10" dirty="0">
                <a:latin typeface="Tahoma"/>
                <a:cs typeface="Tahoma"/>
              </a:rPr>
              <a:t>).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51" name="object 5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2275700"/>
            <a:ext cx="65201" cy="65201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377532" y="2163715"/>
            <a:ext cx="2841625" cy="40513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15"/>
              </a:spcBef>
            </a:pPr>
            <a:r>
              <a:rPr sz="900" spc="-10" dirty="0">
                <a:latin typeface="Tahoma"/>
                <a:cs typeface="Tahoma"/>
              </a:rPr>
              <a:t>Gradient:</a:t>
            </a:r>
            <a:r>
              <a:rPr sz="900" spc="135" dirty="0">
                <a:latin typeface="Tahoma"/>
                <a:cs typeface="Tahoma"/>
              </a:rPr>
              <a:t> </a:t>
            </a:r>
            <a:r>
              <a:rPr sz="900" spc="75" dirty="0">
                <a:latin typeface="Cambria"/>
                <a:cs typeface="Cambria"/>
              </a:rPr>
              <a:t>∇</a:t>
            </a:r>
            <a:r>
              <a:rPr sz="900" i="1" spc="112" baseline="-9259" dirty="0">
                <a:latin typeface="Arial"/>
                <a:cs typeface="Arial"/>
              </a:rPr>
              <a:t>X</a:t>
            </a:r>
            <a:r>
              <a:rPr sz="900" i="1" spc="75" dirty="0">
                <a:latin typeface="Arial"/>
                <a:cs typeface="Arial"/>
              </a:rPr>
              <a:t>L</a:t>
            </a:r>
            <a:r>
              <a:rPr sz="900" i="1" spc="112" baseline="-9259" dirty="0">
                <a:latin typeface="Arial"/>
                <a:cs typeface="Arial"/>
              </a:rPr>
              <a:t>X</a:t>
            </a:r>
            <a:r>
              <a:rPr sz="900" i="1" spc="209" baseline="-9259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65" dirty="0">
                <a:latin typeface="Cambria"/>
                <a:cs typeface="Cambria"/>
              </a:rPr>
              <a:t>−</a:t>
            </a:r>
            <a:r>
              <a:rPr sz="900" spc="65" dirty="0">
                <a:latin typeface="Tahoma"/>
                <a:cs typeface="Tahoma"/>
              </a:rPr>
              <a:t>2</a:t>
            </a:r>
            <a:r>
              <a:rPr sz="900" i="1" spc="65" dirty="0">
                <a:latin typeface="Arial"/>
                <a:cs typeface="Arial"/>
              </a:rPr>
              <a:t>D</a:t>
            </a:r>
            <a:r>
              <a:rPr sz="900" i="1" spc="97" baseline="37037" dirty="0">
                <a:latin typeface="Arial"/>
                <a:cs typeface="Arial"/>
              </a:rPr>
              <a:t>T</a:t>
            </a:r>
            <a:r>
              <a:rPr sz="900" i="1" spc="65" dirty="0">
                <a:latin typeface="Arial"/>
                <a:cs typeface="Arial"/>
              </a:rPr>
              <a:t>D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2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baseline="37037" dirty="0">
                <a:latin typeface="Arial"/>
                <a:cs typeface="Arial"/>
              </a:rPr>
              <a:t>T</a:t>
            </a:r>
            <a:r>
              <a:rPr sz="900" i="1" dirty="0">
                <a:latin typeface="Arial"/>
                <a:cs typeface="Arial"/>
              </a:rPr>
              <a:t>DX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baseline="37037" dirty="0">
                <a:latin typeface="Arial"/>
                <a:cs typeface="Arial"/>
              </a:rPr>
              <a:t>k</a:t>
            </a:r>
            <a:r>
              <a:rPr sz="900" i="1" spc="127" baseline="37037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0" dirty="0">
                <a:latin typeface="Tahoma"/>
                <a:cs typeface="Tahoma"/>
              </a:rPr>
              <a:t> </a:t>
            </a:r>
            <a:r>
              <a:rPr sz="900" i="1" dirty="0">
                <a:latin typeface="Calibri"/>
                <a:cs typeface="Calibri"/>
              </a:rPr>
              <a:t>ρ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10" dirty="0">
                <a:latin typeface="Cambria"/>
                <a:cs typeface="Cambria"/>
              </a:rPr>
              <a:t> </a:t>
            </a:r>
            <a:r>
              <a:rPr sz="900" i="1" spc="-20" dirty="0">
                <a:latin typeface="Arial"/>
                <a:cs typeface="Arial"/>
              </a:rPr>
              <a:t>Z</a:t>
            </a:r>
            <a:r>
              <a:rPr sz="900" i="1" spc="-30" baseline="37037" dirty="0">
                <a:latin typeface="Arial"/>
                <a:cs typeface="Arial"/>
              </a:rPr>
              <a:t>k</a:t>
            </a:r>
            <a:r>
              <a:rPr sz="900" spc="-20" dirty="0">
                <a:latin typeface="Tahoma"/>
                <a:cs typeface="Tahoma"/>
              </a:rPr>
              <a:t>).</a:t>
            </a:r>
            <a:endParaRPr sz="9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414"/>
              </a:spcBef>
            </a:pPr>
            <a:r>
              <a:rPr sz="900" dirty="0">
                <a:latin typeface="Tahoma"/>
                <a:cs typeface="Tahoma"/>
              </a:rPr>
              <a:t>Set</a:t>
            </a:r>
            <a:r>
              <a:rPr sz="900" spc="4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4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zero:</a:t>
            </a:r>
            <a:r>
              <a:rPr sz="900" spc="15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(2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baseline="37037" dirty="0">
                <a:latin typeface="Arial"/>
                <a:cs typeface="Arial"/>
              </a:rPr>
              <a:t>T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0" dirty="0">
                <a:latin typeface="Tahoma"/>
                <a:cs typeface="Tahoma"/>
              </a:rPr>
              <a:t> </a:t>
            </a:r>
            <a:r>
              <a:rPr sz="900" i="1" dirty="0">
                <a:latin typeface="Calibri"/>
                <a:cs typeface="Calibri"/>
              </a:rPr>
              <a:t>ρ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900" dirty="0">
                <a:latin typeface="Tahoma"/>
                <a:cs typeface="Tahoma"/>
              </a:rPr>
              <a:t>)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2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baseline="37037" dirty="0">
                <a:latin typeface="Arial"/>
                <a:cs typeface="Arial"/>
              </a:rPr>
              <a:t>T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0" dirty="0">
                <a:latin typeface="Tahoma"/>
                <a:cs typeface="Tahoma"/>
              </a:rPr>
              <a:t> </a:t>
            </a:r>
            <a:r>
              <a:rPr sz="900" i="1" dirty="0">
                <a:latin typeface="Calibri"/>
                <a:cs typeface="Calibri"/>
              </a:rPr>
              <a:t>ρ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i="1" baseline="37037" dirty="0">
                <a:latin typeface="Arial"/>
                <a:cs typeface="Arial"/>
              </a:rPr>
              <a:t>k</a:t>
            </a:r>
            <a:r>
              <a:rPr sz="900" i="1" spc="135" baseline="37037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20" dirty="0">
                <a:latin typeface="Cambria"/>
                <a:cs typeface="Cambria"/>
              </a:rPr>
              <a:t> </a:t>
            </a:r>
            <a:r>
              <a:rPr sz="900" i="1" spc="-25" dirty="0">
                <a:latin typeface="Arial"/>
                <a:cs typeface="Arial"/>
              </a:rPr>
              <a:t>U</a:t>
            </a:r>
            <a:r>
              <a:rPr sz="900" i="1" spc="-37" baseline="37037" dirty="0">
                <a:latin typeface="Arial"/>
                <a:cs typeface="Arial"/>
              </a:rPr>
              <a:t>k</a:t>
            </a:r>
            <a:r>
              <a:rPr sz="900" spc="-25" dirty="0">
                <a:latin typeface="Tahoma"/>
                <a:cs typeface="Tahoma"/>
              </a:rPr>
              <a:t>.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53" name="object 5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2465489"/>
            <a:ext cx="65201" cy="65201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165" y="2655278"/>
            <a:ext cx="65201" cy="65201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402932" y="2596433"/>
            <a:ext cx="15601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11225" algn="l"/>
              </a:tabLst>
            </a:pPr>
            <a:r>
              <a:rPr sz="900" dirty="0">
                <a:latin typeface="Tahoma"/>
                <a:cs typeface="Tahoma"/>
              </a:rPr>
              <a:t>Per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column:</a:t>
            </a:r>
            <a:r>
              <a:rPr sz="900" spc="60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2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5" dirty="0">
                <a:latin typeface="Tahoma"/>
                <a:cs typeface="Tahoma"/>
              </a:rPr>
              <a:t> </a:t>
            </a:r>
            <a:r>
              <a:rPr sz="900" i="1" spc="-25" dirty="0">
                <a:latin typeface="Calibri"/>
                <a:cs typeface="Calibri"/>
              </a:rPr>
              <a:t>ρ</a:t>
            </a:r>
            <a:r>
              <a:rPr sz="900" i="1" spc="-25" dirty="0">
                <a:latin typeface="Arial"/>
                <a:cs typeface="Arial"/>
              </a:rPr>
              <a:t>I</a:t>
            </a:r>
            <a:endParaRPr sz="9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120711" y="2586017"/>
            <a:ext cx="194119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7040" algn="l"/>
                <a:tab pos="875030" algn="l"/>
                <a:tab pos="1124585" algn="l"/>
                <a:tab pos="1618615" algn="l"/>
                <a:tab pos="1888489" algn="l"/>
              </a:tabLst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15" dirty="0">
                <a:latin typeface="Arial"/>
                <a:cs typeface="Arial"/>
              </a:rPr>
              <a:t>T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25" dirty="0">
                <a:latin typeface="Verdana"/>
                <a:cs typeface="Verdana"/>
              </a:rPr>
              <a:t>−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15" dirty="0">
                <a:latin typeface="Arial"/>
                <a:cs typeface="Arial"/>
              </a:rPr>
              <a:t>T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50" dirty="0">
                <a:latin typeface="Arial"/>
                <a:cs typeface="Arial"/>
              </a:rPr>
              <a:t>k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50" dirty="0"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899615" y="2596433"/>
            <a:ext cx="13430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Tahoma"/>
                <a:cs typeface="Tahoma"/>
              </a:rPr>
              <a:t>)</a:t>
            </a:r>
            <a:r>
              <a:rPr sz="900" spc="215" dirty="0">
                <a:latin typeface="Tahoma"/>
                <a:cs typeface="Tahoma"/>
              </a:rPr>
              <a:t>  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254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baseline="-9259" dirty="0">
                <a:latin typeface="Arial"/>
                <a:cs typeface="Arial"/>
              </a:rPr>
              <a:t>j</a:t>
            </a:r>
            <a:r>
              <a:rPr sz="900" i="1" spc="142" baseline="-9259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0" dirty="0">
                <a:latin typeface="Tahoma"/>
                <a:cs typeface="Tahoma"/>
              </a:rPr>
              <a:t> </a:t>
            </a:r>
            <a:r>
              <a:rPr sz="900" i="1" dirty="0">
                <a:latin typeface="Calibri"/>
                <a:cs typeface="Calibri"/>
              </a:rPr>
              <a:t>ρ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i="1" baseline="-13888" dirty="0">
                <a:latin typeface="Arial"/>
                <a:cs typeface="Arial"/>
              </a:rPr>
              <a:t>j</a:t>
            </a:r>
            <a:r>
              <a:rPr sz="900" i="1" spc="359" baseline="-13888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20" dirty="0">
                <a:latin typeface="Cambria"/>
                <a:cs typeface="Cambria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baseline="-13888" dirty="0">
                <a:latin typeface="Arial"/>
                <a:cs typeface="Arial"/>
              </a:rPr>
              <a:t>j</a:t>
            </a:r>
            <a:r>
              <a:rPr sz="900" i="1" spc="44" baseline="-13888" dirty="0">
                <a:latin typeface="Arial"/>
                <a:cs typeface="Arial"/>
              </a:rPr>
              <a:t> </a:t>
            </a:r>
            <a:r>
              <a:rPr sz="900" spc="-25" dirty="0">
                <a:latin typeface="Tahoma"/>
                <a:cs typeface="Tahoma"/>
              </a:rPr>
              <a:t>)).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02932" y="2642142"/>
            <a:ext cx="908050" cy="30670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R="147955" algn="r">
              <a:lnSpc>
                <a:spcPct val="100000"/>
              </a:lnSpc>
              <a:spcBef>
                <a:spcPts val="265"/>
              </a:spcBef>
            </a:pPr>
            <a:r>
              <a:rPr sz="600" i="1" spc="-50" dirty="0">
                <a:latin typeface="Arial"/>
                <a:cs typeface="Arial"/>
              </a:rPr>
              <a:t>j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900" dirty="0">
                <a:latin typeface="Tahoma"/>
                <a:cs typeface="Tahoma"/>
              </a:rPr>
              <a:t>Apply</a:t>
            </a:r>
            <a:r>
              <a:rPr sz="900" spc="4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constraints.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59" name="object 5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165" y="2845066"/>
            <a:ext cx="65201" cy="65201"/>
          </a:xfrm>
          <a:prstGeom prst="rect">
            <a:avLst/>
          </a:prstGeom>
        </p:spPr>
      </p:pic>
      <p:sp>
        <p:nvSpPr>
          <p:cNvPr id="64" name="object 64"/>
          <p:cNvSpPr txBox="1"/>
          <p:nvPr/>
        </p:nvSpPr>
        <p:spPr>
          <a:xfrm>
            <a:off x="3039710" y="3334738"/>
            <a:ext cx="204470" cy="111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zation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523276" y="3322038"/>
            <a:ext cx="152971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Document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Summarization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via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Sparse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Optimi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August</a:t>
            </a:r>
            <a:r>
              <a:rPr spc="-5" dirty="0"/>
              <a:t> </a:t>
            </a:r>
            <a:r>
              <a:rPr dirty="0"/>
              <a:t>23,</a:t>
            </a:r>
            <a:r>
              <a:rPr spc="10" dirty="0"/>
              <a:t> </a:t>
            </a:r>
            <a:r>
              <a:rPr spc="-20" dirty="0"/>
              <a:t>2025</a:t>
            </a:r>
          </a:p>
        </p:txBody>
      </p:sp>
      <p:sp>
        <p:nvSpPr>
          <p:cNvPr id="67" name="object 6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5</a:t>
            </a:fld>
            <a:r>
              <a:rPr spc="-90" dirty="0"/>
              <a:t> </a:t>
            </a:r>
            <a:r>
              <a:rPr spc="90" dirty="0"/>
              <a:t>/</a:t>
            </a:r>
            <a:r>
              <a:rPr spc="-90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255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437070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Z-</a:t>
            </a:r>
            <a:r>
              <a:rPr spc="-10" dirty="0"/>
              <a:t>Update</a:t>
            </a:r>
            <a:r>
              <a:rPr spc="-45" dirty="0"/>
              <a:t> </a:t>
            </a:r>
            <a:endParaRPr spc="-20" dirty="0"/>
          </a:p>
        </p:txBody>
      </p:sp>
      <p:sp>
        <p:nvSpPr>
          <p:cNvPr id="4" name="object 4"/>
          <p:cNvSpPr txBox="1"/>
          <p:nvPr/>
        </p:nvSpPr>
        <p:spPr>
          <a:xfrm>
            <a:off x="885761" y="820780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5761" y="898098"/>
            <a:ext cx="45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4247" y="837521"/>
            <a:ext cx="467359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5430" algn="l"/>
              </a:tabLst>
            </a:pPr>
            <a:r>
              <a:rPr sz="900" i="1" spc="-5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S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55610" y="893196"/>
            <a:ext cx="1784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05" dirty="0">
                <a:latin typeface="Calibri"/>
                <a:cs typeface="Calibri"/>
              </a:rPr>
              <a:t>λ/ρ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38566" y="820780"/>
            <a:ext cx="4375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4810" algn="l"/>
              </a:tabLst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-60" dirty="0"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13166" y="898098"/>
            <a:ext cx="7454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10209" algn="l"/>
                <a:tab pos="657225" algn="l"/>
              </a:tabLst>
            </a:pPr>
            <a:r>
              <a:rPr sz="600" i="1" spc="-50" dirty="0">
                <a:latin typeface="Arial"/>
                <a:cs typeface="Arial"/>
              </a:rPr>
              <a:t>i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50" dirty="0">
                <a:latin typeface="Arial"/>
                <a:cs typeface="Arial"/>
              </a:rPr>
              <a:t>i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900" i="1" spc="112" baseline="9259" dirty="0">
                <a:latin typeface="Calibri"/>
                <a:cs typeface="Calibri"/>
              </a:rPr>
              <a:t>γ</a:t>
            </a:r>
            <a:endParaRPr sz="900" baseline="9259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14830" y="837521"/>
            <a:ext cx="9296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1150" algn="l"/>
              </a:tabLst>
            </a:pPr>
            <a:r>
              <a:rPr sz="900" spc="-25" dirty="0">
                <a:latin typeface="Tahoma"/>
                <a:cs typeface="Tahoma"/>
              </a:rPr>
              <a:t>(</a:t>
            </a:r>
            <a:r>
              <a:rPr sz="900" i="1" spc="-25" dirty="0">
                <a:latin typeface="Arial"/>
                <a:cs typeface="Arial"/>
              </a:rPr>
              <a:t>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spc="80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)</a:t>
            </a:r>
            <a:r>
              <a:rPr sz="900" i="1" dirty="0">
                <a:latin typeface="Calibri"/>
                <a:cs typeface="Calibri"/>
              </a:rPr>
              <a:t>,</a:t>
            </a:r>
            <a:r>
              <a:rPr sz="900" i="1" spc="229" dirty="0">
                <a:latin typeface="Calibri"/>
                <a:cs typeface="Calibri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00" dirty="0">
                <a:latin typeface="Arial"/>
                <a:cs typeface="Arial"/>
              </a:rPr>
              <a:t> </a:t>
            </a:r>
            <a:r>
              <a:rPr sz="900" spc="-25" dirty="0">
                <a:latin typeface="Tahoma"/>
                <a:cs typeface="Tahoma"/>
              </a:rPr>
              <a:t>(</a:t>
            </a:r>
            <a:r>
              <a:rPr sz="900" i="1" spc="-25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47212" y="763874"/>
            <a:ext cx="243204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u="sng" spc="3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i="1" u="sng" spc="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γ</a:t>
            </a:r>
            <a:r>
              <a:rPr sz="900" i="1" u="sng" spc="5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6979" y="922228"/>
            <a:ext cx="31750" cy="114300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1819" y="926458"/>
            <a:ext cx="31750" cy="1143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3075551" y="897878"/>
            <a:ext cx="2292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baseline="6172" dirty="0">
                <a:latin typeface="Arial"/>
                <a:cs typeface="Arial"/>
              </a:rPr>
              <a:t>x</a:t>
            </a:r>
            <a:r>
              <a:rPr sz="1350" i="1" spc="270" baseline="6172" dirty="0">
                <a:latin typeface="Arial"/>
                <a:cs typeface="Arial"/>
              </a:rPr>
              <a:t> </a:t>
            </a:r>
            <a:r>
              <a:rPr sz="600" spc="-50" dirty="0">
                <a:latin typeface="Tahoma"/>
                <a:cs typeface="Tahoma"/>
              </a:rPr>
              <a:t>2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42679" y="677209"/>
            <a:ext cx="761365" cy="16256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660400" algn="l"/>
              </a:tabLst>
            </a:pPr>
            <a:r>
              <a:rPr sz="900" dirty="0">
                <a:latin typeface="Georgia"/>
                <a:cs typeface="Georgia"/>
              </a:rPr>
              <a:t>	 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318461" y="837521"/>
            <a:ext cx="125920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74090" algn="l"/>
              </a:tabLst>
            </a:pPr>
            <a:r>
              <a:rPr sz="900" dirty="0">
                <a:latin typeface="Tahoma"/>
                <a:cs typeface="Tahoma"/>
              </a:rPr>
              <a:t>)</a:t>
            </a:r>
            <a:r>
              <a:rPr sz="900" spc="-5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max</a:t>
            </a:r>
            <a:r>
              <a:rPr sz="900" spc="125" dirty="0">
                <a:latin typeface="Tahoma"/>
                <a:cs typeface="Tahoma"/>
              </a:rPr>
              <a:t>  </a:t>
            </a:r>
            <a:r>
              <a:rPr sz="900" spc="-35" dirty="0">
                <a:latin typeface="Tahoma"/>
                <a:cs typeface="Tahoma"/>
              </a:rPr>
              <a:t>1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spc="165" dirty="0">
                <a:latin typeface="Cambria"/>
                <a:cs typeface="Cambria"/>
              </a:rPr>
              <a:t>−</a:t>
            </a:r>
            <a:r>
              <a:rPr sz="900" dirty="0">
                <a:latin typeface="Cambria"/>
                <a:cs typeface="Cambria"/>
              </a:rPr>
              <a:t>	</a:t>
            </a:r>
            <a:r>
              <a:rPr sz="900" i="1" dirty="0">
                <a:latin typeface="Calibri"/>
                <a:cs typeface="Calibri"/>
              </a:rPr>
              <a:t>,</a:t>
            </a:r>
            <a:r>
              <a:rPr sz="900" i="1" spc="-50" dirty="0">
                <a:latin typeface="Calibri"/>
                <a:cs typeface="Calibri"/>
              </a:rPr>
              <a:t> </a:t>
            </a:r>
            <a:r>
              <a:rPr sz="900" dirty="0">
                <a:latin typeface="Tahoma"/>
                <a:cs typeface="Tahoma"/>
              </a:rPr>
              <a:t>0</a:t>
            </a:r>
            <a:r>
              <a:rPr sz="900" spc="140" dirty="0">
                <a:latin typeface="Tahoma"/>
                <a:cs typeface="Tahoma"/>
              </a:rPr>
              <a:t>  </a:t>
            </a:r>
            <a:r>
              <a:rPr sz="900" i="1" spc="-50" dirty="0">
                <a:latin typeface="Arial"/>
                <a:cs typeface="Arial"/>
              </a:rPr>
              <a:t>x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51847" y="837521"/>
            <a:ext cx="2419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latin typeface="Calibri"/>
                <a:cs typeface="Calibri"/>
              </a:rPr>
              <a:t>,</a:t>
            </a:r>
            <a:r>
              <a:rPr sz="900" i="1" spc="275" dirty="0">
                <a:latin typeface="Calibri"/>
                <a:cs typeface="Calibri"/>
              </a:rPr>
              <a:t> </a:t>
            </a:r>
            <a:r>
              <a:rPr sz="900" spc="-25" dirty="0">
                <a:latin typeface="Cambria"/>
                <a:cs typeface="Cambria"/>
              </a:rPr>
              <a:t>∀</a:t>
            </a:r>
            <a:r>
              <a:rPr sz="900" i="1" spc="-25" dirty="0">
                <a:latin typeface="Arial"/>
                <a:cs typeface="Arial"/>
              </a:rPr>
              <a:t>i</a:t>
            </a:r>
            <a:r>
              <a:rPr sz="900" i="1" spc="-25" dirty="0">
                <a:latin typeface="Calibri"/>
                <a:cs typeface="Calibri"/>
              </a:rPr>
              <a:t>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3577" y="1099609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14970" y="1099609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932355" y="1099609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14970" y="1176926"/>
            <a:ext cx="68389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29920" algn="l"/>
              </a:tabLst>
            </a:pPr>
            <a:r>
              <a:rPr sz="600" i="1" spc="-25" dirty="0">
                <a:latin typeface="Arial"/>
                <a:cs typeface="Arial"/>
              </a:rPr>
              <a:t>ij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25" dirty="0">
                <a:latin typeface="Arial"/>
                <a:cs typeface="Arial"/>
              </a:rPr>
              <a:t>ij</a:t>
            </a:r>
            <a:endParaRPr sz="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5844" y="1110025"/>
            <a:ext cx="21824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9150" algn="l"/>
                <a:tab pos="1383030" algn="l"/>
                <a:tab pos="1967864" algn="l"/>
              </a:tabLst>
            </a:pPr>
            <a:r>
              <a:rPr sz="900" dirty="0">
                <a:latin typeface="Tahoma"/>
                <a:cs typeface="Tahoma"/>
              </a:rPr>
              <a:t>Then:</a:t>
            </a:r>
            <a:r>
              <a:rPr sz="900" spc="5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diag(</a:t>
            </a:r>
            <a:r>
              <a:rPr sz="900" i="1" spc="-1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dirty="0">
                <a:latin typeface="Tahoma"/>
                <a:cs typeface="Tahoma"/>
              </a:rPr>
              <a:t>)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0,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max</a:t>
            </a:r>
            <a:r>
              <a:rPr sz="900" spc="-10" dirty="0">
                <a:latin typeface="Cambria"/>
                <a:cs typeface="Cambria"/>
              </a:rPr>
              <a:t>{</a:t>
            </a:r>
            <a:r>
              <a:rPr sz="900" i="1" spc="-1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i="1" dirty="0">
                <a:latin typeface="Calibri"/>
                <a:cs typeface="Calibri"/>
              </a:rPr>
              <a:t>,</a:t>
            </a:r>
            <a:r>
              <a:rPr sz="900" i="1" spc="-25" dirty="0">
                <a:latin typeface="Calibri"/>
                <a:cs typeface="Calibri"/>
              </a:rPr>
              <a:t> </a:t>
            </a:r>
            <a:r>
              <a:rPr sz="900" spc="-25" dirty="0">
                <a:latin typeface="Tahoma"/>
                <a:cs typeface="Tahoma"/>
              </a:rPr>
              <a:t>0</a:t>
            </a:r>
            <a:r>
              <a:rPr sz="900" spc="-25" dirty="0">
                <a:latin typeface="Cambria"/>
                <a:cs typeface="Cambria"/>
              </a:rPr>
              <a:t>}</a:t>
            </a:r>
            <a:r>
              <a:rPr sz="900" spc="-25" dirty="0"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25844" y="1407345"/>
            <a:ext cx="4060825" cy="150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Tahoma"/>
                <a:cs typeface="Tahoma"/>
              </a:rPr>
              <a:t>Trims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i="1" spc="10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keep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only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key </a:t>
            </a:r>
            <a:r>
              <a:rPr sz="900" spc="-30" dirty="0">
                <a:latin typeface="Tahoma"/>
                <a:cs typeface="Tahoma"/>
              </a:rPr>
              <a:t>sentences.</a:t>
            </a:r>
            <a:r>
              <a:rPr sz="900" spc="6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Like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picking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the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best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puzzle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pieces and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03362" y="1726552"/>
            <a:ext cx="31750" cy="114300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125844" y="1546524"/>
            <a:ext cx="1508125" cy="4406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Tahoma"/>
                <a:cs typeface="Tahoma"/>
              </a:rPr>
              <a:t>tossing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extras.</a:t>
            </a:r>
            <a:endParaRPr sz="9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80" dirty="0">
                <a:latin typeface="Arial Black" panose="020B0A04020102020204" pitchFamily="34" charset="0"/>
                <a:cs typeface="Arial Black"/>
              </a:rPr>
              <a:t>Optimization</a:t>
            </a:r>
            <a:r>
              <a:rPr sz="900" spc="-80" dirty="0">
                <a:latin typeface="Tahoma"/>
                <a:cs typeface="Tahoma"/>
              </a:rPr>
              <a:t>:</a:t>
            </a:r>
            <a:r>
              <a:rPr sz="900" spc="1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Minimizes</a:t>
            </a:r>
            <a:r>
              <a:rPr sz="900" spc="20" dirty="0">
                <a:latin typeface="Tahoma"/>
                <a:cs typeface="Tahoma"/>
              </a:rPr>
              <a:t> </a:t>
            </a:r>
            <a:r>
              <a:rPr sz="900" i="1" spc="120" dirty="0">
                <a:latin typeface="Calibri"/>
                <a:cs typeface="Calibri"/>
              </a:rPr>
              <a:t>λ</a:t>
            </a:r>
            <a:r>
              <a:rPr sz="900" i="1" spc="245" dirty="0">
                <a:latin typeface="Calibri"/>
                <a:cs typeface="Calibri"/>
              </a:rPr>
              <a:t> </a:t>
            </a:r>
            <a:r>
              <a:rPr sz="900" i="1" spc="-50" dirty="0">
                <a:latin typeface="Arial"/>
                <a:cs typeface="Arial"/>
              </a:rPr>
              <a:t>Z</a:t>
            </a:r>
            <a:endParaRPr sz="9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Arial Black" panose="020B0A04020102020204" pitchFamily="34" charset="0"/>
                <a:cs typeface="Arial Black"/>
              </a:rPr>
              <a:t>Derivation</a:t>
            </a:r>
            <a:r>
              <a:rPr sz="900" spc="-10" dirty="0">
                <a:latin typeface="Tahoma"/>
                <a:cs typeface="Tahoma"/>
              </a:rPr>
              <a:t>: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3385" y="1726552"/>
            <a:ext cx="31750" cy="114300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1641106" y="1698353"/>
            <a:ext cx="3219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</a:rPr>
              <a:t>2</a:t>
            </a:r>
            <a:r>
              <a:rPr sz="600" i="1" dirty="0">
                <a:latin typeface="Calibri"/>
                <a:cs typeface="Calibri"/>
              </a:rPr>
              <a:t>,</a:t>
            </a:r>
            <a:r>
              <a:rPr sz="600" dirty="0">
                <a:latin typeface="Tahoma"/>
                <a:cs typeface="Tahoma"/>
              </a:rPr>
              <a:t>1</a:t>
            </a:r>
            <a:r>
              <a:rPr sz="600" spc="120" dirty="0">
                <a:latin typeface="Tahoma"/>
                <a:cs typeface="Tahoma"/>
              </a:rPr>
              <a:t> </a:t>
            </a:r>
            <a:r>
              <a:rPr sz="1350" spc="22" baseline="6172" dirty="0">
                <a:latin typeface="Tahoma"/>
                <a:cs typeface="Tahoma"/>
              </a:rPr>
              <a:t>+</a:t>
            </a:r>
            <a:endParaRPr sz="1350" baseline="6172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953196" y="1783803"/>
            <a:ext cx="48895" cy="0"/>
          </a:xfrm>
          <a:custGeom>
            <a:avLst/>
            <a:gdLst/>
            <a:ahLst/>
            <a:cxnLst/>
            <a:rect l="l" t="t" r="r" b="b"/>
            <a:pathLst>
              <a:path w="48894">
                <a:moveTo>
                  <a:pt x="0" y="0"/>
                </a:moveTo>
                <a:lnTo>
                  <a:pt x="48513" y="0"/>
                </a:lnTo>
              </a:path>
            </a:pathLst>
          </a:custGeom>
          <a:ln w="4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1944598" y="1762307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35" name="object 3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9586" y="1726552"/>
            <a:ext cx="31750" cy="114300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9674" y="1726552"/>
            <a:ext cx="31750" cy="114300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1940496" y="1675287"/>
            <a:ext cx="6883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12725" algn="l"/>
                <a:tab pos="634365" algn="l"/>
              </a:tabLst>
            </a:pPr>
            <a:r>
              <a:rPr sz="600" i="1" spc="30" dirty="0">
                <a:latin typeface="Calibri"/>
                <a:cs typeface="Calibri"/>
              </a:rPr>
              <a:t>ρ</a:t>
            </a:r>
            <a:r>
              <a:rPr sz="600" i="1" dirty="0">
                <a:latin typeface="Calibri"/>
                <a:cs typeface="Calibri"/>
              </a:rPr>
              <a:t>	</a:t>
            </a: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562783" y="1746979"/>
            <a:ext cx="71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062708" y="1685704"/>
            <a:ext cx="61087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5430" algn="l"/>
              </a:tabLst>
            </a:pPr>
            <a:r>
              <a:rPr sz="900" i="1" spc="-50" dirty="0">
                <a:latin typeface="Arial"/>
                <a:cs typeface="Arial"/>
              </a:rPr>
              <a:t>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5" dirty="0">
                <a:latin typeface="Cambria"/>
                <a:cs typeface="Cambria"/>
              </a:rPr>
              <a:t> 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i="1" spc="190" dirty="0">
                <a:latin typeface="Arial"/>
                <a:cs typeface="Arial"/>
              </a:rPr>
              <a:t>  </a:t>
            </a:r>
            <a:r>
              <a:rPr sz="900" spc="-50" dirty="0"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0" name="object 4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2073516"/>
            <a:ext cx="65201" cy="65201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95056" y="2055520"/>
            <a:ext cx="31750" cy="114300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5079" y="2055520"/>
            <a:ext cx="31750" cy="114300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1532801" y="2027321"/>
            <a:ext cx="3219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600" dirty="0">
                <a:latin typeface="Tahoma"/>
                <a:cs typeface="Tahoma"/>
              </a:rPr>
              <a:t>2</a:t>
            </a:r>
            <a:r>
              <a:rPr sz="600" i="1" dirty="0">
                <a:latin typeface="Calibri"/>
                <a:cs typeface="Calibri"/>
              </a:rPr>
              <a:t>,</a:t>
            </a:r>
            <a:r>
              <a:rPr sz="600" dirty="0">
                <a:latin typeface="Tahoma"/>
                <a:cs typeface="Tahoma"/>
              </a:rPr>
              <a:t>1</a:t>
            </a:r>
            <a:r>
              <a:rPr sz="600" spc="120" dirty="0">
                <a:latin typeface="Tahoma"/>
                <a:cs typeface="Tahoma"/>
              </a:rPr>
              <a:t> </a:t>
            </a:r>
            <a:r>
              <a:rPr sz="1350" spc="22" baseline="6172" dirty="0">
                <a:latin typeface="Tahoma"/>
                <a:cs typeface="Tahoma"/>
              </a:rPr>
              <a:t>+</a:t>
            </a:r>
            <a:endParaRPr sz="1350" baseline="6172">
              <a:latin typeface="Tahoma"/>
              <a:cs typeface="Tahoma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2972473" y="2112772"/>
            <a:ext cx="48895" cy="0"/>
          </a:xfrm>
          <a:custGeom>
            <a:avLst/>
            <a:gdLst/>
            <a:ahLst/>
            <a:cxnLst/>
            <a:rect l="l" t="t" r="r" b="b"/>
            <a:pathLst>
              <a:path w="48894">
                <a:moveTo>
                  <a:pt x="0" y="0"/>
                </a:moveTo>
                <a:lnTo>
                  <a:pt x="48513" y="0"/>
                </a:lnTo>
              </a:path>
            </a:pathLst>
          </a:custGeom>
          <a:ln w="4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2963875" y="209127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46" name="object 4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863" y="2055520"/>
            <a:ext cx="31750" cy="114300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8938" y="2055520"/>
            <a:ext cx="31750" cy="114300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2070760" y="2004255"/>
            <a:ext cx="15773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8925" algn="l"/>
                <a:tab pos="901065" algn="l"/>
                <a:tab pos="1101725" algn="l"/>
                <a:tab pos="1523365" algn="l"/>
              </a:tabLst>
            </a:pPr>
            <a:r>
              <a:rPr sz="600" i="1" dirty="0">
                <a:latin typeface="Arial"/>
                <a:cs typeface="Arial"/>
              </a:rPr>
              <a:t>k</a:t>
            </a:r>
            <a:r>
              <a:rPr sz="600" i="1" spc="235" dirty="0">
                <a:latin typeface="Arial"/>
                <a:cs typeface="Arial"/>
              </a:rPr>
              <a:t> </a:t>
            </a:r>
            <a:r>
              <a:rPr sz="600" i="1" spc="15" dirty="0">
                <a:latin typeface="Arial"/>
                <a:cs typeface="Arial"/>
              </a:rPr>
              <a:t>T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30" dirty="0">
                <a:latin typeface="Calibri"/>
                <a:cs typeface="Calibri"/>
              </a:rPr>
              <a:t>ρ</a:t>
            </a:r>
            <a:r>
              <a:rPr sz="600" i="1" dirty="0">
                <a:latin typeface="Calibri"/>
                <a:cs typeface="Calibri"/>
              </a:rPr>
              <a:t>	</a:t>
            </a: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582060" y="2075947"/>
            <a:ext cx="71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77532" y="2014672"/>
            <a:ext cx="33534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451610" algn="l"/>
                <a:tab pos="2156460" algn="l"/>
                <a:tab pos="2716530" algn="l"/>
                <a:tab pos="2969895" algn="l"/>
              </a:tabLst>
            </a:pPr>
            <a:r>
              <a:rPr sz="900" spc="-10" dirty="0">
                <a:latin typeface="Tahoma"/>
                <a:cs typeface="Tahoma"/>
              </a:rPr>
              <a:t>Lagrangian:</a:t>
            </a:r>
            <a:r>
              <a:rPr sz="900" spc="9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L</a:t>
            </a:r>
            <a:r>
              <a:rPr sz="900" i="1" baseline="-9259" dirty="0">
                <a:latin typeface="Arial"/>
                <a:cs typeface="Arial"/>
              </a:rPr>
              <a:t>Z</a:t>
            </a:r>
            <a:r>
              <a:rPr sz="900" i="1" spc="165" baseline="-9259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i="1" spc="120" dirty="0">
                <a:latin typeface="Calibri"/>
                <a:cs typeface="Calibri"/>
              </a:rPr>
              <a:t>λ</a:t>
            </a:r>
            <a:r>
              <a:rPr sz="900" i="1" spc="220" dirty="0">
                <a:latin typeface="Calibri"/>
                <a:cs typeface="Calibri"/>
              </a:rPr>
              <a:t> </a:t>
            </a:r>
            <a:r>
              <a:rPr sz="900" i="1" spc="-5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dirty="0">
                <a:latin typeface="Tahoma"/>
                <a:cs typeface="Tahoma"/>
              </a:rPr>
              <a:t>tr((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spc="114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)</a:t>
            </a:r>
            <a:r>
              <a:rPr sz="900" spc="22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(</a:t>
            </a:r>
            <a:r>
              <a:rPr sz="900" i="1" spc="-25" dirty="0">
                <a:latin typeface="Arial"/>
                <a:cs typeface="Arial"/>
              </a:rPr>
              <a:t>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15" dirty="0">
                <a:latin typeface="Cambria"/>
                <a:cs typeface="Cambria"/>
              </a:rPr>
              <a:t> 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dirty="0">
                <a:latin typeface="Tahoma"/>
                <a:cs typeface="Tahoma"/>
              </a:rPr>
              <a:t>))</a:t>
            </a:r>
            <a:r>
              <a:rPr sz="900" spc="-65" dirty="0">
                <a:latin typeface="Tahoma"/>
                <a:cs typeface="Tahoma"/>
              </a:rPr>
              <a:t> </a:t>
            </a:r>
            <a:r>
              <a:rPr sz="900" spc="15" dirty="0">
                <a:latin typeface="Tahoma"/>
                <a:cs typeface="Tahoma"/>
              </a:rPr>
              <a:t>+</a:t>
            </a:r>
            <a:r>
              <a:rPr sz="900" dirty="0">
                <a:latin typeface="Tahoma"/>
                <a:cs typeface="Tahoma"/>
              </a:rPr>
              <a:t>	</a:t>
            </a:r>
            <a:r>
              <a:rPr sz="900" i="1" spc="-50" dirty="0">
                <a:latin typeface="Arial"/>
                <a:cs typeface="Arial"/>
              </a:rPr>
              <a:t>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5" dirty="0">
                <a:latin typeface="Cambria"/>
                <a:cs typeface="Cambria"/>
              </a:rPr>
              <a:t> 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i="1" spc="190" dirty="0">
                <a:latin typeface="Arial"/>
                <a:cs typeface="Arial"/>
              </a:rPr>
              <a:t>  </a:t>
            </a:r>
            <a:r>
              <a:rPr sz="900" spc="-50" dirty="0">
                <a:latin typeface="Tahoma"/>
                <a:cs typeface="Tahoma"/>
              </a:rPr>
              <a:t>.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66" name="object 6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2571153"/>
            <a:ext cx="65201" cy="65201"/>
          </a:xfrm>
          <a:prstGeom prst="rect">
            <a:avLst/>
          </a:prstGeom>
        </p:spPr>
      </p:pic>
      <p:sp>
        <p:nvSpPr>
          <p:cNvPr id="67" name="object 67"/>
          <p:cNvSpPr txBox="1"/>
          <p:nvPr/>
        </p:nvSpPr>
        <p:spPr>
          <a:xfrm>
            <a:off x="1435112" y="2501892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435112" y="2579210"/>
            <a:ext cx="45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402932" y="2512309"/>
            <a:ext cx="14274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25550" algn="l"/>
              </a:tabLst>
            </a:pPr>
            <a:r>
              <a:rPr sz="900" dirty="0">
                <a:latin typeface="Tahoma"/>
                <a:cs typeface="Tahoma"/>
              </a:rPr>
              <a:t>Proximal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operator:</a:t>
            </a:r>
            <a:r>
              <a:rPr sz="900" spc="75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S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779562" y="2579210"/>
            <a:ext cx="3784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20675" algn="l"/>
              </a:tabLst>
            </a:pPr>
            <a:r>
              <a:rPr sz="900" i="1" spc="157" baseline="9259" dirty="0">
                <a:latin typeface="Calibri"/>
                <a:cs typeface="Calibri"/>
              </a:rPr>
              <a:t>λ/ρ</a:t>
            </a:r>
            <a:r>
              <a:rPr sz="900" i="1" baseline="9259" dirty="0">
                <a:latin typeface="Calibri"/>
                <a:cs typeface="Calibri"/>
              </a:rPr>
              <a:t>	</a:t>
            </a:r>
            <a:r>
              <a:rPr sz="600" i="1" spc="-50" dirty="0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2087930" y="2501892"/>
            <a:ext cx="483234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29895" algn="l"/>
              </a:tabLst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-50" dirty="0"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526093" y="2524970"/>
            <a:ext cx="1930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spc="-37" baseline="6172" dirty="0">
                <a:latin typeface="Tahoma"/>
                <a:cs typeface="Tahoma"/>
              </a:rPr>
              <a:t>)</a:t>
            </a:r>
            <a:r>
              <a:rPr sz="600" i="1" spc="-25" dirty="0">
                <a:latin typeface="Arial"/>
                <a:cs typeface="Arial"/>
              </a:rPr>
              <a:t>i</a:t>
            </a:r>
            <a:r>
              <a:rPr sz="1350" spc="-37" baseline="6172" dirty="0">
                <a:latin typeface="Tahoma"/>
                <a:cs typeface="Tahoma"/>
              </a:rPr>
              <a:t>)</a:t>
            </a:r>
            <a:endParaRPr sz="1350" baseline="6172">
              <a:latin typeface="Tahoma"/>
              <a:cs typeface="Tahom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964182" y="2512309"/>
            <a:ext cx="7620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1150" algn="l"/>
                <a:tab pos="716280" algn="l"/>
              </a:tabLst>
            </a:pPr>
            <a:r>
              <a:rPr sz="900" spc="-25" dirty="0">
                <a:latin typeface="Tahoma"/>
                <a:cs typeface="Tahoma"/>
              </a:rPr>
              <a:t>(</a:t>
            </a:r>
            <a:r>
              <a:rPr sz="900" i="1" spc="-25" dirty="0">
                <a:latin typeface="Arial"/>
                <a:cs typeface="Arial"/>
              </a:rPr>
              <a:t>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(</a:t>
            </a:r>
            <a:r>
              <a:rPr sz="900" i="1" spc="-25" dirty="0">
                <a:latin typeface="Arial"/>
                <a:cs typeface="Arial"/>
              </a:rPr>
              <a:t>U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-50" dirty="0"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3039710" y="3334738"/>
            <a:ext cx="204470" cy="111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zation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523276" y="3322038"/>
            <a:ext cx="152971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Document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Summarization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via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Sparse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5" action="ppaction://hlinksldjump"/>
              </a:rPr>
              <a:t>Optimi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82" name="object 8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August</a:t>
            </a:r>
            <a:r>
              <a:rPr spc="-5" dirty="0"/>
              <a:t> </a:t>
            </a:r>
            <a:r>
              <a:rPr dirty="0"/>
              <a:t>23,</a:t>
            </a:r>
            <a:r>
              <a:rPr spc="10" dirty="0"/>
              <a:t> </a:t>
            </a:r>
            <a:r>
              <a:rPr spc="-20" dirty="0"/>
              <a:t>2025</a:t>
            </a:r>
          </a:p>
        </p:txBody>
      </p:sp>
      <p:sp>
        <p:nvSpPr>
          <p:cNvPr id="83" name="object 8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6</a:t>
            </a:fld>
            <a:r>
              <a:rPr spc="-90" dirty="0"/>
              <a:t> </a:t>
            </a:r>
            <a:r>
              <a:rPr spc="90" dirty="0"/>
              <a:t>/</a:t>
            </a:r>
            <a:r>
              <a:rPr spc="-90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437070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U-Update</a:t>
            </a:r>
            <a:r>
              <a:rPr spc="-45" dirty="0"/>
              <a:t> </a:t>
            </a:r>
            <a:endParaRPr spc="-2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2095258"/>
            <a:ext cx="65201" cy="6520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7744" y="1186158"/>
            <a:ext cx="4432935" cy="1012457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501775">
              <a:lnSpc>
                <a:spcPct val="100000"/>
              </a:lnSpc>
              <a:spcBef>
                <a:spcPts val="515"/>
              </a:spcBef>
              <a:tabLst>
                <a:tab pos="4153535" algn="l"/>
              </a:tabLst>
            </a:pPr>
            <a:r>
              <a:rPr sz="900" i="1" dirty="0">
                <a:latin typeface="Arial"/>
                <a:cs typeface="Arial"/>
              </a:rPr>
              <a:t>U</a:t>
            </a:r>
            <a:r>
              <a:rPr sz="900" i="1" baseline="41666" dirty="0">
                <a:latin typeface="Arial"/>
                <a:cs typeface="Arial"/>
              </a:rPr>
              <a:t>k</a:t>
            </a:r>
            <a:r>
              <a:rPr sz="900" baseline="41666" dirty="0">
                <a:latin typeface="Verdana"/>
                <a:cs typeface="Verdana"/>
              </a:rPr>
              <a:t>+</a:t>
            </a:r>
            <a:r>
              <a:rPr sz="900" baseline="41666" dirty="0">
                <a:latin typeface="Tahoma"/>
                <a:cs typeface="Tahoma"/>
              </a:rPr>
              <a:t>1</a:t>
            </a:r>
            <a:r>
              <a:rPr sz="900" spc="172" baseline="41666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baseline="41666" dirty="0">
                <a:latin typeface="Arial"/>
                <a:cs typeface="Arial"/>
              </a:rPr>
              <a:t>k</a:t>
            </a:r>
            <a:r>
              <a:rPr sz="900" i="1" spc="120" baseline="41666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dirty="0">
                <a:latin typeface="Calibri"/>
                <a:cs typeface="Calibri"/>
              </a:rPr>
              <a:t>ρ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baseline="41666" dirty="0">
                <a:latin typeface="Arial"/>
                <a:cs typeface="Arial"/>
              </a:rPr>
              <a:t>k</a:t>
            </a:r>
            <a:r>
              <a:rPr sz="900" baseline="41666" dirty="0">
                <a:latin typeface="Verdana"/>
                <a:cs typeface="Verdana"/>
              </a:rPr>
              <a:t>+</a:t>
            </a:r>
            <a:r>
              <a:rPr sz="900" baseline="41666" dirty="0">
                <a:latin typeface="Tahoma"/>
                <a:cs typeface="Tahoma"/>
              </a:rPr>
              <a:t>1</a:t>
            </a:r>
            <a:r>
              <a:rPr sz="900" spc="104" baseline="41666" dirty="0">
                <a:latin typeface="Tahoma"/>
                <a:cs typeface="Tahoma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5" dirty="0">
                <a:latin typeface="Cambria"/>
                <a:cs typeface="Cambria"/>
              </a:rPr>
              <a:t> </a:t>
            </a:r>
            <a:r>
              <a:rPr sz="900" i="1" spc="-10" dirty="0">
                <a:latin typeface="Arial"/>
                <a:cs typeface="Arial"/>
              </a:rPr>
              <a:t>Z</a:t>
            </a:r>
            <a:r>
              <a:rPr sz="900" i="1" spc="-15" baseline="41666" dirty="0">
                <a:latin typeface="Arial"/>
                <a:cs typeface="Arial"/>
              </a:rPr>
              <a:t>k</a:t>
            </a:r>
            <a:r>
              <a:rPr sz="900" spc="-15" baseline="41666" dirty="0">
                <a:latin typeface="Verdana"/>
                <a:cs typeface="Verdana"/>
              </a:rPr>
              <a:t>+</a:t>
            </a:r>
            <a:r>
              <a:rPr sz="900" spc="-15" baseline="41666" dirty="0">
                <a:latin typeface="Tahoma"/>
                <a:cs typeface="Tahoma"/>
              </a:rPr>
              <a:t>1</a:t>
            </a:r>
            <a:r>
              <a:rPr sz="900" spc="-10" dirty="0">
                <a:latin typeface="Tahoma"/>
                <a:cs typeface="Tahoma"/>
              </a:rPr>
              <a:t>)</a:t>
            </a:r>
            <a:r>
              <a:rPr sz="900" i="1" spc="-10" dirty="0">
                <a:latin typeface="Calibri"/>
                <a:cs typeface="Calibri"/>
              </a:rPr>
              <a:t>.</a:t>
            </a:r>
            <a:r>
              <a:rPr sz="900" i="1" dirty="0">
                <a:latin typeface="Calibri"/>
                <a:cs typeface="Calibri"/>
              </a:rPr>
              <a:t>	</a:t>
            </a:r>
            <a:endParaRPr lang="en-US" sz="900" i="1" dirty="0">
              <a:latin typeface="Calibri"/>
              <a:cs typeface="Calibri"/>
            </a:endParaRPr>
          </a:p>
          <a:p>
            <a:pPr marL="1501775">
              <a:lnSpc>
                <a:spcPct val="100000"/>
              </a:lnSpc>
              <a:spcBef>
                <a:spcPts val="515"/>
              </a:spcBef>
              <a:tabLst>
                <a:tab pos="4153535" algn="l"/>
              </a:tabLst>
            </a:pPr>
            <a:endParaRPr lang="en-US" sz="900" spc="-55" dirty="0">
              <a:latin typeface="Arial Black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15"/>
              </a:spcBef>
            </a:pPr>
            <a:r>
              <a:rPr sz="900" spc="6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Adjusts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make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and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spc="-25" dirty="0">
                <a:latin typeface="Tahoma"/>
                <a:cs typeface="Tahoma"/>
              </a:rPr>
              <a:t>agree.</a:t>
            </a:r>
            <a:r>
              <a:rPr sz="900" spc="7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Like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referee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ensuring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puzzle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pieces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match.</a:t>
            </a:r>
            <a:endParaRPr sz="9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15"/>
              </a:spcBef>
            </a:pPr>
            <a:r>
              <a:rPr sz="900" spc="-80" dirty="0">
                <a:latin typeface="+mj-lt"/>
                <a:cs typeface="Arial Black"/>
              </a:rPr>
              <a:t>Optimization</a:t>
            </a:r>
            <a:r>
              <a:rPr sz="900" spc="-80" dirty="0">
                <a:latin typeface="Tahoma"/>
                <a:cs typeface="Tahoma"/>
              </a:rPr>
              <a:t>:</a:t>
            </a:r>
            <a:r>
              <a:rPr sz="900" spc="9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Dual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ascent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for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10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i="1" spc="-25" dirty="0">
                <a:latin typeface="Arial"/>
                <a:cs typeface="Arial"/>
              </a:rPr>
              <a:t>Z</a:t>
            </a:r>
            <a:r>
              <a:rPr sz="900" spc="-25" dirty="0">
                <a:latin typeface="Tahoma"/>
                <a:cs typeface="Tahoma"/>
              </a:rPr>
              <a:t>.</a:t>
            </a:r>
            <a:endParaRPr sz="9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+mj-lt"/>
                <a:cs typeface="Arial Black"/>
              </a:rPr>
              <a:t>Derivation</a:t>
            </a:r>
            <a:r>
              <a:rPr sz="900" spc="-10" dirty="0">
                <a:latin typeface="Tahoma"/>
                <a:cs typeface="Tahoma"/>
              </a:rPr>
              <a:t>:</a:t>
            </a:r>
            <a:endParaRPr sz="900" dirty="0">
              <a:latin typeface="Tahoma"/>
              <a:cs typeface="Tahoma"/>
            </a:endParaRPr>
          </a:p>
          <a:p>
            <a:pPr marL="327660">
              <a:lnSpc>
                <a:spcPct val="100000"/>
              </a:lnSpc>
              <a:spcBef>
                <a:spcPts val="415"/>
              </a:spcBef>
            </a:pPr>
            <a:r>
              <a:rPr sz="900" spc="-10" dirty="0">
                <a:latin typeface="Tahoma"/>
                <a:cs typeface="Tahoma"/>
              </a:rPr>
              <a:t>Standard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85" dirty="0">
                <a:latin typeface="Tahoma"/>
                <a:cs typeface="Tahoma"/>
              </a:rPr>
              <a:t>ADMM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update:</a:t>
            </a:r>
            <a:r>
              <a:rPr sz="900" spc="9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baseline="37037" dirty="0">
                <a:latin typeface="Arial"/>
                <a:cs typeface="Arial"/>
              </a:rPr>
              <a:t>k</a:t>
            </a:r>
            <a:r>
              <a:rPr sz="900" baseline="37037" dirty="0">
                <a:latin typeface="Verdana"/>
                <a:cs typeface="Verdana"/>
              </a:rPr>
              <a:t>+</a:t>
            </a:r>
            <a:r>
              <a:rPr sz="900" baseline="37037" dirty="0">
                <a:latin typeface="Tahoma"/>
                <a:cs typeface="Tahoma"/>
              </a:rPr>
              <a:t>1</a:t>
            </a:r>
            <a:r>
              <a:rPr sz="900" spc="142" baseline="37037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baseline="37037" dirty="0">
                <a:latin typeface="Arial"/>
                <a:cs typeface="Arial"/>
              </a:rPr>
              <a:t>k</a:t>
            </a:r>
            <a:r>
              <a:rPr sz="900" i="1" spc="97" baseline="37037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dirty="0">
                <a:latin typeface="Calibri"/>
                <a:cs typeface="Calibri"/>
              </a:rPr>
              <a:t>ρ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baseline="37037" dirty="0">
                <a:latin typeface="Arial"/>
                <a:cs typeface="Arial"/>
              </a:rPr>
              <a:t>k</a:t>
            </a:r>
            <a:r>
              <a:rPr sz="900" baseline="37037" dirty="0">
                <a:latin typeface="Verdana"/>
                <a:cs typeface="Verdana"/>
              </a:rPr>
              <a:t>+</a:t>
            </a:r>
            <a:r>
              <a:rPr sz="900" baseline="37037" dirty="0">
                <a:latin typeface="Tahoma"/>
                <a:cs typeface="Tahoma"/>
              </a:rPr>
              <a:t>1</a:t>
            </a:r>
            <a:r>
              <a:rPr sz="900" spc="75" baseline="37037" dirty="0">
                <a:latin typeface="Tahoma"/>
                <a:cs typeface="Tahoma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-10" dirty="0">
                <a:latin typeface="Cambria"/>
                <a:cs typeface="Cambria"/>
              </a:rPr>
              <a:t> </a:t>
            </a:r>
            <a:r>
              <a:rPr sz="900" i="1" spc="-10" dirty="0">
                <a:latin typeface="Arial"/>
                <a:cs typeface="Arial"/>
              </a:rPr>
              <a:t>Z</a:t>
            </a:r>
            <a:r>
              <a:rPr sz="900" i="1" spc="-15" baseline="37037" dirty="0">
                <a:latin typeface="Arial"/>
                <a:cs typeface="Arial"/>
              </a:rPr>
              <a:t>k</a:t>
            </a:r>
            <a:r>
              <a:rPr sz="900" spc="-15" baseline="37037" dirty="0">
                <a:latin typeface="Verdana"/>
                <a:cs typeface="Verdana"/>
              </a:rPr>
              <a:t>+</a:t>
            </a:r>
            <a:r>
              <a:rPr sz="900" spc="-15" baseline="37037" dirty="0">
                <a:latin typeface="Tahoma"/>
                <a:cs typeface="Tahoma"/>
              </a:rPr>
              <a:t>1</a:t>
            </a:r>
            <a:r>
              <a:rPr sz="900" spc="-10" dirty="0">
                <a:latin typeface="Tahoma"/>
                <a:cs typeface="Tahoma"/>
              </a:rPr>
              <a:t>).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39710" y="3334738"/>
            <a:ext cx="204470" cy="111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zation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23276" y="3322038"/>
            <a:ext cx="152971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Document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Summarization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via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Sparse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Optimi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August</a:t>
            </a:r>
            <a:r>
              <a:rPr spc="-5" dirty="0"/>
              <a:t> </a:t>
            </a:r>
            <a:r>
              <a:rPr dirty="0"/>
              <a:t>23,</a:t>
            </a:r>
            <a:r>
              <a:rPr spc="10" dirty="0"/>
              <a:t> </a:t>
            </a:r>
            <a:r>
              <a:rPr spc="-20" dirty="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7</a:t>
            </a:fld>
            <a:r>
              <a:rPr spc="-90" dirty="0"/>
              <a:t> </a:t>
            </a:r>
            <a:r>
              <a:rPr spc="90" dirty="0"/>
              <a:t>/</a:t>
            </a:r>
            <a:r>
              <a:rPr spc="-90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437070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Diversity-</a:t>
            </a:r>
            <a:r>
              <a:rPr spc="-55" dirty="0"/>
              <a:t>Augmented</a:t>
            </a:r>
            <a:r>
              <a:rPr spc="-20" dirty="0"/>
              <a:t> Extractive</a:t>
            </a:r>
            <a:r>
              <a:rPr spc="-15" dirty="0"/>
              <a:t> </a:t>
            </a:r>
            <a:r>
              <a:rPr spc="-25" dirty="0"/>
              <a:t>Summarization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7307" y="1057541"/>
            <a:ext cx="31750" cy="1143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16315" y="1057541"/>
            <a:ext cx="31750" cy="1143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049437" y="999952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9437" y="1074691"/>
            <a:ext cx="71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41056" y="1016693"/>
            <a:ext cx="10820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9465" algn="l"/>
              </a:tabLst>
            </a:pPr>
            <a:r>
              <a:rPr sz="900" dirty="0">
                <a:latin typeface="Tahoma"/>
                <a:cs typeface="Tahoma"/>
              </a:rPr>
              <a:t>min</a:t>
            </a:r>
            <a:r>
              <a:rPr sz="900" spc="32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5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dirty="0">
                <a:latin typeface="Cambria"/>
                <a:cs typeface="Cambria"/>
              </a:rPr>
              <a:t> </a:t>
            </a:r>
            <a:r>
              <a:rPr sz="900" i="1" spc="-25" dirty="0">
                <a:latin typeface="Arial"/>
                <a:cs typeface="Arial"/>
              </a:rPr>
              <a:t>DX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spc="-25" dirty="0">
                <a:latin typeface="Calibri"/>
                <a:cs typeface="Calibri"/>
              </a:rPr>
              <a:t>µ</a:t>
            </a:r>
            <a:r>
              <a:rPr sz="900" spc="-25" dirty="0">
                <a:latin typeface="Tahoma"/>
                <a:cs typeface="Tahoma"/>
              </a:rPr>
              <a:t>tr</a:t>
            </a:r>
            <a:endParaRPr sz="9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40736" y="999952"/>
            <a:ext cx="80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2630" y="1057541"/>
            <a:ext cx="31750" cy="114300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397683" y="1016693"/>
            <a:ext cx="6953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100" dirty="0">
                <a:latin typeface="Tahoma"/>
                <a:cs typeface="Tahoma"/>
              </a:rPr>
              <a:t>(∆</a:t>
            </a:r>
            <a:r>
              <a:rPr sz="900" spc="21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dirty="0">
                <a:latin typeface="Tahoma"/>
                <a:cs typeface="Tahoma"/>
              </a:rPr>
              <a:t>)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5" dirty="0">
                <a:latin typeface="Tahoma"/>
                <a:cs typeface="Tahoma"/>
              </a:rPr>
              <a:t> </a:t>
            </a:r>
            <a:r>
              <a:rPr sz="900" i="1" spc="120" dirty="0">
                <a:latin typeface="Calibri"/>
                <a:cs typeface="Calibri"/>
              </a:rPr>
              <a:t>λ</a:t>
            </a:r>
            <a:r>
              <a:rPr sz="900" i="1" spc="260" dirty="0">
                <a:latin typeface="Calibri"/>
                <a:cs typeface="Calibri"/>
              </a:rPr>
              <a:t> </a:t>
            </a:r>
            <a:r>
              <a:rPr sz="900" i="1" spc="-50" dirty="0">
                <a:latin typeface="Arial"/>
                <a:cs typeface="Arial"/>
              </a:rPr>
              <a:t>Z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2665" y="1057541"/>
            <a:ext cx="31750" cy="1143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125774" y="1067313"/>
            <a:ext cx="1352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latin typeface="Tahoma"/>
                <a:cs typeface="Tahoma"/>
              </a:rPr>
              <a:t>2</a:t>
            </a:r>
            <a:r>
              <a:rPr sz="600" i="1" spc="-25" dirty="0">
                <a:latin typeface="Calibri"/>
                <a:cs typeface="Calibri"/>
              </a:rPr>
              <a:t>,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40408" y="1086531"/>
            <a:ext cx="1859280" cy="35306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9"/>
              </a:spcBef>
            </a:pPr>
            <a:r>
              <a:rPr sz="600" i="1" spc="-25" dirty="0">
                <a:latin typeface="Arial"/>
                <a:cs typeface="Arial"/>
              </a:rPr>
              <a:t>X</a:t>
            </a:r>
            <a:r>
              <a:rPr sz="600" i="1" spc="-25" dirty="0">
                <a:latin typeface="Calibri"/>
                <a:cs typeface="Calibri"/>
              </a:rPr>
              <a:t>,</a:t>
            </a:r>
            <a:r>
              <a:rPr sz="600" i="1" spc="-25" dirty="0">
                <a:latin typeface="Arial"/>
                <a:cs typeface="Arial"/>
              </a:rPr>
              <a:t>Z</a:t>
            </a:r>
            <a:endParaRPr sz="600">
              <a:latin typeface="Arial"/>
              <a:cs typeface="Arial"/>
            </a:endParaRPr>
          </a:p>
          <a:p>
            <a:pPr marL="118745">
              <a:lnSpc>
                <a:spcPct val="100000"/>
              </a:lnSpc>
              <a:spcBef>
                <a:spcPts val="465"/>
              </a:spcBef>
            </a:pPr>
            <a:r>
              <a:rPr sz="1350" baseline="6172" dirty="0">
                <a:latin typeface="Tahoma"/>
                <a:cs typeface="Tahoma"/>
              </a:rPr>
              <a:t>s.t.</a:t>
            </a:r>
            <a:r>
              <a:rPr sz="1350" spc="254" baseline="6172" dirty="0">
                <a:latin typeface="Tahoma"/>
                <a:cs typeface="Tahoma"/>
              </a:rPr>
              <a:t>  </a:t>
            </a:r>
            <a:r>
              <a:rPr sz="1350" i="1" baseline="6172" dirty="0">
                <a:latin typeface="Arial"/>
                <a:cs typeface="Arial"/>
              </a:rPr>
              <a:t>X</a:t>
            </a:r>
            <a:r>
              <a:rPr sz="1350" i="1" spc="7" baseline="6172" dirty="0">
                <a:latin typeface="Arial"/>
                <a:cs typeface="Arial"/>
              </a:rPr>
              <a:t> </a:t>
            </a:r>
            <a:r>
              <a:rPr sz="1350" spc="97" baseline="6172" dirty="0">
                <a:latin typeface="Tahoma"/>
                <a:cs typeface="Tahoma"/>
              </a:rPr>
              <a:t>=</a:t>
            </a:r>
            <a:r>
              <a:rPr sz="1350" spc="-37" baseline="6172" dirty="0">
                <a:latin typeface="Tahoma"/>
                <a:cs typeface="Tahoma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Z</a:t>
            </a:r>
            <a:r>
              <a:rPr sz="1350" i="1" baseline="6172" dirty="0">
                <a:latin typeface="Calibri"/>
                <a:cs typeface="Calibri"/>
              </a:rPr>
              <a:t>,</a:t>
            </a:r>
            <a:r>
              <a:rPr sz="1350" i="1" spc="382" baseline="6172" dirty="0">
                <a:latin typeface="Calibri"/>
                <a:cs typeface="Calibri"/>
              </a:rPr>
              <a:t> </a:t>
            </a:r>
            <a:r>
              <a:rPr sz="1350" spc="-15" baseline="6172" dirty="0">
                <a:latin typeface="Tahoma"/>
                <a:cs typeface="Tahoma"/>
              </a:rPr>
              <a:t>diag(</a:t>
            </a:r>
            <a:r>
              <a:rPr sz="1350" i="1" spc="-15" baseline="6172" dirty="0">
                <a:latin typeface="Arial"/>
                <a:cs typeface="Arial"/>
              </a:rPr>
              <a:t>X</a:t>
            </a:r>
            <a:r>
              <a:rPr sz="1350" spc="-15" baseline="6172" dirty="0">
                <a:latin typeface="Tahoma"/>
                <a:cs typeface="Tahoma"/>
              </a:rPr>
              <a:t>)</a:t>
            </a:r>
            <a:r>
              <a:rPr sz="1350" spc="-44" baseline="6172" dirty="0">
                <a:latin typeface="Tahoma"/>
                <a:cs typeface="Tahoma"/>
              </a:rPr>
              <a:t> </a:t>
            </a:r>
            <a:r>
              <a:rPr sz="1350" spc="97" baseline="6172" dirty="0">
                <a:latin typeface="Tahoma"/>
                <a:cs typeface="Tahoma"/>
              </a:rPr>
              <a:t>=</a:t>
            </a:r>
            <a:r>
              <a:rPr sz="1350" spc="-37" baseline="6172" dirty="0">
                <a:latin typeface="Tahoma"/>
                <a:cs typeface="Tahoma"/>
              </a:rPr>
              <a:t> </a:t>
            </a:r>
            <a:r>
              <a:rPr sz="1350" baseline="6172" dirty="0">
                <a:latin typeface="Tahoma"/>
                <a:cs typeface="Tahoma"/>
              </a:rPr>
              <a:t>0</a:t>
            </a:r>
            <a:r>
              <a:rPr sz="1350" i="1" baseline="6172" dirty="0">
                <a:latin typeface="Calibri"/>
                <a:cs typeface="Calibri"/>
              </a:rPr>
              <a:t>,</a:t>
            </a:r>
            <a:r>
              <a:rPr sz="1350" i="1" spc="375" baseline="6172" dirty="0">
                <a:latin typeface="Calibri"/>
                <a:cs typeface="Calibri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x</a:t>
            </a:r>
            <a:r>
              <a:rPr sz="600" i="1" dirty="0">
                <a:latin typeface="Arial"/>
                <a:cs typeface="Arial"/>
              </a:rPr>
              <a:t>ij</a:t>
            </a:r>
            <a:r>
              <a:rPr sz="600" i="1" spc="135" dirty="0">
                <a:latin typeface="Arial"/>
                <a:cs typeface="Arial"/>
              </a:rPr>
              <a:t> </a:t>
            </a:r>
            <a:r>
              <a:rPr sz="1350" spc="322" baseline="6172" dirty="0">
                <a:latin typeface="Cambria"/>
                <a:cs typeface="Cambria"/>
              </a:rPr>
              <a:t>≥</a:t>
            </a:r>
            <a:r>
              <a:rPr sz="1350" spc="82" baseline="6172" dirty="0">
                <a:latin typeface="Cambria"/>
                <a:cs typeface="Cambria"/>
              </a:rPr>
              <a:t> </a:t>
            </a:r>
            <a:r>
              <a:rPr sz="1350" spc="-37" baseline="6172" dirty="0">
                <a:latin typeface="Tahoma"/>
                <a:cs typeface="Tahoma"/>
              </a:rPr>
              <a:t>0</a:t>
            </a:r>
            <a:r>
              <a:rPr sz="1350" i="1" spc="-37" baseline="6172" dirty="0">
                <a:latin typeface="Calibri"/>
                <a:cs typeface="Calibri"/>
              </a:rPr>
              <a:t>.</a:t>
            </a:r>
            <a:endParaRPr sz="1350" baseline="6172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0444" y="1454233"/>
            <a:ext cx="4096385" cy="56900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1499"/>
              </a:lnSpc>
            </a:pPr>
            <a:r>
              <a:rPr sz="900" dirty="0">
                <a:latin typeface="Tahoma"/>
                <a:cs typeface="Tahoma"/>
              </a:rPr>
              <a:t>Like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Eq.</a:t>
            </a:r>
            <a:r>
              <a:rPr sz="900" spc="7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4-</a:t>
            </a:r>
            <a:r>
              <a:rPr sz="900" dirty="0">
                <a:latin typeface="Tahoma"/>
                <a:cs typeface="Tahoma"/>
              </a:rPr>
              <a:t>5,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but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i="1" spc="50" dirty="0">
                <a:latin typeface="Calibri"/>
                <a:cs typeface="Calibri"/>
              </a:rPr>
              <a:t>µ</a:t>
            </a:r>
            <a:r>
              <a:rPr sz="900" spc="50" dirty="0">
                <a:latin typeface="Tahoma"/>
                <a:cs typeface="Tahoma"/>
              </a:rPr>
              <a:t>tr(∆</a:t>
            </a:r>
            <a:r>
              <a:rPr sz="900" i="1" spc="75" baseline="37037" dirty="0">
                <a:latin typeface="Arial"/>
                <a:cs typeface="Arial"/>
              </a:rPr>
              <a:t>T</a:t>
            </a:r>
            <a:r>
              <a:rPr sz="900" i="1" spc="50" dirty="0">
                <a:latin typeface="Arial"/>
                <a:cs typeface="Arial"/>
              </a:rPr>
              <a:t>X</a:t>
            </a:r>
            <a:r>
              <a:rPr sz="900" spc="50" dirty="0">
                <a:latin typeface="Tahoma"/>
                <a:cs typeface="Tahoma"/>
              </a:rPr>
              <a:t>)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picks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different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sentences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-10" dirty="0">
                <a:latin typeface="Tahoma"/>
                <a:cs typeface="Tahoma"/>
              </a:rPr>
              <a:t> avoid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repeats.</a:t>
            </a:r>
            <a:r>
              <a:rPr sz="900" spc="7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Like </a:t>
            </a:r>
            <a:r>
              <a:rPr sz="900" spc="-10" dirty="0">
                <a:latin typeface="Tahoma"/>
                <a:cs typeface="Tahoma"/>
              </a:rPr>
              <a:t>choosing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puzzle</a:t>
            </a:r>
            <a:r>
              <a:rPr sz="900" spc="-25" dirty="0">
                <a:latin typeface="Tahoma"/>
                <a:cs typeface="Tahoma"/>
              </a:rPr>
              <a:t> pieces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from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different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book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parts.</a:t>
            </a:r>
            <a:endParaRPr sz="9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5"/>
              </a:spcBef>
            </a:pPr>
            <a:r>
              <a:rPr sz="900" spc="-80" dirty="0">
                <a:latin typeface="+mj-lt"/>
                <a:cs typeface="Arial Black"/>
              </a:rPr>
              <a:t>Optimization</a:t>
            </a:r>
            <a:r>
              <a:rPr sz="900" spc="-80" dirty="0">
                <a:latin typeface="Tahoma"/>
                <a:cs typeface="Tahoma"/>
              </a:rPr>
              <a:t>:</a:t>
            </a:r>
            <a:r>
              <a:rPr sz="900" spc="7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Convex,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adds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diversity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term.</a:t>
            </a:r>
            <a:endParaRPr sz="9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5"/>
              </a:spcBef>
            </a:pPr>
            <a:r>
              <a:rPr sz="900" spc="-20" dirty="0">
                <a:latin typeface="+mj-lt"/>
                <a:cs typeface="Arial Black"/>
              </a:rPr>
              <a:t>Lagrangian</a:t>
            </a:r>
            <a:r>
              <a:rPr sz="900" spc="-20" dirty="0">
                <a:latin typeface="Tahoma"/>
                <a:cs typeface="Tahoma"/>
              </a:rPr>
              <a:t>: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934" y="2311793"/>
            <a:ext cx="31750" cy="1143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7929" y="2311793"/>
            <a:ext cx="31750" cy="11430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4245" y="2311793"/>
            <a:ext cx="31750" cy="11430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4280" y="2311793"/>
            <a:ext cx="31750" cy="114300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3506139" y="2369058"/>
            <a:ext cx="60325" cy="0"/>
          </a:xfrm>
          <a:custGeom>
            <a:avLst/>
            <a:gdLst/>
            <a:ahLst/>
            <a:cxnLst/>
            <a:rect l="l" t="t" r="r" b="b"/>
            <a:pathLst>
              <a:path w="60325">
                <a:moveTo>
                  <a:pt x="0" y="0"/>
                </a:moveTo>
                <a:lnTo>
                  <a:pt x="60286" y="0"/>
                </a:lnTo>
              </a:path>
            </a:pathLst>
          </a:custGeom>
          <a:ln w="4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494316" y="2348186"/>
            <a:ext cx="844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4315" y="2311793"/>
            <a:ext cx="31750" cy="11430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45610" y="2311793"/>
            <a:ext cx="31750" cy="114300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442671" y="2270945"/>
            <a:ext cx="3723004" cy="17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770"/>
              </a:lnSpc>
              <a:spcBef>
                <a:spcPts val="95"/>
              </a:spcBef>
              <a:tabLst>
                <a:tab pos="1999614" algn="l"/>
              </a:tabLst>
            </a:pPr>
            <a:r>
              <a:rPr sz="900" i="1" dirty="0">
                <a:latin typeface="Arial"/>
                <a:cs typeface="Arial"/>
              </a:rPr>
              <a:t>L</a:t>
            </a:r>
            <a:r>
              <a:rPr sz="900" i="1" spc="44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45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5" dirty="0">
                <a:latin typeface="Cambria"/>
                <a:cs typeface="Cambria"/>
              </a:rPr>
              <a:t> </a:t>
            </a:r>
            <a:r>
              <a:rPr sz="900" i="1" dirty="0">
                <a:latin typeface="Arial"/>
                <a:cs typeface="Arial"/>
              </a:rPr>
              <a:t>DX</a:t>
            </a:r>
            <a:r>
              <a:rPr sz="900" i="1" spc="220" dirty="0">
                <a:latin typeface="Arial"/>
                <a:cs typeface="Arial"/>
              </a:rPr>
              <a:t> </a:t>
            </a:r>
            <a:r>
              <a:rPr sz="900" baseline="41666" dirty="0">
                <a:latin typeface="Tahoma"/>
                <a:cs typeface="Tahoma"/>
              </a:rPr>
              <a:t>2</a:t>
            </a:r>
            <a:r>
              <a:rPr sz="900" spc="172" baseline="41666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spc="50" dirty="0">
                <a:latin typeface="Calibri"/>
                <a:cs typeface="Calibri"/>
              </a:rPr>
              <a:t>µ</a:t>
            </a:r>
            <a:r>
              <a:rPr sz="900" spc="50" dirty="0">
                <a:latin typeface="Tahoma"/>
                <a:cs typeface="Tahoma"/>
              </a:rPr>
              <a:t>tr(∆</a:t>
            </a:r>
            <a:r>
              <a:rPr sz="900" i="1" spc="75" baseline="41666" dirty="0">
                <a:latin typeface="Arial"/>
                <a:cs typeface="Arial"/>
              </a:rPr>
              <a:t>T</a:t>
            </a:r>
            <a:r>
              <a:rPr sz="900" i="1" spc="50" dirty="0">
                <a:latin typeface="Arial"/>
                <a:cs typeface="Arial"/>
              </a:rPr>
              <a:t>X</a:t>
            </a:r>
            <a:r>
              <a:rPr sz="900" spc="50" dirty="0">
                <a:latin typeface="Tahoma"/>
                <a:cs typeface="Tahoma"/>
              </a:rPr>
              <a:t>)</a:t>
            </a:r>
            <a:r>
              <a:rPr sz="900" spc="-7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spc="120" dirty="0">
                <a:latin typeface="Calibri"/>
                <a:cs typeface="Calibri"/>
              </a:rPr>
              <a:t>λ</a:t>
            </a:r>
            <a:r>
              <a:rPr sz="900" i="1" spc="260" dirty="0">
                <a:latin typeface="Calibri"/>
                <a:cs typeface="Calibri"/>
              </a:rPr>
              <a:t> </a:t>
            </a:r>
            <a:r>
              <a:rPr sz="900" i="1" spc="-5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6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tr(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baseline="41666" dirty="0">
                <a:latin typeface="Arial"/>
                <a:cs typeface="Arial"/>
              </a:rPr>
              <a:t>T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20" dirty="0">
                <a:latin typeface="Cambria"/>
                <a:cs typeface="Cambria"/>
              </a:rPr>
              <a:t> 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dirty="0">
                <a:latin typeface="Tahoma"/>
                <a:cs typeface="Tahoma"/>
              </a:rPr>
              <a:t>))</a:t>
            </a:r>
            <a:r>
              <a:rPr sz="900" spc="-60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+ </a:t>
            </a:r>
            <a:r>
              <a:rPr sz="1350" i="1" baseline="37037" dirty="0">
                <a:latin typeface="Calibri"/>
                <a:cs typeface="Calibri"/>
              </a:rPr>
              <a:t>ρ</a:t>
            </a:r>
            <a:r>
              <a:rPr sz="1350" i="1" spc="622" baseline="37037" dirty="0">
                <a:latin typeface="Calibri"/>
                <a:cs typeface="Calibri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20" dirty="0">
                <a:latin typeface="Cambria"/>
                <a:cs typeface="Cambria"/>
              </a:rPr>
              <a:t> 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i="1" spc="240" dirty="0">
                <a:latin typeface="Arial"/>
                <a:cs typeface="Arial"/>
              </a:rPr>
              <a:t> </a:t>
            </a:r>
            <a:r>
              <a:rPr sz="900" spc="-15" baseline="41666" dirty="0">
                <a:latin typeface="Tahoma"/>
                <a:cs typeface="Tahoma"/>
              </a:rPr>
              <a:t>2</a:t>
            </a:r>
            <a:r>
              <a:rPr sz="900" spc="-127" baseline="41666" dirty="0">
                <a:latin typeface="Tahoma"/>
                <a:cs typeface="Tahoma"/>
              </a:rPr>
              <a:t> </a:t>
            </a:r>
            <a:r>
              <a:rPr sz="900" i="1" spc="-50" dirty="0">
                <a:latin typeface="Calibri"/>
                <a:cs typeface="Calibri"/>
              </a:rPr>
              <a:t>.</a:t>
            </a:r>
            <a:endParaRPr sz="900">
              <a:latin typeface="Calibri"/>
              <a:cs typeface="Calibri"/>
            </a:endParaRPr>
          </a:p>
          <a:p>
            <a:pPr marL="24765" algn="ctr">
              <a:lnSpc>
                <a:spcPts val="409"/>
              </a:lnSpc>
              <a:tabLst>
                <a:tab pos="742950" algn="l"/>
                <a:tab pos="1819275" algn="l"/>
                <a:tab pos="3420745" algn="l"/>
              </a:tabLst>
            </a:pPr>
            <a:r>
              <a:rPr sz="900" i="1" spc="44" baseline="4629" dirty="0">
                <a:latin typeface="Calibri"/>
                <a:cs typeface="Calibri"/>
              </a:rPr>
              <a:t>ρ</a:t>
            </a:r>
            <a:r>
              <a:rPr sz="900" i="1" baseline="4629" dirty="0">
                <a:latin typeface="Calibri"/>
                <a:cs typeface="Calibri"/>
              </a:rPr>
              <a:t>	</a:t>
            </a:r>
            <a:r>
              <a:rPr sz="600" i="1" spc="-50" dirty="0">
                <a:latin typeface="Arial"/>
                <a:cs typeface="Arial"/>
              </a:rPr>
              <a:t>F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900" spc="-37" baseline="4629" dirty="0">
                <a:latin typeface="Tahoma"/>
                <a:cs typeface="Tahoma"/>
              </a:rPr>
              <a:t>2</a:t>
            </a:r>
            <a:r>
              <a:rPr sz="900" i="1" spc="-37" baseline="4629" dirty="0">
                <a:latin typeface="Calibri"/>
                <a:cs typeface="Calibri"/>
              </a:rPr>
              <a:t>,</a:t>
            </a:r>
            <a:r>
              <a:rPr sz="900" spc="-37" baseline="4629" dirty="0">
                <a:latin typeface="Tahoma"/>
                <a:cs typeface="Tahoma"/>
              </a:rPr>
              <a:t>1</a:t>
            </a:r>
            <a:r>
              <a:rPr sz="900" baseline="4629" dirty="0">
                <a:latin typeface="Tahoma"/>
                <a:cs typeface="Tahoma"/>
              </a:rPr>
              <a:t>	</a:t>
            </a:r>
            <a:r>
              <a:rPr sz="600" i="1" spc="-50" dirty="0"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039710" y="3334738"/>
            <a:ext cx="204470" cy="111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zation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23276" y="3322038"/>
            <a:ext cx="152971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Document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Summarization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via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Sparse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Optimi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August</a:t>
            </a:r>
            <a:r>
              <a:rPr spc="-5" dirty="0"/>
              <a:t> </a:t>
            </a:r>
            <a:r>
              <a:rPr dirty="0"/>
              <a:t>23,</a:t>
            </a:r>
            <a:r>
              <a:rPr spc="10" dirty="0"/>
              <a:t> </a:t>
            </a:r>
            <a:r>
              <a:rPr spc="-20" dirty="0"/>
              <a:t>2025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8</a:t>
            </a:fld>
            <a:r>
              <a:rPr spc="-90" dirty="0"/>
              <a:t> </a:t>
            </a:r>
            <a:r>
              <a:rPr spc="90" dirty="0"/>
              <a:t>/</a:t>
            </a:r>
            <a:r>
              <a:rPr spc="-90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437070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X-Update</a:t>
            </a:r>
            <a:r>
              <a:rPr spc="-45" dirty="0"/>
              <a:t> </a:t>
            </a:r>
            <a:endParaRPr spc="-20" dirty="0"/>
          </a:p>
        </p:txBody>
      </p:sp>
      <p:sp>
        <p:nvSpPr>
          <p:cNvPr id="4" name="object 4"/>
          <p:cNvSpPr txBox="1"/>
          <p:nvPr/>
        </p:nvSpPr>
        <p:spPr>
          <a:xfrm>
            <a:off x="968514" y="796968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8514" y="874285"/>
            <a:ext cx="469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j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03464" y="796968"/>
            <a:ext cx="80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90282" y="813709"/>
            <a:ext cx="9207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1780" algn="l"/>
              </a:tabLst>
            </a:pPr>
            <a:r>
              <a:rPr sz="900" i="1" spc="-50" dirty="0">
                <a:latin typeface="Arial"/>
                <a:cs typeface="Arial"/>
              </a:rPr>
              <a:t>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2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5" dirty="0">
                <a:latin typeface="Tahoma"/>
                <a:cs typeface="Tahoma"/>
              </a:rPr>
              <a:t> </a:t>
            </a:r>
            <a:r>
              <a:rPr sz="900" i="1" spc="-25" dirty="0">
                <a:latin typeface="Calibri"/>
                <a:cs typeface="Calibri"/>
              </a:rPr>
              <a:t>ρ</a:t>
            </a:r>
            <a:r>
              <a:rPr sz="900" i="1" spc="-25" dirty="0">
                <a:latin typeface="Arial"/>
                <a:cs typeface="Arial"/>
              </a:rPr>
              <a:t>I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31035" y="796968"/>
            <a:ext cx="3308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2255" algn="l"/>
              </a:tabLst>
            </a:pPr>
            <a:r>
              <a:rPr sz="600" i="1" spc="-25" dirty="0">
                <a:latin typeface="Verdana"/>
                <a:cs typeface="Verdana"/>
              </a:rPr>
              <a:t>−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60118" y="826358"/>
            <a:ext cx="8070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baseline="6172" dirty="0">
                <a:latin typeface="Tahoma"/>
                <a:cs typeface="Tahoma"/>
              </a:rPr>
              <a:t>)</a:t>
            </a:r>
            <a:r>
              <a:rPr sz="1350" spc="307" baseline="6172" dirty="0">
                <a:latin typeface="Tahoma"/>
                <a:cs typeface="Tahoma"/>
              </a:rPr>
              <a:t>  </a:t>
            </a:r>
            <a:r>
              <a:rPr sz="1350" baseline="6172" dirty="0">
                <a:latin typeface="Tahoma"/>
                <a:cs typeface="Tahoma"/>
              </a:rPr>
              <a:t>(</a:t>
            </a:r>
            <a:r>
              <a:rPr sz="1350" i="1" baseline="6172" dirty="0">
                <a:latin typeface="Arial"/>
                <a:cs typeface="Arial"/>
              </a:rPr>
              <a:t>D</a:t>
            </a:r>
            <a:r>
              <a:rPr sz="1350" i="1" spc="382" baseline="6172" dirty="0">
                <a:latin typeface="Arial"/>
                <a:cs typeface="Arial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D</a:t>
            </a:r>
            <a:r>
              <a:rPr sz="600" i="1" dirty="0">
                <a:latin typeface="Arial"/>
                <a:cs typeface="Arial"/>
              </a:rPr>
              <a:t>j</a:t>
            </a:r>
            <a:r>
              <a:rPr sz="600" i="1" spc="90" dirty="0">
                <a:latin typeface="Arial"/>
                <a:cs typeface="Arial"/>
              </a:rPr>
              <a:t> </a:t>
            </a:r>
            <a:r>
              <a:rPr sz="1350" spc="97" baseline="6172" dirty="0">
                <a:latin typeface="Tahoma"/>
                <a:cs typeface="Tahoma"/>
              </a:rPr>
              <a:t>+</a:t>
            </a:r>
            <a:r>
              <a:rPr sz="1350" spc="-112" baseline="6172" dirty="0">
                <a:latin typeface="Tahoma"/>
                <a:cs typeface="Tahoma"/>
              </a:rPr>
              <a:t> </a:t>
            </a:r>
            <a:r>
              <a:rPr sz="1350" i="1" spc="-37" baseline="6172" dirty="0">
                <a:latin typeface="Calibri"/>
                <a:cs typeface="Calibri"/>
              </a:rPr>
              <a:t>ρ</a:t>
            </a:r>
            <a:r>
              <a:rPr sz="1350" spc="-37" baseline="6172" dirty="0">
                <a:latin typeface="Tahoma"/>
                <a:cs typeface="Tahoma"/>
              </a:rPr>
              <a:t>(</a:t>
            </a:r>
            <a:endParaRPr sz="1350" baseline="6172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575115" y="796968"/>
            <a:ext cx="334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305" algn="l"/>
              </a:tabLst>
            </a:pPr>
            <a:r>
              <a:rPr sz="600" i="1" spc="-50" dirty="0">
                <a:latin typeface="Arial"/>
                <a:cs typeface="Arial"/>
              </a:rPr>
              <a:t>k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50" dirty="0"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75115" y="871695"/>
            <a:ext cx="316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305" algn="l"/>
              </a:tabLst>
            </a:pPr>
            <a:r>
              <a:rPr sz="600" i="1" spc="-50" dirty="0">
                <a:latin typeface="Arial"/>
                <a:cs typeface="Arial"/>
              </a:rPr>
              <a:t>j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50" dirty="0">
                <a:latin typeface="Arial"/>
                <a:cs typeface="Arial"/>
              </a:rPr>
              <a:t>j</a:t>
            </a:r>
            <a:endParaRPr sz="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503601" y="813709"/>
            <a:ext cx="814069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latin typeface="Arial"/>
                <a:cs typeface="Arial"/>
              </a:rPr>
              <a:t>Z</a:t>
            </a:r>
            <a:r>
              <a:rPr sz="900" i="1" spc="30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5" dirty="0">
                <a:latin typeface="Cambria"/>
                <a:cs typeface="Cambria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spc="105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)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5" dirty="0">
                <a:latin typeface="Cambria"/>
                <a:cs typeface="Cambria"/>
              </a:rPr>
              <a:t> </a:t>
            </a:r>
            <a:r>
              <a:rPr sz="900" i="1" spc="65" dirty="0">
                <a:latin typeface="Calibri"/>
                <a:cs typeface="Calibri"/>
              </a:rPr>
              <a:t>µ</a:t>
            </a:r>
            <a:r>
              <a:rPr sz="900" spc="65" dirty="0">
                <a:latin typeface="Tahoma"/>
                <a:cs typeface="Tahoma"/>
              </a:rPr>
              <a:t>(∆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92233" y="796968"/>
            <a:ext cx="80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28276" y="826358"/>
            <a:ext cx="3511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baseline="6172" dirty="0">
                <a:latin typeface="Tahoma"/>
                <a:cs typeface="Tahoma"/>
              </a:rPr>
              <a:t>)</a:t>
            </a:r>
            <a:r>
              <a:rPr sz="600" i="1" dirty="0">
                <a:latin typeface="Arial"/>
                <a:cs typeface="Arial"/>
              </a:rPr>
              <a:t>j</a:t>
            </a:r>
            <a:r>
              <a:rPr sz="1350" baseline="6172" dirty="0">
                <a:latin typeface="Tahoma"/>
                <a:cs typeface="Tahoma"/>
              </a:rPr>
              <a:t>)</a:t>
            </a:r>
            <a:r>
              <a:rPr sz="1350" i="1" baseline="6172" dirty="0">
                <a:latin typeface="Calibri"/>
                <a:cs typeface="Calibri"/>
              </a:rPr>
              <a:t>,</a:t>
            </a:r>
            <a:r>
              <a:rPr sz="1350" i="1" spc="547" baseline="6172" dirty="0">
                <a:latin typeface="Calibri"/>
                <a:cs typeface="Calibri"/>
              </a:rPr>
              <a:t> </a:t>
            </a:r>
            <a:r>
              <a:rPr sz="1350" spc="-75" baseline="6172" dirty="0">
                <a:latin typeface="Cambria"/>
                <a:cs typeface="Cambria"/>
              </a:rPr>
              <a:t>∀</a:t>
            </a:r>
            <a:endParaRPr sz="1350" baseline="6172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628606" y="813709"/>
            <a:ext cx="895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25" dirty="0">
                <a:latin typeface="Arial"/>
                <a:cs typeface="Arial"/>
              </a:rPr>
              <a:t>j</a:t>
            </a:r>
            <a:r>
              <a:rPr sz="900" i="1" spc="-25" dirty="0">
                <a:latin typeface="Calibri"/>
                <a:cs typeface="Calibri"/>
              </a:rPr>
              <a:t>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90295" y="993081"/>
            <a:ext cx="702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6735" algn="l"/>
              </a:tabLst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45220" y="993081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24762" y="1070399"/>
            <a:ext cx="6870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3095" algn="l"/>
              </a:tabLst>
            </a:pPr>
            <a:r>
              <a:rPr sz="600" i="1" spc="-25" dirty="0">
                <a:latin typeface="Arial"/>
                <a:cs typeface="Arial"/>
              </a:rPr>
              <a:t>ij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25" dirty="0">
                <a:latin typeface="Arial"/>
                <a:cs typeface="Arial"/>
              </a:rPr>
              <a:t>ij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25844" y="1003498"/>
            <a:ext cx="21951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25500" algn="l"/>
                <a:tab pos="1392555" algn="l"/>
                <a:tab pos="1980564" algn="l"/>
              </a:tabLst>
            </a:pPr>
            <a:r>
              <a:rPr sz="900" dirty="0">
                <a:latin typeface="Tahoma"/>
                <a:cs typeface="Tahoma"/>
              </a:rPr>
              <a:t>Then:</a:t>
            </a:r>
            <a:r>
              <a:rPr sz="900" spc="5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diag(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dirty="0">
                <a:latin typeface="Tahoma"/>
                <a:cs typeface="Tahoma"/>
              </a:rPr>
              <a:t>)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0,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max</a:t>
            </a:r>
            <a:r>
              <a:rPr sz="900" spc="-10" dirty="0">
                <a:latin typeface="Cambria"/>
                <a:cs typeface="Cambria"/>
              </a:rPr>
              <a:t>{</a:t>
            </a:r>
            <a:r>
              <a:rPr sz="900" i="1" spc="-10" dirty="0">
                <a:latin typeface="Arial"/>
                <a:cs typeface="Arial"/>
              </a:rPr>
              <a:t>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i="1" dirty="0">
                <a:latin typeface="Calibri"/>
                <a:cs typeface="Calibri"/>
              </a:rPr>
              <a:t>,</a:t>
            </a:r>
            <a:r>
              <a:rPr sz="900" i="1" spc="-25" dirty="0">
                <a:latin typeface="Calibri"/>
                <a:cs typeface="Calibri"/>
              </a:rPr>
              <a:t> </a:t>
            </a:r>
            <a:r>
              <a:rPr sz="900" spc="-25" dirty="0">
                <a:latin typeface="Tahoma"/>
                <a:cs typeface="Tahoma"/>
              </a:rPr>
              <a:t>0</a:t>
            </a:r>
            <a:r>
              <a:rPr sz="900" spc="-25" dirty="0">
                <a:latin typeface="Cambria"/>
                <a:cs typeface="Cambria"/>
              </a:rPr>
              <a:t>}</a:t>
            </a:r>
            <a:r>
              <a:rPr sz="900" spc="-25" dirty="0"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7744" y="1173767"/>
            <a:ext cx="4255135" cy="68416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165">
              <a:lnSpc>
                <a:spcPts val="1040"/>
              </a:lnSpc>
            </a:pPr>
            <a:endParaRPr lang="en-US" sz="900" spc="-55" dirty="0">
              <a:latin typeface="Arial Black"/>
              <a:cs typeface="Tahoma"/>
            </a:endParaRPr>
          </a:p>
          <a:p>
            <a:pPr marL="50165">
              <a:lnSpc>
                <a:spcPts val="1040"/>
              </a:lnSpc>
            </a:pPr>
            <a:r>
              <a:rPr sz="900" spc="7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Picks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-10" dirty="0">
                <a:latin typeface="Tahoma"/>
                <a:cs typeface="Tahoma"/>
              </a:rPr>
              <a:t> rebuild </a:t>
            </a:r>
            <a:r>
              <a:rPr sz="900" spc="-30" dirty="0">
                <a:latin typeface="Tahoma"/>
                <a:cs typeface="Tahoma"/>
              </a:rPr>
              <a:t>sentences,</a:t>
            </a:r>
            <a:r>
              <a:rPr sz="900" spc="-10" dirty="0">
                <a:latin typeface="Tahoma"/>
                <a:cs typeface="Tahoma"/>
              </a:rPr>
              <a:t> avoiding </a:t>
            </a:r>
            <a:r>
              <a:rPr sz="900" dirty="0">
                <a:latin typeface="Tahoma"/>
                <a:cs typeface="Tahoma"/>
              </a:rPr>
              <a:t>similar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ones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via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90" dirty="0">
                <a:latin typeface="Tahoma"/>
                <a:cs typeface="Tahoma"/>
              </a:rPr>
              <a:t>∆.</a:t>
            </a:r>
            <a:r>
              <a:rPr sz="900" spc="8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Like</a:t>
            </a:r>
            <a:r>
              <a:rPr sz="900" spc="-10" dirty="0">
                <a:latin typeface="Tahoma"/>
                <a:cs typeface="Tahoma"/>
              </a:rPr>
              <a:t> choosing pieces</a:t>
            </a:r>
            <a:endParaRPr sz="900" dirty="0">
              <a:latin typeface="Tahoma"/>
              <a:cs typeface="Tahoma"/>
            </a:endParaRPr>
          </a:p>
          <a:p>
            <a:pPr marL="50165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Tahoma"/>
                <a:cs typeface="Tahoma"/>
              </a:rPr>
              <a:t>from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different </a:t>
            </a:r>
            <a:r>
              <a:rPr sz="900" spc="-10" dirty="0">
                <a:latin typeface="Tahoma"/>
                <a:cs typeface="Tahoma"/>
              </a:rPr>
              <a:t>parts.</a:t>
            </a:r>
            <a:endParaRPr sz="900" dirty="0">
              <a:latin typeface="Tahoma"/>
              <a:cs typeface="Tahoma"/>
            </a:endParaRPr>
          </a:p>
          <a:p>
            <a:pPr marL="50165">
              <a:lnSpc>
                <a:spcPct val="100000"/>
              </a:lnSpc>
              <a:spcBef>
                <a:spcPts val="15"/>
              </a:spcBef>
            </a:pPr>
            <a:r>
              <a:rPr sz="900" spc="-80" dirty="0">
                <a:latin typeface="+mj-lt"/>
                <a:cs typeface="Arial Black"/>
              </a:rPr>
              <a:t>Optimization</a:t>
            </a:r>
            <a:r>
              <a:rPr sz="900" spc="-80" dirty="0">
                <a:latin typeface="Tahoma"/>
                <a:cs typeface="Tahoma"/>
              </a:rPr>
              <a:t>:</a:t>
            </a:r>
            <a:r>
              <a:rPr sz="900" spc="6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Minimizes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quadratic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plus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linear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diversity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term.</a:t>
            </a:r>
            <a:endParaRPr sz="900" dirty="0">
              <a:latin typeface="Tahoma"/>
              <a:cs typeface="Tahoma"/>
            </a:endParaRPr>
          </a:p>
          <a:p>
            <a:pPr marL="50165">
              <a:lnSpc>
                <a:spcPct val="100000"/>
              </a:lnSpc>
              <a:spcBef>
                <a:spcPts val="20"/>
              </a:spcBef>
            </a:pPr>
            <a:r>
              <a:rPr sz="900" spc="-10" dirty="0">
                <a:latin typeface="+mj-lt"/>
                <a:cs typeface="Arial Black"/>
              </a:rPr>
              <a:t>Derivation</a:t>
            </a:r>
            <a:r>
              <a:rPr sz="900" spc="-10" dirty="0">
                <a:latin typeface="Tahoma"/>
                <a:cs typeface="Tahoma"/>
              </a:rPr>
              <a:t>: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966455"/>
            <a:ext cx="65201" cy="65201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1264" y="1948459"/>
            <a:ext cx="31750" cy="11430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80273" y="1948459"/>
            <a:ext cx="31750" cy="114300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813382" y="1968886"/>
            <a:ext cx="71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13382" y="1897194"/>
            <a:ext cx="57213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3555" algn="l"/>
              </a:tabLst>
            </a:pPr>
            <a:r>
              <a:rPr sz="600" spc="-50" dirty="0">
                <a:latin typeface="Tahoma"/>
                <a:cs typeface="Tahoma"/>
              </a:rPr>
              <a:t>2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77532" y="1907611"/>
            <a:ext cx="22802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526540" algn="l"/>
              </a:tabLst>
            </a:pPr>
            <a:r>
              <a:rPr sz="900" spc="-10" dirty="0">
                <a:latin typeface="Tahoma"/>
                <a:cs typeface="Tahoma"/>
              </a:rPr>
              <a:t>Lagrangian:</a:t>
            </a:r>
            <a:r>
              <a:rPr sz="900" spc="10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L</a:t>
            </a:r>
            <a:r>
              <a:rPr sz="900" i="1" baseline="-9259" dirty="0">
                <a:latin typeface="Arial"/>
                <a:cs typeface="Arial"/>
              </a:rPr>
              <a:t>X</a:t>
            </a:r>
            <a:r>
              <a:rPr sz="900" i="1" spc="172" baseline="-9259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409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-5" dirty="0">
                <a:latin typeface="Cambria"/>
                <a:cs typeface="Cambria"/>
              </a:rPr>
              <a:t> </a:t>
            </a:r>
            <a:r>
              <a:rPr sz="900" i="1" spc="-25" dirty="0">
                <a:latin typeface="Arial"/>
                <a:cs typeface="Arial"/>
              </a:rPr>
              <a:t>DX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5" dirty="0">
                <a:latin typeface="Tahoma"/>
                <a:cs typeface="Tahoma"/>
              </a:rPr>
              <a:t> </a:t>
            </a:r>
            <a:r>
              <a:rPr sz="900" i="1" spc="55" dirty="0">
                <a:latin typeface="Calibri"/>
                <a:cs typeface="Calibri"/>
              </a:rPr>
              <a:t>µ</a:t>
            </a:r>
            <a:r>
              <a:rPr sz="900" spc="55" dirty="0">
                <a:latin typeface="Tahoma"/>
                <a:cs typeface="Tahoma"/>
              </a:rPr>
              <a:t>tr(∆</a:t>
            </a:r>
            <a:r>
              <a:rPr sz="900" spc="22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dirty="0">
                <a:latin typeface="Tahoma"/>
                <a:cs typeface="Tahoma"/>
              </a:rPr>
              <a:t>)</a:t>
            </a:r>
            <a:r>
              <a:rPr sz="900" spc="-70" dirty="0">
                <a:latin typeface="Tahoma"/>
                <a:cs typeface="Tahoma"/>
              </a:rPr>
              <a:t> </a:t>
            </a:r>
            <a:r>
              <a:rPr sz="900" spc="15" dirty="0">
                <a:latin typeface="Tahoma"/>
                <a:cs typeface="Tahoma"/>
              </a:rPr>
              <a:t>+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685324" y="2005711"/>
            <a:ext cx="48895" cy="0"/>
          </a:xfrm>
          <a:custGeom>
            <a:avLst/>
            <a:gdLst/>
            <a:ahLst/>
            <a:cxnLst/>
            <a:rect l="l" t="t" r="r" b="b"/>
            <a:pathLst>
              <a:path w="48895">
                <a:moveTo>
                  <a:pt x="0" y="0"/>
                </a:moveTo>
                <a:lnTo>
                  <a:pt x="48513" y="0"/>
                </a:lnTo>
              </a:path>
            </a:pathLst>
          </a:custGeom>
          <a:ln w="4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676726" y="1984202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30" name="object 3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61714" y="1948459"/>
            <a:ext cx="31750" cy="114300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58754" y="1948459"/>
            <a:ext cx="31750" cy="114300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2886659" y="1897194"/>
            <a:ext cx="13709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03555" algn="l"/>
                <a:tab pos="798195" algn="l"/>
                <a:tab pos="1213485" algn="l"/>
              </a:tabLst>
            </a:pPr>
            <a:r>
              <a:rPr sz="600" i="1" dirty="0">
                <a:latin typeface="Arial"/>
                <a:cs typeface="Arial"/>
              </a:rPr>
              <a:t>k</a:t>
            </a:r>
            <a:r>
              <a:rPr sz="600" i="1" spc="235" dirty="0">
                <a:latin typeface="Arial"/>
                <a:cs typeface="Arial"/>
              </a:rPr>
              <a:t> </a:t>
            </a:r>
            <a:r>
              <a:rPr sz="600" i="1" spc="15" dirty="0">
                <a:latin typeface="Arial"/>
                <a:cs typeface="Arial"/>
              </a:rPr>
              <a:t>T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50" dirty="0">
                <a:latin typeface="Arial"/>
                <a:cs typeface="Arial"/>
              </a:rPr>
              <a:t>k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30" dirty="0">
                <a:latin typeface="Calibri"/>
                <a:cs typeface="Calibri"/>
              </a:rPr>
              <a:t>ρ</a:t>
            </a:r>
            <a:r>
              <a:rPr sz="600" i="1" dirty="0">
                <a:latin typeface="Calibri"/>
                <a:cs typeface="Calibri"/>
              </a:rPr>
              <a:t>	</a:t>
            </a:r>
            <a:r>
              <a:rPr sz="600" i="1" dirty="0">
                <a:latin typeface="Arial"/>
                <a:cs typeface="Arial"/>
              </a:rPr>
              <a:t>k</a:t>
            </a:r>
            <a:r>
              <a:rPr sz="600" i="1" spc="340" dirty="0">
                <a:latin typeface="Arial"/>
                <a:cs typeface="Arial"/>
              </a:rPr>
              <a:t> </a:t>
            </a: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191863" y="1968886"/>
            <a:ext cx="71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632913" y="1907611"/>
            <a:ext cx="1669414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74115" algn="l"/>
                <a:tab pos="1623695" algn="l"/>
              </a:tabLst>
            </a:pPr>
            <a:r>
              <a:rPr sz="900" dirty="0">
                <a:latin typeface="Tahoma"/>
                <a:cs typeface="Tahoma"/>
              </a:rPr>
              <a:t>tr((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spc="120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)</a:t>
            </a:r>
            <a:r>
              <a:rPr sz="900" spc="2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10" dirty="0">
                <a:latin typeface="Cambria"/>
                <a:cs typeface="Cambria"/>
              </a:rPr>
              <a:t> 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i="1" spc="125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))</a:t>
            </a:r>
            <a:r>
              <a:rPr sz="900" spc="-75" dirty="0">
                <a:latin typeface="Tahoma"/>
                <a:cs typeface="Tahoma"/>
              </a:rPr>
              <a:t> </a:t>
            </a:r>
            <a:r>
              <a:rPr sz="900" spc="15" dirty="0">
                <a:latin typeface="Tahoma"/>
                <a:cs typeface="Tahoma"/>
              </a:rPr>
              <a:t>+</a:t>
            </a:r>
            <a:r>
              <a:rPr sz="900" dirty="0">
                <a:latin typeface="Tahoma"/>
                <a:cs typeface="Tahoma"/>
              </a:rPr>
              <a:t>	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10" dirty="0">
                <a:latin typeface="Cambria"/>
                <a:cs typeface="Cambria"/>
              </a:rPr>
              <a:t> </a:t>
            </a:r>
            <a:r>
              <a:rPr sz="900" i="1" spc="-5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-50" dirty="0"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35" name="object 3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2169414"/>
            <a:ext cx="65201" cy="65201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377532" y="2057429"/>
            <a:ext cx="3152775" cy="405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38400"/>
              </a:lnSpc>
              <a:spcBef>
                <a:spcPts val="100"/>
              </a:spcBef>
            </a:pPr>
            <a:r>
              <a:rPr sz="900" spc="-10" dirty="0">
                <a:latin typeface="Tahoma"/>
                <a:cs typeface="Tahoma"/>
              </a:rPr>
              <a:t>Gradient:</a:t>
            </a:r>
            <a:r>
              <a:rPr sz="900" spc="135" dirty="0">
                <a:latin typeface="Tahoma"/>
                <a:cs typeface="Tahoma"/>
              </a:rPr>
              <a:t> </a:t>
            </a:r>
            <a:r>
              <a:rPr sz="900" spc="75" dirty="0">
                <a:latin typeface="Cambria"/>
                <a:cs typeface="Cambria"/>
              </a:rPr>
              <a:t>∇</a:t>
            </a:r>
            <a:r>
              <a:rPr sz="900" i="1" spc="112" baseline="-9259" dirty="0">
                <a:latin typeface="Arial"/>
                <a:cs typeface="Arial"/>
              </a:rPr>
              <a:t>X</a:t>
            </a:r>
            <a:r>
              <a:rPr sz="900" i="1" spc="75" dirty="0">
                <a:latin typeface="Arial"/>
                <a:cs typeface="Arial"/>
              </a:rPr>
              <a:t>L</a:t>
            </a:r>
            <a:r>
              <a:rPr sz="900" i="1" spc="112" baseline="-9259" dirty="0">
                <a:latin typeface="Arial"/>
                <a:cs typeface="Arial"/>
              </a:rPr>
              <a:t>X</a:t>
            </a:r>
            <a:r>
              <a:rPr sz="900" i="1" spc="209" baseline="-9259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65" dirty="0">
                <a:latin typeface="Cambria"/>
                <a:cs typeface="Cambria"/>
              </a:rPr>
              <a:t>−</a:t>
            </a:r>
            <a:r>
              <a:rPr sz="900" spc="65" dirty="0">
                <a:latin typeface="Tahoma"/>
                <a:cs typeface="Tahoma"/>
              </a:rPr>
              <a:t>2</a:t>
            </a:r>
            <a:r>
              <a:rPr sz="900" i="1" spc="65" dirty="0">
                <a:latin typeface="Arial"/>
                <a:cs typeface="Arial"/>
              </a:rPr>
              <a:t>D</a:t>
            </a:r>
            <a:r>
              <a:rPr sz="900" i="1" spc="97" baseline="37037" dirty="0">
                <a:latin typeface="Arial"/>
                <a:cs typeface="Arial"/>
              </a:rPr>
              <a:t>T</a:t>
            </a:r>
            <a:r>
              <a:rPr sz="900" i="1" spc="65" dirty="0">
                <a:latin typeface="Arial"/>
                <a:cs typeface="Arial"/>
              </a:rPr>
              <a:t>D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2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baseline="37037" dirty="0">
                <a:latin typeface="Arial"/>
                <a:cs typeface="Arial"/>
              </a:rPr>
              <a:t>T</a:t>
            </a:r>
            <a:r>
              <a:rPr sz="900" i="1" dirty="0">
                <a:latin typeface="Arial"/>
                <a:cs typeface="Arial"/>
              </a:rPr>
              <a:t>DX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0" dirty="0">
                <a:latin typeface="Tahoma"/>
                <a:cs typeface="Tahoma"/>
              </a:rPr>
              <a:t> </a:t>
            </a:r>
            <a:r>
              <a:rPr sz="900" i="1" spc="130" dirty="0">
                <a:latin typeface="Calibri"/>
                <a:cs typeface="Calibri"/>
              </a:rPr>
              <a:t>µ</a:t>
            </a:r>
            <a:r>
              <a:rPr sz="900" spc="130" dirty="0">
                <a:latin typeface="Tahoma"/>
                <a:cs typeface="Tahoma"/>
              </a:rPr>
              <a:t>∆</a:t>
            </a:r>
            <a:r>
              <a:rPr sz="900" spc="-7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baseline="37037" dirty="0">
                <a:latin typeface="Arial"/>
                <a:cs typeface="Arial"/>
              </a:rPr>
              <a:t>k</a:t>
            </a:r>
            <a:r>
              <a:rPr sz="900" i="1" spc="135" baseline="37037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5" dirty="0">
                <a:latin typeface="Tahoma"/>
                <a:cs typeface="Tahoma"/>
              </a:rPr>
              <a:t> </a:t>
            </a:r>
            <a:r>
              <a:rPr sz="900" i="1" dirty="0">
                <a:latin typeface="Calibri"/>
                <a:cs typeface="Calibri"/>
              </a:rPr>
              <a:t>ρ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15" dirty="0">
                <a:latin typeface="Cambria"/>
                <a:cs typeface="Cambria"/>
              </a:rPr>
              <a:t> </a:t>
            </a:r>
            <a:r>
              <a:rPr sz="900" i="1" spc="-20" dirty="0">
                <a:latin typeface="Arial"/>
                <a:cs typeface="Arial"/>
              </a:rPr>
              <a:t>Z</a:t>
            </a:r>
            <a:r>
              <a:rPr sz="900" i="1" spc="-30" baseline="37037" dirty="0">
                <a:latin typeface="Arial"/>
                <a:cs typeface="Arial"/>
              </a:rPr>
              <a:t>k</a:t>
            </a:r>
            <a:r>
              <a:rPr sz="900" spc="-20" dirty="0">
                <a:latin typeface="Tahoma"/>
                <a:cs typeface="Tahoma"/>
              </a:rPr>
              <a:t>). </a:t>
            </a:r>
            <a:r>
              <a:rPr sz="900" dirty="0">
                <a:latin typeface="Tahoma"/>
                <a:cs typeface="Tahoma"/>
              </a:rPr>
              <a:t>Set</a:t>
            </a:r>
            <a:r>
              <a:rPr sz="900" spc="4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4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zero:</a:t>
            </a:r>
            <a:r>
              <a:rPr sz="900" spc="14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(2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baseline="37037" dirty="0">
                <a:latin typeface="Arial"/>
                <a:cs typeface="Arial"/>
              </a:rPr>
              <a:t>T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0" dirty="0">
                <a:latin typeface="Tahoma"/>
                <a:cs typeface="Tahoma"/>
              </a:rPr>
              <a:t> </a:t>
            </a:r>
            <a:r>
              <a:rPr sz="900" i="1" dirty="0">
                <a:latin typeface="Calibri"/>
                <a:cs typeface="Calibri"/>
              </a:rPr>
              <a:t>ρ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900" dirty="0">
                <a:latin typeface="Tahoma"/>
                <a:cs typeface="Tahoma"/>
              </a:rPr>
              <a:t>)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2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baseline="37037" dirty="0">
                <a:latin typeface="Arial"/>
                <a:cs typeface="Arial"/>
              </a:rPr>
              <a:t>T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15" dirty="0">
                <a:latin typeface="Cambria"/>
                <a:cs typeface="Cambria"/>
              </a:rPr>
              <a:t> </a:t>
            </a:r>
            <a:r>
              <a:rPr sz="900" i="1" spc="130" dirty="0">
                <a:latin typeface="Calibri"/>
                <a:cs typeface="Calibri"/>
              </a:rPr>
              <a:t>µ</a:t>
            </a:r>
            <a:r>
              <a:rPr sz="900" spc="130" dirty="0">
                <a:latin typeface="Tahoma"/>
                <a:cs typeface="Tahoma"/>
              </a:rPr>
              <a:t>∆</a:t>
            </a:r>
            <a:r>
              <a:rPr sz="900" spc="-70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0" dirty="0">
                <a:latin typeface="Tahoma"/>
                <a:cs typeface="Tahoma"/>
              </a:rPr>
              <a:t> </a:t>
            </a:r>
            <a:r>
              <a:rPr sz="900" i="1" dirty="0">
                <a:latin typeface="Calibri"/>
                <a:cs typeface="Calibri"/>
              </a:rPr>
              <a:t>ρ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i="1" baseline="37037" dirty="0">
                <a:latin typeface="Arial"/>
                <a:cs typeface="Arial"/>
              </a:rPr>
              <a:t>k</a:t>
            </a:r>
            <a:r>
              <a:rPr sz="900" i="1" spc="142" baseline="37037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15" dirty="0">
                <a:latin typeface="Cambria"/>
                <a:cs typeface="Cambria"/>
              </a:rPr>
              <a:t> </a:t>
            </a:r>
            <a:r>
              <a:rPr sz="900" i="1" spc="-25" dirty="0">
                <a:latin typeface="Arial"/>
                <a:cs typeface="Arial"/>
              </a:rPr>
              <a:t>U</a:t>
            </a:r>
            <a:r>
              <a:rPr sz="900" i="1" spc="-37" baseline="37037" dirty="0">
                <a:latin typeface="Arial"/>
                <a:cs typeface="Arial"/>
              </a:rPr>
              <a:t>k</a:t>
            </a:r>
            <a:r>
              <a:rPr sz="900" spc="-25" dirty="0"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37" name="object 3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2359202"/>
            <a:ext cx="65201" cy="65201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2548991"/>
            <a:ext cx="65201" cy="65201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402932" y="2490147"/>
            <a:ext cx="15601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11225" algn="l"/>
              </a:tabLst>
            </a:pPr>
            <a:r>
              <a:rPr sz="900" dirty="0">
                <a:latin typeface="Tahoma"/>
                <a:cs typeface="Tahoma"/>
              </a:rPr>
              <a:t>Per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column:</a:t>
            </a:r>
            <a:r>
              <a:rPr sz="900" spc="60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245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5" dirty="0">
                <a:latin typeface="Tahoma"/>
                <a:cs typeface="Tahoma"/>
              </a:rPr>
              <a:t> </a:t>
            </a:r>
            <a:r>
              <a:rPr sz="900" i="1" spc="-25" dirty="0">
                <a:latin typeface="Calibri"/>
                <a:cs typeface="Calibri"/>
              </a:rPr>
              <a:t>ρ</a:t>
            </a:r>
            <a:r>
              <a:rPr sz="900" i="1" spc="-25" dirty="0">
                <a:latin typeface="Arial"/>
                <a:cs typeface="Arial"/>
              </a:rPr>
              <a:t>I</a:t>
            </a:r>
            <a:endParaRPr sz="9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727312" y="2549149"/>
            <a:ext cx="316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305" algn="l"/>
              </a:tabLst>
            </a:pPr>
            <a:r>
              <a:rPr sz="600" i="1" spc="-50" dirty="0">
                <a:latin typeface="Arial"/>
                <a:cs typeface="Arial"/>
              </a:rPr>
              <a:t>j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50" dirty="0">
                <a:latin typeface="Arial"/>
                <a:cs typeface="Arial"/>
              </a:rPr>
              <a:t>j</a:t>
            </a:r>
            <a:endParaRPr sz="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120711" y="2479731"/>
            <a:ext cx="24047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7040" algn="l"/>
                <a:tab pos="875030" algn="l"/>
                <a:tab pos="1124585" algn="l"/>
                <a:tab pos="1618615" algn="l"/>
                <a:tab pos="1888489" algn="l"/>
                <a:tab pos="2336165" algn="l"/>
              </a:tabLst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15" dirty="0">
                <a:latin typeface="Arial"/>
                <a:cs typeface="Arial"/>
              </a:rPr>
              <a:t>T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25" dirty="0">
                <a:latin typeface="Verdana"/>
                <a:cs typeface="Verdana"/>
              </a:rPr>
              <a:t>−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15" dirty="0">
                <a:latin typeface="Arial"/>
                <a:cs typeface="Arial"/>
              </a:rPr>
              <a:t>T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50" dirty="0">
                <a:latin typeface="Arial"/>
                <a:cs typeface="Arial"/>
              </a:rPr>
              <a:t>k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50" dirty="0">
                <a:latin typeface="Arial"/>
                <a:cs typeface="Arial"/>
              </a:rPr>
              <a:t>k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899615" y="2502796"/>
            <a:ext cx="183388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350" baseline="6172" dirty="0">
                <a:latin typeface="Tahoma"/>
                <a:cs typeface="Tahoma"/>
              </a:rPr>
              <a:t>)</a:t>
            </a:r>
            <a:r>
              <a:rPr sz="1350" spc="300" baseline="6172" dirty="0">
                <a:latin typeface="Tahoma"/>
                <a:cs typeface="Tahoma"/>
              </a:rPr>
              <a:t>  </a:t>
            </a:r>
            <a:r>
              <a:rPr sz="1350" baseline="6172" dirty="0">
                <a:latin typeface="Tahoma"/>
                <a:cs typeface="Tahoma"/>
              </a:rPr>
              <a:t>(</a:t>
            </a:r>
            <a:r>
              <a:rPr sz="1350" i="1" baseline="6172" dirty="0">
                <a:latin typeface="Arial"/>
                <a:cs typeface="Arial"/>
              </a:rPr>
              <a:t>D</a:t>
            </a:r>
            <a:r>
              <a:rPr sz="1350" i="1" spc="367" baseline="6172" dirty="0">
                <a:latin typeface="Arial"/>
                <a:cs typeface="Arial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D</a:t>
            </a:r>
            <a:r>
              <a:rPr sz="600" i="1" dirty="0">
                <a:latin typeface="Arial"/>
                <a:cs typeface="Arial"/>
              </a:rPr>
              <a:t>j</a:t>
            </a:r>
            <a:r>
              <a:rPr sz="600" i="1" spc="85" dirty="0">
                <a:latin typeface="Arial"/>
                <a:cs typeface="Arial"/>
              </a:rPr>
              <a:t> </a:t>
            </a:r>
            <a:r>
              <a:rPr sz="1350" spc="97" baseline="6172" dirty="0">
                <a:latin typeface="Tahoma"/>
                <a:cs typeface="Tahoma"/>
              </a:rPr>
              <a:t>+</a:t>
            </a:r>
            <a:r>
              <a:rPr sz="1350" spc="-112" baseline="6172" dirty="0">
                <a:latin typeface="Tahoma"/>
                <a:cs typeface="Tahoma"/>
              </a:rPr>
              <a:t> </a:t>
            </a:r>
            <a:r>
              <a:rPr sz="1350" i="1" baseline="6172" dirty="0">
                <a:latin typeface="Calibri"/>
                <a:cs typeface="Calibri"/>
              </a:rPr>
              <a:t>ρ</a:t>
            </a:r>
            <a:r>
              <a:rPr sz="1350" baseline="6172" dirty="0">
                <a:latin typeface="Tahoma"/>
                <a:cs typeface="Tahoma"/>
              </a:rPr>
              <a:t>(</a:t>
            </a:r>
            <a:r>
              <a:rPr sz="1350" i="1" baseline="6172" dirty="0">
                <a:latin typeface="Arial"/>
                <a:cs typeface="Arial"/>
              </a:rPr>
              <a:t>Z</a:t>
            </a:r>
            <a:r>
              <a:rPr sz="1350" i="1" spc="480" baseline="6172" dirty="0">
                <a:latin typeface="Arial"/>
                <a:cs typeface="Arial"/>
              </a:rPr>
              <a:t> </a:t>
            </a:r>
            <a:r>
              <a:rPr sz="1350" spc="322" baseline="6172" dirty="0">
                <a:latin typeface="Cambria"/>
                <a:cs typeface="Cambria"/>
              </a:rPr>
              <a:t>−</a:t>
            </a:r>
            <a:r>
              <a:rPr sz="1350" spc="15" baseline="6172" dirty="0">
                <a:latin typeface="Cambria"/>
                <a:cs typeface="Cambria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U</a:t>
            </a:r>
            <a:r>
              <a:rPr sz="1350" i="1" spc="172" baseline="6172" dirty="0">
                <a:latin typeface="Arial"/>
                <a:cs typeface="Arial"/>
              </a:rPr>
              <a:t> </a:t>
            </a:r>
            <a:r>
              <a:rPr sz="1350" baseline="6172" dirty="0">
                <a:latin typeface="Tahoma"/>
                <a:cs typeface="Tahoma"/>
              </a:rPr>
              <a:t>)</a:t>
            </a:r>
            <a:r>
              <a:rPr sz="1350" spc="-112" baseline="6172" dirty="0">
                <a:latin typeface="Tahoma"/>
                <a:cs typeface="Tahoma"/>
              </a:rPr>
              <a:t> </a:t>
            </a:r>
            <a:r>
              <a:rPr sz="1350" spc="322" baseline="6172" dirty="0">
                <a:latin typeface="Cambria"/>
                <a:cs typeface="Cambria"/>
              </a:rPr>
              <a:t>−</a:t>
            </a:r>
            <a:r>
              <a:rPr sz="1350" spc="15" baseline="6172" dirty="0">
                <a:latin typeface="Cambria"/>
                <a:cs typeface="Cambria"/>
              </a:rPr>
              <a:t> </a:t>
            </a:r>
            <a:r>
              <a:rPr sz="1350" i="1" spc="135" baseline="6172" dirty="0">
                <a:latin typeface="Calibri"/>
                <a:cs typeface="Calibri"/>
              </a:rPr>
              <a:t>µ</a:t>
            </a:r>
            <a:r>
              <a:rPr sz="1350" spc="135" baseline="6172" dirty="0">
                <a:latin typeface="Tahoma"/>
                <a:cs typeface="Tahoma"/>
              </a:rPr>
              <a:t>(∆</a:t>
            </a:r>
            <a:r>
              <a:rPr sz="1350" spc="322" baseline="6172" dirty="0">
                <a:latin typeface="Tahoma"/>
                <a:cs typeface="Tahoma"/>
              </a:rPr>
              <a:t> </a:t>
            </a:r>
            <a:r>
              <a:rPr sz="1350" spc="-30" baseline="6172" dirty="0">
                <a:latin typeface="Tahoma"/>
                <a:cs typeface="Tahoma"/>
              </a:rPr>
              <a:t>)</a:t>
            </a:r>
            <a:r>
              <a:rPr sz="600" i="1" spc="-20" dirty="0">
                <a:latin typeface="Arial"/>
                <a:cs typeface="Arial"/>
              </a:rPr>
              <a:t>j</a:t>
            </a:r>
            <a:r>
              <a:rPr sz="1350" spc="-30" baseline="6172" dirty="0">
                <a:latin typeface="Tahoma"/>
                <a:cs typeface="Tahoma"/>
              </a:rPr>
              <a:t>).</a:t>
            </a:r>
            <a:endParaRPr sz="1350" baseline="6172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02932" y="2535855"/>
            <a:ext cx="908050" cy="30670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R="147955" algn="r">
              <a:lnSpc>
                <a:spcPct val="100000"/>
              </a:lnSpc>
              <a:spcBef>
                <a:spcPts val="265"/>
              </a:spcBef>
            </a:pPr>
            <a:r>
              <a:rPr sz="600" i="1" spc="-50" dirty="0">
                <a:latin typeface="Arial"/>
                <a:cs typeface="Arial"/>
              </a:rPr>
              <a:t>j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900" dirty="0">
                <a:latin typeface="Tahoma"/>
                <a:cs typeface="Tahoma"/>
              </a:rPr>
              <a:t>Apply</a:t>
            </a:r>
            <a:r>
              <a:rPr sz="900" spc="4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constraints.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4" name="object 44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165" y="2738780"/>
            <a:ext cx="65201" cy="65201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3039710" y="3334738"/>
            <a:ext cx="204470" cy="111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zation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523276" y="3322038"/>
            <a:ext cx="152971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Document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Summarization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via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Sparse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Optimi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August</a:t>
            </a:r>
            <a:r>
              <a:rPr spc="-5" dirty="0"/>
              <a:t> </a:t>
            </a:r>
            <a:r>
              <a:rPr dirty="0"/>
              <a:t>23,</a:t>
            </a:r>
            <a:r>
              <a:rPr spc="10" dirty="0"/>
              <a:t> </a:t>
            </a:r>
            <a:r>
              <a:rPr spc="-20" dirty="0"/>
              <a:t>2025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9</a:t>
            </a:fld>
            <a:r>
              <a:rPr spc="-90" dirty="0"/>
              <a:t> </a:t>
            </a:r>
            <a:r>
              <a:rPr spc="90" dirty="0"/>
              <a:t>/</a:t>
            </a:r>
            <a:r>
              <a:rPr spc="-90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437070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85" dirty="0"/>
              <a:t> </a:t>
            </a:r>
            <a:r>
              <a:rPr dirty="0"/>
              <a:t>Z-</a:t>
            </a:r>
            <a:r>
              <a:rPr spc="-10" dirty="0"/>
              <a:t>Update</a:t>
            </a:r>
            <a:r>
              <a:rPr spc="-45" dirty="0"/>
              <a:t> </a:t>
            </a:r>
            <a:endParaRPr spc="-20" dirty="0"/>
          </a:p>
        </p:txBody>
      </p:sp>
      <p:sp>
        <p:nvSpPr>
          <p:cNvPr id="4" name="object 4"/>
          <p:cNvSpPr txBox="1"/>
          <p:nvPr/>
        </p:nvSpPr>
        <p:spPr>
          <a:xfrm>
            <a:off x="885761" y="1255120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85761" y="1332438"/>
            <a:ext cx="45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4247" y="1271861"/>
            <a:ext cx="467359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5430" algn="l"/>
              </a:tabLst>
            </a:pPr>
            <a:r>
              <a:rPr sz="900" i="1" spc="-5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S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38566" y="1255120"/>
            <a:ext cx="4375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4810" algn="l"/>
              </a:tabLst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-60" dirty="0"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30210" y="1332438"/>
            <a:ext cx="10414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320675" algn="l"/>
                <a:tab pos="692785" algn="l"/>
                <a:tab pos="940435" algn="l"/>
              </a:tabLst>
            </a:pPr>
            <a:r>
              <a:rPr sz="900" i="1" spc="157" baseline="4629" dirty="0">
                <a:latin typeface="Calibri"/>
                <a:cs typeface="Calibri"/>
              </a:rPr>
              <a:t>λ/ρ</a:t>
            </a:r>
            <a:r>
              <a:rPr sz="900" i="1" baseline="4629" dirty="0">
                <a:latin typeface="Calibri"/>
                <a:cs typeface="Calibri"/>
              </a:rPr>
              <a:t>	</a:t>
            </a:r>
            <a:r>
              <a:rPr sz="600" i="1" spc="-50" dirty="0">
                <a:latin typeface="Arial"/>
                <a:cs typeface="Arial"/>
              </a:rPr>
              <a:t>i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50" dirty="0">
                <a:latin typeface="Arial"/>
                <a:cs typeface="Arial"/>
              </a:rPr>
              <a:t>i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900" i="1" spc="112" baseline="9259" dirty="0">
                <a:latin typeface="Calibri"/>
                <a:cs typeface="Calibri"/>
              </a:rPr>
              <a:t>γ</a:t>
            </a:r>
            <a:endParaRPr sz="900" baseline="9259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14830" y="1271861"/>
            <a:ext cx="9296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1150" algn="l"/>
              </a:tabLst>
            </a:pPr>
            <a:r>
              <a:rPr sz="900" spc="-25" dirty="0">
                <a:latin typeface="Tahoma"/>
                <a:cs typeface="Tahoma"/>
              </a:rPr>
              <a:t>(</a:t>
            </a:r>
            <a:r>
              <a:rPr sz="900" i="1" spc="-25" dirty="0">
                <a:latin typeface="Arial"/>
                <a:cs typeface="Arial"/>
              </a:rPr>
              <a:t>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spc="80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)</a:t>
            </a:r>
            <a:r>
              <a:rPr sz="900" i="1" dirty="0">
                <a:latin typeface="Calibri"/>
                <a:cs typeface="Calibri"/>
              </a:rPr>
              <a:t>,</a:t>
            </a:r>
            <a:r>
              <a:rPr sz="900" i="1" spc="229" dirty="0">
                <a:latin typeface="Calibri"/>
                <a:cs typeface="Calibri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00" dirty="0">
                <a:latin typeface="Arial"/>
                <a:cs typeface="Arial"/>
              </a:rPr>
              <a:t> </a:t>
            </a:r>
            <a:r>
              <a:rPr sz="900" spc="-25" dirty="0">
                <a:latin typeface="Tahoma"/>
                <a:cs typeface="Tahoma"/>
              </a:rPr>
              <a:t>(</a:t>
            </a:r>
            <a:r>
              <a:rPr sz="900" i="1" spc="-25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47212" y="1198214"/>
            <a:ext cx="243204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u="sng" spc="3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i="1" u="sng" spc="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γ</a:t>
            </a:r>
            <a:r>
              <a:rPr sz="900" i="1" u="sng" spc="5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2612" y="1389951"/>
            <a:ext cx="31750" cy="1143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85096" y="1389951"/>
            <a:ext cx="31750" cy="1143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080321" y="1361752"/>
            <a:ext cx="2292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baseline="6172" dirty="0">
                <a:latin typeface="Arial"/>
                <a:cs typeface="Arial"/>
              </a:rPr>
              <a:t>x</a:t>
            </a:r>
            <a:r>
              <a:rPr sz="1350" i="1" spc="270" baseline="6172" dirty="0">
                <a:latin typeface="Arial"/>
                <a:cs typeface="Arial"/>
              </a:rPr>
              <a:t> </a:t>
            </a: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42679" y="1111562"/>
            <a:ext cx="761365" cy="16256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660400" algn="l"/>
              </a:tabLst>
            </a:pPr>
            <a:r>
              <a:rPr sz="900" dirty="0">
                <a:latin typeface="Georgia"/>
                <a:cs typeface="Georgia"/>
              </a:rPr>
              <a:t>	 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18461" y="1271861"/>
            <a:ext cx="125920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74090" algn="l"/>
              </a:tabLst>
            </a:pPr>
            <a:r>
              <a:rPr sz="900" dirty="0">
                <a:latin typeface="Tahoma"/>
                <a:cs typeface="Tahoma"/>
              </a:rPr>
              <a:t>)</a:t>
            </a:r>
            <a:r>
              <a:rPr sz="900" spc="-5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max</a:t>
            </a:r>
            <a:r>
              <a:rPr sz="900" spc="125" dirty="0">
                <a:latin typeface="Tahoma"/>
                <a:cs typeface="Tahoma"/>
              </a:rPr>
              <a:t>  </a:t>
            </a:r>
            <a:r>
              <a:rPr sz="900" spc="-35" dirty="0">
                <a:latin typeface="Tahoma"/>
                <a:cs typeface="Tahoma"/>
              </a:rPr>
              <a:t>1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spc="165" dirty="0">
                <a:latin typeface="Cambria"/>
                <a:cs typeface="Cambria"/>
              </a:rPr>
              <a:t>−</a:t>
            </a:r>
            <a:r>
              <a:rPr sz="900" dirty="0">
                <a:latin typeface="Cambria"/>
                <a:cs typeface="Cambria"/>
              </a:rPr>
              <a:t>	</a:t>
            </a:r>
            <a:r>
              <a:rPr sz="900" i="1" dirty="0">
                <a:latin typeface="Calibri"/>
                <a:cs typeface="Calibri"/>
              </a:rPr>
              <a:t>,</a:t>
            </a:r>
            <a:r>
              <a:rPr sz="900" i="1" spc="-50" dirty="0">
                <a:latin typeface="Calibri"/>
                <a:cs typeface="Calibri"/>
              </a:rPr>
              <a:t> </a:t>
            </a:r>
            <a:r>
              <a:rPr sz="900" dirty="0">
                <a:latin typeface="Tahoma"/>
                <a:cs typeface="Tahoma"/>
              </a:rPr>
              <a:t>0</a:t>
            </a:r>
            <a:r>
              <a:rPr sz="900" spc="140" dirty="0">
                <a:latin typeface="Tahoma"/>
                <a:cs typeface="Tahoma"/>
              </a:rPr>
              <a:t>  </a:t>
            </a:r>
            <a:r>
              <a:rPr sz="900" i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51847" y="1271861"/>
            <a:ext cx="2419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latin typeface="Calibri"/>
                <a:cs typeface="Calibri"/>
              </a:rPr>
              <a:t>,</a:t>
            </a:r>
            <a:r>
              <a:rPr sz="900" i="1" spc="275" dirty="0">
                <a:latin typeface="Calibri"/>
                <a:cs typeface="Calibri"/>
              </a:rPr>
              <a:t> </a:t>
            </a:r>
            <a:r>
              <a:rPr sz="900" spc="-25" dirty="0">
                <a:latin typeface="Cambria"/>
                <a:cs typeface="Cambria"/>
              </a:rPr>
              <a:t>∀</a:t>
            </a:r>
            <a:r>
              <a:rPr sz="900" i="1" spc="-25" dirty="0">
                <a:latin typeface="Arial"/>
                <a:cs typeface="Arial"/>
              </a:rPr>
              <a:t>i</a:t>
            </a:r>
            <a:r>
              <a:rPr sz="900" i="1" spc="-25" dirty="0">
                <a:latin typeface="Calibri"/>
                <a:cs typeface="Calibri"/>
              </a:rPr>
              <a:t>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3577" y="1533949"/>
            <a:ext cx="5962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3560" algn="l"/>
              </a:tabLst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-50" dirty="0"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54366" y="1533949"/>
            <a:ext cx="1289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32355" y="1533949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14970" y="1611266"/>
            <a:ext cx="68389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29920" algn="l"/>
              </a:tabLst>
            </a:pPr>
            <a:r>
              <a:rPr sz="600" i="1" spc="-25" dirty="0">
                <a:latin typeface="Arial"/>
                <a:cs typeface="Arial"/>
              </a:rPr>
              <a:t>ij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25" dirty="0">
                <a:latin typeface="Arial"/>
                <a:cs typeface="Arial"/>
              </a:rPr>
              <a:t>ij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25844" y="1544365"/>
            <a:ext cx="21824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9150" algn="l"/>
                <a:tab pos="1383030" algn="l"/>
                <a:tab pos="1967864" algn="l"/>
              </a:tabLst>
            </a:pPr>
            <a:r>
              <a:rPr sz="900" dirty="0">
                <a:latin typeface="Tahoma"/>
                <a:cs typeface="Tahoma"/>
              </a:rPr>
              <a:t>Then:</a:t>
            </a:r>
            <a:r>
              <a:rPr sz="900" spc="5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diag(</a:t>
            </a:r>
            <a:r>
              <a:rPr sz="900" i="1" spc="-1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dirty="0">
                <a:latin typeface="Tahoma"/>
                <a:cs typeface="Tahoma"/>
              </a:rPr>
              <a:t>)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0,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max</a:t>
            </a:r>
            <a:r>
              <a:rPr sz="900" spc="-10" dirty="0">
                <a:latin typeface="Cambria"/>
                <a:cs typeface="Cambria"/>
              </a:rPr>
              <a:t>{</a:t>
            </a:r>
            <a:r>
              <a:rPr sz="900" i="1" spc="-1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i="1" dirty="0">
                <a:latin typeface="Calibri"/>
                <a:cs typeface="Calibri"/>
              </a:rPr>
              <a:t>,</a:t>
            </a:r>
            <a:r>
              <a:rPr sz="900" i="1" spc="-25" dirty="0">
                <a:latin typeface="Calibri"/>
                <a:cs typeface="Calibri"/>
              </a:rPr>
              <a:t> </a:t>
            </a:r>
            <a:r>
              <a:rPr sz="900" spc="-25" dirty="0">
                <a:latin typeface="Tahoma"/>
                <a:cs typeface="Tahoma"/>
              </a:rPr>
              <a:t>0</a:t>
            </a:r>
            <a:r>
              <a:rPr sz="900" spc="-25" dirty="0">
                <a:latin typeface="Cambria"/>
                <a:cs typeface="Cambria"/>
              </a:rPr>
              <a:t>}</a:t>
            </a:r>
            <a:r>
              <a:rPr sz="900" spc="-25" dirty="0"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25844" y="1683545"/>
            <a:ext cx="2813050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"/>
              </a:spcBef>
            </a:pPr>
            <a:endParaRPr lang="en-US" sz="900" spc="-55" dirty="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Tahoma"/>
                <a:cs typeface="Tahoma"/>
              </a:rPr>
              <a:t>Trims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i="1" spc="20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keep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key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sentences,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same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Eq.</a:t>
            </a:r>
            <a:r>
              <a:rPr sz="900" spc="7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4-</a:t>
            </a:r>
            <a:r>
              <a:rPr sz="900" spc="-25" dirty="0">
                <a:latin typeface="Tahoma"/>
                <a:cs typeface="Tahoma"/>
              </a:rPr>
              <a:t>5.</a:t>
            </a:r>
            <a:endParaRPr sz="9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900" spc="-80" dirty="0">
                <a:latin typeface="+mj-lt"/>
                <a:cs typeface="Arial Black"/>
              </a:rPr>
              <a:t>Optimization</a:t>
            </a:r>
            <a:r>
              <a:rPr sz="900" spc="-80" dirty="0">
                <a:latin typeface="Tahoma"/>
                <a:cs typeface="Tahoma"/>
              </a:rPr>
              <a:t>:</a:t>
            </a:r>
            <a:r>
              <a:rPr lang="en-US" sz="900" spc="75" dirty="0">
                <a:latin typeface="Tahoma"/>
                <a:cs typeface="Tahoma"/>
              </a:rPr>
              <a:t> Minimizes the equation</a:t>
            </a:r>
            <a:r>
              <a:rPr sz="900" spc="-25" dirty="0">
                <a:latin typeface="Tahoma"/>
                <a:cs typeface="Tahoma"/>
              </a:rPr>
              <a:t>.</a:t>
            </a:r>
            <a:endParaRPr sz="9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900" spc="-80" dirty="0">
                <a:latin typeface="+mj-lt"/>
                <a:cs typeface="Arial Black"/>
              </a:rPr>
              <a:t>Derivation</a:t>
            </a:r>
            <a:r>
              <a:rPr sz="900" spc="-80" dirty="0">
                <a:latin typeface="Tahoma"/>
                <a:cs typeface="Tahoma"/>
              </a:rPr>
              <a:t>:</a:t>
            </a:r>
            <a:r>
              <a:rPr sz="900" spc="5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Unchanged,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as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diversity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term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affects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only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i="1" spc="-25" dirty="0">
                <a:latin typeface="Arial"/>
                <a:cs typeface="Arial"/>
              </a:rPr>
              <a:t>X</a:t>
            </a:r>
            <a:r>
              <a:rPr sz="900" spc="-25" dirty="0">
                <a:latin typeface="Tahoma"/>
                <a:cs typeface="Tahoma"/>
              </a:rPr>
              <a:t>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39710" y="3334738"/>
            <a:ext cx="204470" cy="111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zation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23276" y="3322038"/>
            <a:ext cx="152971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Document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Summarization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via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Sparse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Optimi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August</a:t>
            </a:r>
            <a:r>
              <a:rPr spc="-5" dirty="0"/>
              <a:t> </a:t>
            </a:r>
            <a:r>
              <a:rPr dirty="0"/>
              <a:t>23,</a:t>
            </a:r>
            <a:r>
              <a:rPr spc="10" dirty="0"/>
              <a:t> </a:t>
            </a:r>
            <a:r>
              <a:rPr spc="-20" dirty="0"/>
              <a:t>2025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10</a:t>
            </a:fld>
            <a:r>
              <a:rPr spc="-90" dirty="0"/>
              <a:t> </a:t>
            </a:r>
            <a:r>
              <a:rPr spc="90" dirty="0"/>
              <a:t>/</a:t>
            </a:r>
            <a:r>
              <a:rPr spc="-90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437070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U-Update</a:t>
            </a:r>
            <a:r>
              <a:rPr spc="-45" dirty="0"/>
              <a:t> 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83150" y="1196975"/>
            <a:ext cx="3593500" cy="758541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489075">
              <a:lnSpc>
                <a:spcPct val="100000"/>
              </a:lnSpc>
              <a:spcBef>
                <a:spcPts val="515"/>
              </a:spcBef>
            </a:pPr>
            <a:r>
              <a:rPr i="1" dirty="0">
                <a:latin typeface="Arial"/>
                <a:cs typeface="Arial"/>
              </a:rPr>
              <a:t>U</a:t>
            </a:r>
            <a:r>
              <a:rPr sz="900" i="1" baseline="41666" dirty="0">
                <a:latin typeface="Arial"/>
                <a:cs typeface="Arial"/>
              </a:rPr>
              <a:t>k</a:t>
            </a:r>
            <a:r>
              <a:rPr sz="900" baseline="41666" dirty="0">
                <a:latin typeface="Verdana"/>
                <a:cs typeface="Verdana"/>
              </a:rPr>
              <a:t>+</a:t>
            </a:r>
            <a:r>
              <a:rPr sz="900" baseline="41666" dirty="0"/>
              <a:t>1</a:t>
            </a:r>
            <a:r>
              <a:rPr sz="900" spc="172" baseline="41666" dirty="0"/>
              <a:t> </a:t>
            </a:r>
            <a:r>
              <a:rPr sz="900" spc="65" dirty="0"/>
              <a:t>=</a:t>
            </a:r>
            <a:r>
              <a:rPr sz="900" spc="-25" dirty="0"/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baseline="41666" dirty="0">
                <a:latin typeface="Arial"/>
                <a:cs typeface="Arial"/>
              </a:rPr>
              <a:t>k</a:t>
            </a:r>
            <a:r>
              <a:rPr sz="900" i="1" spc="120" baseline="41666" dirty="0">
                <a:latin typeface="Arial"/>
                <a:cs typeface="Arial"/>
              </a:rPr>
              <a:t> </a:t>
            </a:r>
            <a:r>
              <a:rPr sz="900" spc="65" dirty="0"/>
              <a:t>+</a:t>
            </a:r>
            <a:r>
              <a:rPr sz="900" spc="-80" dirty="0"/>
              <a:t> </a:t>
            </a:r>
            <a:r>
              <a:rPr sz="900" i="1" dirty="0">
                <a:latin typeface="Calibri"/>
                <a:cs typeface="Calibri"/>
              </a:rPr>
              <a:t>ρ</a:t>
            </a:r>
            <a:r>
              <a:rPr sz="900" dirty="0"/>
              <a:t>(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baseline="41666" dirty="0">
                <a:latin typeface="Arial"/>
                <a:cs typeface="Arial"/>
              </a:rPr>
              <a:t>k</a:t>
            </a:r>
            <a:r>
              <a:rPr sz="900" baseline="41666" dirty="0">
                <a:latin typeface="Verdana"/>
                <a:cs typeface="Verdana"/>
              </a:rPr>
              <a:t>+</a:t>
            </a:r>
            <a:r>
              <a:rPr sz="900" baseline="41666" dirty="0"/>
              <a:t>1</a:t>
            </a:r>
            <a:r>
              <a:rPr sz="900" spc="104" baseline="41666" dirty="0"/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5" dirty="0">
                <a:latin typeface="Cambria"/>
                <a:cs typeface="Cambria"/>
              </a:rPr>
              <a:t> </a:t>
            </a:r>
            <a:r>
              <a:rPr sz="900" i="1" spc="-10" dirty="0">
                <a:latin typeface="Arial"/>
                <a:cs typeface="Arial"/>
              </a:rPr>
              <a:t>Z</a:t>
            </a:r>
            <a:r>
              <a:rPr sz="900" i="1" spc="-15" baseline="41666" dirty="0">
                <a:latin typeface="Arial"/>
                <a:cs typeface="Arial"/>
              </a:rPr>
              <a:t>k</a:t>
            </a:r>
            <a:r>
              <a:rPr sz="900" spc="-15" baseline="41666" dirty="0">
                <a:latin typeface="Verdana"/>
                <a:cs typeface="Verdana"/>
              </a:rPr>
              <a:t>+</a:t>
            </a:r>
            <a:r>
              <a:rPr sz="900" spc="-15" baseline="41666" dirty="0"/>
              <a:t>1</a:t>
            </a:r>
            <a:r>
              <a:rPr sz="900" spc="-10" dirty="0"/>
              <a:t>)</a:t>
            </a:r>
            <a:r>
              <a:rPr sz="900" i="1" spc="-10" dirty="0">
                <a:latin typeface="Calibri"/>
                <a:cs typeface="Calibri"/>
              </a:rPr>
              <a:t>.</a:t>
            </a:r>
            <a:endParaRPr sz="900" dirty="0">
              <a:latin typeface="Calibri"/>
              <a:cs typeface="Calibri"/>
            </a:endParaRPr>
          </a:p>
          <a:p>
            <a:endParaRPr lang="en-US" spc="-20" dirty="0"/>
          </a:p>
          <a:p>
            <a:r>
              <a:rPr spc="-20" dirty="0"/>
              <a:t>Ensures</a:t>
            </a:r>
            <a:r>
              <a:rPr spc="-15" dirty="0"/>
              <a:t> </a:t>
            </a:r>
            <a:r>
              <a:rPr i="1" dirty="0">
                <a:latin typeface="Arial"/>
                <a:cs typeface="Arial"/>
              </a:rPr>
              <a:t>X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spc="-35" dirty="0"/>
              <a:t>agree,</a:t>
            </a:r>
            <a:r>
              <a:rPr spc="-15" dirty="0"/>
              <a:t> </a:t>
            </a:r>
            <a:r>
              <a:rPr lang="en-IN" dirty="0"/>
              <a:t>Like a referee ensuring puzzle pieces  match.</a:t>
            </a:r>
          </a:p>
          <a:p>
            <a:pPr marL="38100">
              <a:lnSpc>
                <a:spcPct val="100000"/>
              </a:lnSpc>
              <a:spcBef>
                <a:spcPts val="15"/>
              </a:spcBef>
            </a:pPr>
            <a:r>
              <a:rPr spc="-80" dirty="0">
                <a:latin typeface="Arial Black" panose="020B0A04020102020204" pitchFamily="34" charset="0"/>
                <a:cs typeface="Arial Black"/>
              </a:rPr>
              <a:t>Optimization</a:t>
            </a:r>
            <a:r>
              <a:rPr spc="-80" dirty="0"/>
              <a:t>:</a:t>
            </a:r>
            <a:r>
              <a:rPr spc="75" dirty="0"/>
              <a:t> </a:t>
            </a:r>
            <a:r>
              <a:rPr lang="en-US" spc="-10" dirty="0"/>
              <a:t>Dual Ascent X=Z</a:t>
            </a:r>
            <a:r>
              <a:rPr spc="-25" dirty="0"/>
              <a:t>.</a:t>
            </a:r>
          </a:p>
          <a:p>
            <a:pPr marL="38100">
              <a:lnSpc>
                <a:spcPct val="100000"/>
              </a:lnSpc>
              <a:spcBef>
                <a:spcPts val="15"/>
              </a:spcBef>
            </a:pPr>
            <a:r>
              <a:rPr spc="-80" dirty="0">
                <a:latin typeface="Arial Black" panose="020B0A04020102020204" pitchFamily="34" charset="0"/>
                <a:cs typeface="Arial Black"/>
              </a:rPr>
              <a:t>Derivation</a:t>
            </a:r>
            <a:r>
              <a:rPr spc="-80" dirty="0"/>
              <a:t>:</a:t>
            </a:r>
            <a:r>
              <a:rPr spc="85" dirty="0"/>
              <a:t> </a:t>
            </a:r>
            <a:r>
              <a:rPr spc="-10" dirty="0"/>
              <a:t>Standard</a:t>
            </a:r>
            <a:r>
              <a:rPr spc="-5" dirty="0"/>
              <a:t> </a:t>
            </a:r>
            <a:r>
              <a:rPr spc="85" dirty="0"/>
              <a:t>ADMM</a:t>
            </a:r>
            <a:r>
              <a:rPr dirty="0"/>
              <a:t> </a:t>
            </a:r>
            <a:r>
              <a:rPr spc="-10" dirty="0"/>
              <a:t>update.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039710" y="3334738"/>
            <a:ext cx="204470" cy="111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zation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23276" y="3322038"/>
            <a:ext cx="152971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Document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Summarization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via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Sparse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Optimi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August</a:t>
            </a:r>
            <a:r>
              <a:rPr spc="-5" dirty="0"/>
              <a:t> </a:t>
            </a:r>
            <a:r>
              <a:rPr dirty="0"/>
              <a:t>23,</a:t>
            </a:r>
            <a:r>
              <a:rPr spc="10" dirty="0"/>
              <a:t> </a:t>
            </a:r>
            <a:r>
              <a:rPr spc="-20" dirty="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11</a:t>
            </a:fld>
            <a:r>
              <a:rPr spc="-90" dirty="0"/>
              <a:t> </a:t>
            </a:r>
            <a:r>
              <a:rPr spc="90" dirty="0"/>
              <a:t>/</a:t>
            </a:r>
            <a:r>
              <a:rPr spc="-90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578485"/>
          </a:xfrm>
          <a:custGeom>
            <a:avLst/>
            <a:gdLst/>
            <a:ahLst/>
            <a:cxnLst/>
            <a:rect l="l" t="t" r="r" b="b"/>
            <a:pathLst>
              <a:path w="4608195" h="578485">
                <a:moveTo>
                  <a:pt x="4608004" y="0"/>
                </a:moveTo>
                <a:lnTo>
                  <a:pt x="0" y="0"/>
                </a:lnTo>
                <a:lnTo>
                  <a:pt x="0" y="578027"/>
                </a:lnTo>
                <a:lnTo>
                  <a:pt x="4608004" y="578027"/>
                </a:lnTo>
                <a:lnTo>
                  <a:pt x="460800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4370705" cy="233077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20"/>
              </a:spcBef>
            </a:pPr>
            <a:r>
              <a:rPr spc="-50" dirty="0" err="1"/>
              <a:t>Subproblem</a:t>
            </a:r>
            <a:r>
              <a:rPr spc="-40" dirty="0"/>
              <a:t> </a:t>
            </a:r>
            <a:r>
              <a:rPr spc="-10" dirty="0"/>
              <a:t>for</a:t>
            </a:r>
            <a:r>
              <a:rPr spc="-40" dirty="0"/>
              <a:t> </a:t>
            </a:r>
            <a:r>
              <a:rPr b="1" i="1" dirty="0">
                <a:latin typeface="Roboto Bk"/>
                <a:cs typeface="Roboto Bk"/>
              </a:rPr>
              <a:t>A</a:t>
            </a:r>
            <a:r>
              <a:rPr b="1" i="1" spc="50" dirty="0">
                <a:latin typeface="Roboto Bk"/>
                <a:cs typeface="Roboto Bk"/>
              </a:rPr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spc="-55" dirty="0"/>
              <a:t>Compressive </a:t>
            </a:r>
            <a:r>
              <a:rPr spc="-10" dirty="0"/>
              <a:t>Summarization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94560" y="1268874"/>
            <a:ext cx="793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A</a:t>
            </a:r>
            <a:endParaRPr sz="6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7019" y="1200099"/>
            <a:ext cx="31750" cy="1143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630756" y="1159250"/>
            <a:ext cx="6667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Tahoma"/>
                <a:cs typeface="Tahoma"/>
              </a:rPr>
              <a:t>min</a:t>
            </a:r>
            <a:r>
              <a:rPr sz="900" spc="32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5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dirty="0">
                <a:latin typeface="Cambria"/>
                <a:cs typeface="Cambria"/>
              </a:rPr>
              <a:t> </a:t>
            </a:r>
            <a:r>
              <a:rPr sz="900" i="1" spc="-25" dirty="0">
                <a:latin typeface="Arial"/>
                <a:cs typeface="Arial"/>
              </a:rPr>
              <a:t>RA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7252" y="1200099"/>
            <a:ext cx="31750" cy="1143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330373" y="1142509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66212" y="1200099"/>
            <a:ext cx="31750" cy="11430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2699321" y="1159250"/>
            <a:ext cx="104139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50" dirty="0"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2953" y="1200099"/>
            <a:ext cx="31750" cy="114300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304973" y="1179291"/>
            <a:ext cx="6350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43560" algn="l"/>
              </a:tabLst>
            </a:pPr>
            <a:r>
              <a:rPr sz="600" i="1" dirty="0">
                <a:latin typeface="Arial"/>
                <a:cs typeface="Arial"/>
              </a:rPr>
              <a:t>F</a:t>
            </a:r>
            <a:r>
              <a:rPr sz="600" i="1" spc="80" dirty="0">
                <a:latin typeface="Arial"/>
                <a:cs typeface="Arial"/>
              </a:rPr>
              <a:t> </a:t>
            </a:r>
            <a:r>
              <a:rPr sz="1350" spc="97" baseline="9259" dirty="0">
                <a:latin typeface="Tahoma"/>
                <a:cs typeface="Tahoma"/>
              </a:rPr>
              <a:t>+</a:t>
            </a:r>
            <a:r>
              <a:rPr sz="1350" spc="-120" baseline="9259" dirty="0">
                <a:latin typeface="Tahoma"/>
                <a:cs typeface="Tahoma"/>
              </a:rPr>
              <a:t> </a:t>
            </a:r>
            <a:r>
              <a:rPr sz="1350" i="1" spc="44" baseline="9259" dirty="0">
                <a:latin typeface="Calibri"/>
                <a:cs typeface="Calibri"/>
              </a:rPr>
              <a:t>λ</a:t>
            </a:r>
            <a:r>
              <a:rPr sz="900" spc="44" baseline="4629" dirty="0">
                <a:latin typeface="Tahoma"/>
                <a:cs typeface="Tahoma"/>
              </a:rPr>
              <a:t>1</a:t>
            </a:r>
            <a:r>
              <a:rPr sz="900" baseline="4629" dirty="0">
                <a:latin typeface="Tahoma"/>
                <a:cs typeface="Tahoma"/>
              </a:rPr>
              <a:t>	</a:t>
            </a:r>
            <a:r>
              <a:rPr sz="900" spc="-75" baseline="4629" dirty="0">
                <a:latin typeface="Tahoma"/>
                <a:cs typeface="Tahoma"/>
              </a:rPr>
              <a:t>2</a:t>
            </a:r>
            <a:endParaRPr sz="900" baseline="4629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76384" y="1209857"/>
            <a:ext cx="946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Calibri"/>
                <a:cs typeface="Calibri"/>
              </a:rPr>
              <a:t>,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7744" y="1351740"/>
            <a:ext cx="4069079" cy="979114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907539">
              <a:lnSpc>
                <a:spcPct val="100000"/>
              </a:lnSpc>
              <a:spcBef>
                <a:spcPts val="515"/>
              </a:spcBef>
            </a:pPr>
            <a:r>
              <a:rPr sz="1350" baseline="6172" dirty="0">
                <a:latin typeface="Tahoma"/>
                <a:cs typeface="Tahoma"/>
              </a:rPr>
              <a:t>s.t.</a:t>
            </a:r>
            <a:r>
              <a:rPr sz="1350" spc="209" baseline="6172" dirty="0">
                <a:latin typeface="Tahoma"/>
                <a:cs typeface="Tahoma"/>
              </a:rPr>
              <a:t>  </a:t>
            </a:r>
            <a:r>
              <a:rPr sz="1350" i="1" baseline="6172" dirty="0">
                <a:latin typeface="Arial"/>
                <a:cs typeface="Arial"/>
              </a:rPr>
              <a:t>a</a:t>
            </a:r>
            <a:r>
              <a:rPr sz="600" i="1" dirty="0">
                <a:latin typeface="Arial"/>
                <a:cs typeface="Arial"/>
              </a:rPr>
              <a:t>ij</a:t>
            </a:r>
            <a:r>
              <a:rPr sz="600" i="1" spc="120" dirty="0">
                <a:latin typeface="Arial"/>
                <a:cs typeface="Arial"/>
              </a:rPr>
              <a:t> </a:t>
            </a:r>
            <a:r>
              <a:rPr sz="1350" spc="322" baseline="6172" dirty="0">
                <a:latin typeface="Cambria"/>
                <a:cs typeface="Cambria"/>
              </a:rPr>
              <a:t>≥</a:t>
            </a:r>
            <a:r>
              <a:rPr sz="1350" spc="60" baseline="6172" dirty="0">
                <a:latin typeface="Cambria"/>
                <a:cs typeface="Cambria"/>
              </a:rPr>
              <a:t> </a:t>
            </a:r>
            <a:r>
              <a:rPr sz="1350" spc="-37" baseline="6172" dirty="0">
                <a:latin typeface="Tahoma"/>
                <a:cs typeface="Tahoma"/>
              </a:rPr>
              <a:t>0</a:t>
            </a:r>
            <a:r>
              <a:rPr sz="1350" i="1" spc="-37" baseline="6172" dirty="0">
                <a:latin typeface="Calibri"/>
                <a:cs typeface="Calibri"/>
              </a:rPr>
              <a:t>.</a:t>
            </a:r>
            <a:endParaRPr sz="1350" baseline="6172" dirty="0">
              <a:latin typeface="Calibri"/>
              <a:cs typeface="Calibri"/>
            </a:endParaRPr>
          </a:p>
          <a:p>
            <a:pPr marL="50800">
              <a:lnSpc>
                <a:spcPts val="1040"/>
              </a:lnSpc>
              <a:spcBef>
                <a:spcPts val="414"/>
              </a:spcBef>
            </a:pPr>
            <a:endParaRPr lang="en-US" sz="900" dirty="0">
              <a:latin typeface="Tahoma"/>
              <a:cs typeface="Tahoma"/>
            </a:endParaRPr>
          </a:p>
          <a:p>
            <a:pPr marL="50800">
              <a:lnSpc>
                <a:spcPts val="1040"/>
              </a:lnSpc>
              <a:spcBef>
                <a:spcPts val="414"/>
              </a:spcBef>
            </a:pPr>
            <a:r>
              <a:rPr sz="900" dirty="0">
                <a:latin typeface="Tahoma"/>
                <a:cs typeface="Tahoma"/>
              </a:rPr>
              <a:t>With </a:t>
            </a:r>
            <a:r>
              <a:rPr sz="900" spc="-30" dirty="0">
                <a:latin typeface="Tahoma"/>
                <a:cs typeface="Tahoma"/>
              </a:rPr>
              <a:t>words</a:t>
            </a:r>
            <a:r>
              <a:rPr sz="90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chosen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dirty="0">
                <a:latin typeface="Tahoma"/>
                <a:cs typeface="Tahoma"/>
              </a:rPr>
              <a:t>), pick </a:t>
            </a:r>
            <a:r>
              <a:rPr sz="900" spc="-35" dirty="0">
                <a:latin typeface="Tahoma"/>
                <a:cs typeface="Tahoma"/>
              </a:rPr>
              <a:t>sentences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Tahoma"/>
                <a:cs typeface="Tahoma"/>
              </a:rPr>
              <a:t>) to </a:t>
            </a:r>
            <a:r>
              <a:rPr sz="900" spc="-10" dirty="0">
                <a:latin typeface="Tahoma"/>
                <a:cs typeface="Tahoma"/>
              </a:rPr>
              <a:t>rebuild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book.</a:t>
            </a:r>
            <a:r>
              <a:rPr sz="900" spc="9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Like </a:t>
            </a:r>
            <a:r>
              <a:rPr sz="900" spc="-10" dirty="0">
                <a:latin typeface="Tahoma"/>
                <a:cs typeface="Tahoma"/>
              </a:rPr>
              <a:t>choosing</a:t>
            </a:r>
            <a:endParaRPr sz="9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15"/>
              </a:spcBef>
            </a:pPr>
            <a:r>
              <a:rPr sz="900" spc="-30" dirty="0">
                <a:latin typeface="Tahoma"/>
                <a:cs typeface="Tahoma"/>
              </a:rPr>
              <a:t>sentences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with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key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words.</a:t>
            </a:r>
            <a:endParaRPr sz="9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15"/>
              </a:spcBef>
            </a:pPr>
            <a:r>
              <a:rPr sz="900" spc="-80" dirty="0">
                <a:latin typeface="Arial Black" panose="020B0A04020102020204" pitchFamily="34" charset="0"/>
                <a:cs typeface="Arial Black"/>
              </a:rPr>
              <a:t>Optimization</a:t>
            </a:r>
            <a:r>
              <a:rPr sz="900" spc="-80" dirty="0">
                <a:latin typeface="Tahoma"/>
                <a:cs typeface="Tahoma"/>
              </a:rPr>
              <a:t>:</a:t>
            </a:r>
            <a:r>
              <a:rPr sz="900" spc="8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Convex,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solved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via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55" dirty="0">
                <a:latin typeface="Tahoma"/>
                <a:cs typeface="Tahoma"/>
              </a:rPr>
              <a:t>ADMM.</a:t>
            </a:r>
            <a:endParaRPr sz="9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15"/>
              </a:spcBef>
            </a:pPr>
            <a:r>
              <a:rPr sz="900" spc="-20" dirty="0">
                <a:latin typeface="Arial Black" panose="020B0A04020102020204" pitchFamily="34" charset="0"/>
                <a:cs typeface="Arial Black"/>
              </a:rPr>
              <a:t>Lagrangian</a:t>
            </a:r>
            <a:r>
              <a:rPr sz="900" spc="-20" dirty="0">
                <a:latin typeface="Tahoma"/>
                <a:cs typeface="Tahoma"/>
              </a:rPr>
              <a:t>: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1999" y="2439593"/>
            <a:ext cx="31750" cy="11430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52232" y="2439593"/>
            <a:ext cx="31750" cy="1143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1179" y="2439593"/>
            <a:ext cx="31750" cy="11430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51215" y="2439593"/>
            <a:ext cx="31750" cy="114300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3213074" y="2496845"/>
            <a:ext cx="60325" cy="0"/>
          </a:xfrm>
          <a:custGeom>
            <a:avLst/>
            <a:gdLst/>
            <a:ahLst/>
            <a:cxnLst/>
            <a:rect l="l" t="t" r="r" b="b"/>
            <a:pathLst>
              <a:path w="60325">
                <a:moveTo>
                  <a:pt x="0" y="0"/>
                </a:moveTo>
                <a:lnTo>
                  <a:pt x="60286" y="0"/>
                </a:lnTo>
              </a:path>
            </a:pathLst>
          </a:custGeom>
          <a:ln w="4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201250" y="2475974"/>
            <a:ext cx="844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Tahoma"/>
                <a:cs typeface="Tahoma"/>
              </a:rPr>
              <a:t>2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1250" y="2439593"/>
            <a:ext cx="31750" cy="11430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52545" y="2439593"/>
            <a:ext cx="31750" cy="11430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735736" y="2398745"/>
            <a:ext cx="3136900" cy="17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ts val="770"/>
              </a:lnSpc>
              <a:spcBef>
                <a:spcPts val="95"/>
              </a:spcBef>
              <a:tabLst>
                <a:tab pos="1413510" algn="l"/>
              </a:tabLst>
            </a:pPr>
            <a:r>
              <a:rPr sz="900" i="1" dirty="0">
                <a:latin typeface="Arial"/>
                <a:cs typeface="Arial"/>
              </a:rPr>
              <a:t>L</a:t>
            </a:r>
            <a:r>
              <a:rPr sz="900" i="1" spc="42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44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5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5" dirty="0">
                <a:latin typeface="Cambria"/>
                <a:cs typeface="Cambria"/>
              </a:rPr>
              <a:t> </a:t>
            </a:r>
            <a:r>
              <a:rPr sz="900" i="1" dirty="0">
                <a:latin typeface="Arial"/>
                <a:cs typeface="Arial"/>
              </a:rPr>
              <a:t>RX</a:t>
            </a:r>
            <a:r>
              <a:rPr sz="900" i="1" spc="204" dirty="0">
                <a:latin typeface="Arial"/>
                <a:cs typeface="Arial"/>
              </a:rPr>
              <a:t> </a:t>
            </a:r>
            <a:r>
              <a:rPr sz="900" baseline="41666" dirty="0">
                <a:latin typeface="Tahoma"/>
                <a:cs typeface="Tahoma"/>
              </a:rPr>
              <a:t>2</a:t>
            </a:r>
            <a:r>
              <a:rPr sz="900" spc="165" baseline="41666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spc="120" dirty="0">
                <a:latin typeface="Calibri"/>
                <a:cs typeface="Calibri"/>
              </a:rPr>
              <a:t>λ</a:t>
            </a:r>
            <a:r>
              <a:rPr sz="900" i="1" spc="200" dirty="0">
                <a:latin typeface="Calibri"/>
                <a:cs typeface="Calibri"/>
              </a:rPr>
              <a:t>  </a:t>
            </a:r>
            <a:r>
              <a:rPr sz="900" i="1" spc="-5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6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tr(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baseline="41666" dirty="0">
                <a:latin typeface="Arial"/>
                <a:cs typeface="Arial"/>
              </a:rPr>
              <a:t>T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40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20" dirty="0">
                <a:latin typeface="Cambria"/>
                <a:cs typeface="Cambria"/>
              </a:rPr>
              <a:t> 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dirty="0">
                <a:latin typeface="Tahoma"/>
                <a:cs typeface="Tahoma"/>
              </a:rPr>
              <a:t>))</a:t>
            </a:r>
            <a:r>
              <a:rPr sz="900" spc="-60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+ </a:t>
            </a:r>
            <a:r>
              <a:rPr sz="1350" i="1" baseline="37037" dirty="0">
                <a:latin typeface="Calibri"/>
                <a:cs typeface="Calibri"/>
              </a:rPr>
              <a:t>ρ</a:t>
            </a:r>
            <a:r>
              <a:rPr sz="1350" i="1" spc="622" baseline="37037" dirty="0">
                <a:latin typeface="Calibri"/>
                <a:cs typeface="Calibri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20" dirty="0">
                <a:latin typeface="Cambria"/>
                <a:cs typeface="Cambria"/>
              </a:rPr>
              <a:t> 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i="1" spc="240" dirty="0">
                <a:latin typeface="Arial"/>
                <a:cs typeface="Arial"/>
              </a:rPr>
              <a:t> </a:t>
            </a:r>
            <a:r>
              <a:rPr sz="900" spc="-15" baseline="41666" dirty="0">
                <a:latin typeface="Tahoma"/>
                <a:cs typeface="Tahoma"/>
              </a:rPr>
              <a:t>2</a:t>
            </a:r>
            <a:r>
              <a:rPr sz="900" spc="-127" baseline="41666" dirty="0">
                <a:latin typeface="Tahoma"/>
                <a:cs typeface="Tahoma"/>
              </a:rPr>
              <a:t> </a:t>
            </a:r>
            <a:r>
              <a:rPr sz="900" i="1" spc="-50" dirty="0">
                <a:latin typeface="Calibri"/>
                <a:cs typeface="Calibri"/>
              </a:rPr>
              <a:t>.</a:t>
            </a:r>
            <a:endParaRPr sz="900">
              <a:latin typeface="Calibri"/>
              <a:cs typeface="Calibri"/>
            </a:endParaRPr>
          </a:p>
          <a:p>
            <a:pPr marL="24765" algn="ctr">
              <a:lnSpc>
                <a:spcPts val="409"/>
              </a:lnSpc>
              <a:tabLst>
                <a:tab pos="734060" algn="l"/>
                <a:tab pos="998219" algn="l"/>
                <a:tab pos="1233170" algn="l"/>
                <a:tab pos="2834640" algn="l"/>
              </a:tabLst>
            </a:pPr>
            <a:r>
              <a:rPr sz="900" i="1" spc="44" baseline="4629" dirty="0">
                <a:latin typeface="Calibri"/>
                <a:cs typeface="Calibri"/>
              </a:rPr>
              <a:t>ρ</a:t>
            </a:r>
            <a:r>
              <a:rPr sz="900" i="1" baseline="4629" dirty="0">
                <a:latin typeface="Calibri"/>
                <a:cs typeface="Calibri"/>
              </a:rPr>
              <a:t>	</a:t>
            </a:r>
            <a:r>
              <a:rPr sz="600" i="1" spc="-50" dirty="0">
                <a:latin typeface="Arial"/>
                <a:cs typeface="Arial"/>
              </a:rPr>
              <a:t>F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900" spc="-75" baseline="4629" dirty="0">
                <a:latin typeface="Tahoma"/>
                <a:cs typeface="Tahoma"/>
              </a:rPr>
              <a:t>1</a:t>
            </a:r>
            <a:r>
              <a:rPr sz="900" baseline="4629" dirty="0">
                <a:latin typeface="Tahoma"/>
                <a:cs typeface="Tahoma"/>
              </a:rPr>
              <a:t>	</a:t>
            </a:r>
            <a:r>
              <a:rPr sz="900" spc="-37" baseline="4629" dirty="0">
                <a:latin typeface="Tahoma"/>
                <a:cs typeface="Tahoma"/>
              </a:rPr>
              <a:t>2</a:t>
            </a:r>
            <a:r>
              <a:rPr sz="900" i="1" spc="-37" baseline="4629" dirty="0">
                <a:latin typeface="Calibri"/>
                <a:cs typeface="Calibri"/>
              </a:rPr>
              <a:t>,</a:t>
            </a:r>
            <a:r>
              <a:rPr sz="900" spc="-37" baseline="4629" dirty="0">
                <a:latin typeface="Tahoma"/>
                <a:cs typeface="Tahoma"/>
              </a:rPr>
              <a:t>1</a:t>
            </a:r>
            <a:r>
              <a:rPr sz="900" baseline="4629" dirty="0">
                <a:latin typeface="Tahoma"/>
                <a:cs typeface="Tahoma"/>
              </a:rPr>
              <a:t>	</a:t>
            </a:r>
            <a:r>
              <a:rPr sz="600" i="1" spc="-50" dirty="0"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39710" y="3334738"/>
            <a:ext cx="204470" cy="111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zation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23276" y="3322038"/>
            <a:ext cx="152971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Document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Summarization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via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Sparse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Optimi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August</a:t>
            </a:r>
            <a:r>
              <a:rPr spc="-5" dirty="0"/>
              <a:t> </a:t>
            </a:r>
            <a:r>
              <a:rPr dirty="0"/>
              <a:t>23,</a:t>
            </a:r>
            <a:r>
              <a:rPr spc="10" dirty="0"/>
              <a:t> </a:t>
            </a:r>
            <a:r>
              <a:rPr spc="-20" dirty="0"/>
              <a:t>2025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12</a:t>
            </a:fld>
            <a:r>
              <a:rPr spc="-90" dirty="0"/>
              <a:t> </a:t>
            </a:r>
            <a:r>
              <a:rPr spc="90" dirty="0"/>
              <a:t>/</a:t>
            </a:r>
            <a:r>
              <a:rPr spc="-90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437070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5" dirty="0"/>
              <a:t> </a:t>
            </a:r>
            <a:r>
              <a:rPr dirty="0"/>
              <a:t>X-Update</a:t>
            </a:r>
            <a:r>
              <a:rPr spc="-60" dirty="0"/>
              <a:t> </a:t>
            </a:r>
            <a:endParaRPr spc="-20" dirty="0"/>
          </a:p>
        </p:txBody>
      </p:sp>
      <p:sp>
        <p:nvSpPr>
          <p:cNvPr id="4" name="object 4"/>
          <p:cNvSpPr txBox="1"/>
          <p:nvPr/>
        </p:nvSpPr>
        <p:spPr>
          <a:xfrm>
            <a:off x="1227353" y="874285"/>
            <a:ext cx="469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j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27353" y="796968"/>
            <a:ext cx="5067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8784" algn="l"/>
              </a:tabLst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9121" y="813709"/>
            <a:ext cx="90360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1780" algn="l"/>
              </a:tabLst>
            </a:pPr>
            <a:r>
              <a:rPr sz="900" i="1" spc="-50" dirty="0">
                <a:latin typeface="Arial"/>
                <a:cs typeface="Arial"/>
              </a:rPr>
              <a:t>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7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215" dirty="0">
                <a:latin typeface="Arial"/>
                <a:cs typeface="Arial"/>
              </a:rPr>
              <a:t> </a:t>
            </a:r>
            <a:r>
              <a:rPr sz="900" i="1" spc="-65" dirty="0">
                <a:latin typeface="Arial"/>
                <a:cs typeface="Arial"/>
              </a:rPr>
              <a:t>R</a:t>
            </a:r>
            <a:r>
              <a:rPr sz="900" i="1" spc="-50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spc="-25" dirty="0">
                <a:latin typeface="Calibri"/>
                <a:cs typeface="Calibri"/>
              </a:rPr>
              <a:t>ρ</a:t>
            </a:r>
            <a:r>
              <a:rPr sz="900" i="1" spc="-25" dirty="0">
                <a:latin typeface="Arial"/>
                <a:cs typeface="Arial"/>
              </a:rPr>
              <a:t>I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72335" y="796968"/>
            <a:ext cx="10699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3365" algn="l"/>
                <a:tab pos="747395" algn="l"/>
                <a:tab pos="1016635" algn="l"/>
              </a:tabLst>
            </a:pPr>
            <a:r>
              <a:rPr sz="600" i="1" spc="-25" dirty="0">
                <a:latin typeface="Verdana"/>
                <a:cs typeface="Verdana"/>
              </a:rPr>
              <a:t>−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15" dirty="0">
                <a:latin typeface="Arial"/>
                <a:cs typeface="Arial"/>
              </a:rPr>
              <a:t>T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50" dirty="0">
                <a:latin typeface="Arial"/>
                <a:cs typeface="Arial"/>
              </a:rPr>
              <a:t>k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50" dirty="0"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807639" y="871695"/>
            <a:ext cx="316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305" algn="l"/>
              </a:tabLst>
            </a:pPr>
            <a:r>
              <a:rPr sz="600" i="1" spc="-50" dirty="0">
                <a:latin typeface="Arial"/>
                <a:cs typeface="Arial"/>
              </a:rPr>
              <a:t>j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50" dirty="0">
                <a:latin typeface="Arial"/>
                <a:cs typeface="Arial"/>
              </a:rPr>
              <a:t>j</a:t>
            </a:r>
            <a:endParaRPr sz="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01418" y="826358"/>
            <a:ext cx="14960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baseline="6172" dirty="0">
                <a:latin typeface="Tahoma"/>
                <a:cs typeface="Tahoma"/>
              </a:rPr>
              <a:t>)</a:t>
            </a:r>
            <a:r>
              <a:rPr sz="1350" spc="292" baseline="6172" dirty="0">
                <a:latin typeface="Tahoma"/>
                <a:cs typeface="Tahoma"/>
              </a:rPr>
              <a:t>  </a:t>
            </a:r>
            <a:r>
              <a:rPr sz="1350" baseline="6172" dirty="0">
                <a:latin typeface="Tahoma"/>
                <a:cs typeface="Tahoma"/>
              </a:rPr>
              <a:t>(</a:t>
            </a:r>
            <a:r>
              <a:rPr sz="1350" i="1" baseline="6172" dirty="0">
                <a:latin typeface="Arial"/>
                <a:cs typeface="Arial"/>
              </a:rPr>
              <a:t>R</a:t>
            </a:r>
            <a:r>
              <a:rPr sz="1350" i="1" spc="359" baseline="6172" dirty="0">
                <a:latin typeface="Arial"/>
                <a:cs typeface="Arial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D</a:t>
            </a:r>
            <a:r>
              <a:rPr sz="600" i="1" dirty="0">
                <a:latin typeface="Arial"/>
                <a:cs typeface="Arial"/>
              </a:rPr>
              <a:t>j</a:t>
            </a:r>
            <a:r>
              <a:rPr sz="600" i="1" spc="85" dirty="0">
                <a:latin typeface="Arial"/>
                <a:cs typeface="Arial"/>
              </a:rPr>
              <a:t> </a:t>
            </a:r>
            <a:r>
              <a:rPr sz="1350" spc="97" baseline="6172" dirty="0">
                <a:latin typeface="Tahoma"/>
                <a:cs typeface="Tahoma"/>
              </a:rPr>
              <a:t>+</a:t>
            </a:r>
            <a:r>
              <a:rPr sz="1350" spc="-112" baseline="6172" dirty="0">
                <a:latin typeface="Tahoma"/>
                <a:cs typeface="Tahoma"/>
              </a:rPr>
              <a:t> </a:t>
            </a:r>
            <a:r>
              <a:rPr sz="1350" i="1" baseline="6172" dirty="0">
                <a:latin typeface="Calibri"/>
                <a:cs typeface="Calibri"/>
              </a:rPr>
              <a:t>ρ</a:t>
            </a:r>
            <a:r>
              <a:rPr sz="1350" baseline="6172" dirty="0">
                <a:latin typeface="Tahoma"/>
                <a:cs typeface="Tahoma"/>
              </a:rPr>
              <a:t>(</a:t>
            </a:r>
            <a:r>
              <a:rPr sz="1350" i="1" baseline="6172" dirty="0">
                <a:latin typeface="Arial"/>
                <a:cs typeface="Arial"/>
              </a:rPr>
              <a:t>Z</a:t>
            </a:r>
            <a:r>
              <a:rPr sz="1350" i="1" spc="472" baseline="6172" dirty="0">
                <a:latin typeface="Arial"/>
                <a:cs typeface="Arial"/>
              </a:rPr>
              <a:t> </a:t>
            </a:r>
            <a:r>
              <a:rPr sz="1350" spc="322" baseline="6172" dirty="0">
                <a:latin typeface="Cambria"/>
                <a:cs typeface="Cambria"/>
              </a:rPr>
              <a:t>−</a:t>
            </a:r>
            <a:r>
              <a:rPr sz="1350" spc="15" baseline="6172" dirty="0">
                <a:latin typeface="Cambria"/>
                <a:cs typeface="Cambria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U</a:t>
            </a:r>
            <a:r>
              <a:rPr sz="1350" i="1" spc="172" baseline="6172" dirty="0">
                <a:latin typeface="Arial"/>
                <a:cs typeface="Arial"/>
              </a:rPr>
              <a:t> </a:t>
            </a:r>
            <a:r>
              <a:rPr sz="1350" baseline="6172" dirty="0">
                <a:latin typeface="Tahoma"/>
                <a:cs typeface="Tahoma"/>
              </a:rPr>
              <a:t>))</a:t>
            </a:r>
            <a:r>
              <a:rPr sz="1350" i="1" baseline="6172" dirty="0">
                <a:latin typeface="Calibri"/>
                <a:cs typeface="Calibri"/>
              </a:rPr>
              <a:t>,</a:t>
            </a:r>
            <a:r>
              <a:rPr sz="1350" i="1" spc="382" baseline="6172" dirty="0">
                <a:latin typeface="Calibri"/>
                <a:cs typeface="Calibri"/>
              </a:rPr>
              <a:t> </a:t>
            </a:r>
            <a:r>
              <a:rPr sz="1350" spc="-37" baseline="6172" dirty="0">
                <a:latin typeface="Cambria"/>
                <a:cs typeface="Cambria"/>
              </a:rPr>
              <a:t>∀</a:t>
            </a:r>
            <a:r>
              <a:rPr sz="1350" i="1" spc="-37" baseline="6172" dirty="0">
                <a:latin typeface="Arial"/>
                <a:cs typeface="Arial"/>
              </a:rPr>
              <a:t>j</a:t>
            </a:r>
            <a:r>
              <a:rPr sz="1350" i="1" spc="-37" baseline="6172" dirty="0">
                <a:latin typeface="Calibri"/>
                <a:cs typeface="Calibri"/>
              </a:rPr>
              <a:t>.</a:t>
            </a:r>
            <a:endParaRPr sz="1350" baseline="6172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7372" y="993081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37831" y="993081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7372" y="1070399"/>
            <a:ext cx="6870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3095" algn="l"/>
              </a:tabLst>
            </a:pPr>
            <a:r>
              <a:rPr sz="600" i="1" spc="-25" dirty="0">
                <a:latin typeface="Arial"/>
                <a:cs typeface="Arial"/>
              </a:rPr>
              <a:t>ij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25" dirty="0">
                <a:latin typeface="Arial"/>
                <a:cs typeface="Arial"/>
              </a:rPr>
              <a:t>ij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5844" y="1003498"/>
            <a:ext cx="129730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4835" algn="l"/>
                <a:tab pos="1172845" algn="l"/>
              </a:tabLst>
            </a:pPr>
            <a:r>
              <a:rPr sz="900" dirty="0">
                <a:latin typeface="Tahoma"/>
                <a:cs typeface="Tahoma"/>
              </a:rPr>
              <a:t>Then:</a:t>
            </a:r>
            <a:r>
              <a:rPr sz="900" spc="55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max</a:t>
            </a:r>
            <a:r>
              <a:rPr sz="900" spc="-20" dirty="0">
                <a:latin typeface="Cambria"/>
                <a:cs typeface="Cambria"/>
              </a:rPr>
              <a:t>{</a:t>
            </a:r>
            <a:r>
              <a:rPr sz="900" i="1" spc="-20" dirty="0">
                <a:latin typeface="Arial"/>
                <a:cs typeface="Arial"/>
              </a:rPr>
              <a:t>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i="1" dirty="0">
                <a:latin typeface="Calibri"/>
                <a:cs typeface="Calibri"/>
              </a:rPr>
              <a:t>,</a:t>
            </a:r>
            <a:r>
              <a:rPr sz="900" i="1" spc="-25" dirty="0">
                <a:latin typeface="Calibri"/>
                <a:cs typeface="Calibri"/>
              </a:rPr>
              <a:t> </a:t>
            </a:r>
            <a:r>
              <a:rPr sz="900" spc="-50" dirty="0">
                <a:latin typeface="Tahoma"/>
                <a:cs typeface="Tahoma"/>
              </a:rPr>
              <a:t>0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97152" y="1003498"/>
            <a:ext cx="116839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5" dirty="0">
                <a:latin typeface="Cambria"/>
                <a:cs typeface="Cambria"/>
              </a:rPr>
              <a:t>}</a:t>
            </a:r>
            <a:r>
              <a:rPr sz="900" spc="-25" dirty="0"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0444" y="1173767"/>
            <a:ext cx="4382135" cy="40716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ts val="1040"/>
              </a:lnSpc>
            </a:pPr>
            <a:endParaRPr lang="en-US" sz="900" dirty="0">
              <a:latin typeface="Tahoma"/>
              <a:cs typeface="Tahoma"/>
            </a:endParaRPr>
          </a:p>
          <a:p>
            <a:pPr marL="38100">
              <a:lnSpc>
                <a:spcPts val="1040"/>
              </a:lnSpc>
            </a:pPr>
            <a:r>
              <a:rPr sz="900" dirty="0">
                <a:latin typeface="Tahoma"/>
                <a:cs typeface="Tahoma"/>
              </a:rPr>
              <a:t>Picks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25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-10" dirty="0">
                <a:latin typeface="Tahoma"/>
                <a:cs typeface="Tahoma"/>
              </a:rPr>
              <a:t> rebuild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sentences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with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words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dirty="0">
                <a:latin typeface="Tahoma"/>
                <a:cs typeface="Tahoma"/>
              </a:rPr>
              <a:t>.</a:t>
            </a:r>
            <a:r>
              <a:rPr sz="900" spc="8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Like</a:t>
            </a:r>
            <a:r>
              <a:rPr sz="900" spc="-10" dirty="0">
                <a:latin typeface="Tahoma"/>
                <a:cs typeface="Tahoma"/>
              </a:rPr>
              <a:t> choosing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sentences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with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selected</a:t>
            </a:r>
            <a:endParaRPr sz="900" dirty="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15"/>
              </a:spcBef>
            </a:pPr>
            <a:r>
              <a:rPr sz="900" spc="-10" dirty="0">
                <a:latin typeface="Tahoma"/>
                <a:cs typeface="Tahoma"/>
              </a:rPr>
              <a:t>words.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35087" y="1619491"/>
            <a:ext cx="31750" cy="11430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75320" y="1619491"/>
            <a:ext cx="31750" cy="11430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908441" y="1639918"/>
            <a:ext cx="71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2131847" y="1676743"/>
            <a:ext cx="48895" cy="0"/>
          </a:xfrm>
          <a:custGeom>
            <a:avLst/>
            <a:gdLst/>
            <a:ahLst/>
            <a:cxnLst/>
            <a:rect l="l" t="t" r="r" b="b"/>
            <a:pathLst>
              <a:path w="48894">
                <a:moveTo>
                  <a:pt x="0" y="0"/>
                </a:moveTo>
                <a:lnTo>
                  <a:pt x="48514" y="0"/>
                </a:lnTo>
              </a:path>
            </a:pathLst>
          </a:custGeom>
          <a:ln w="4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2123249" y="1655247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22" name="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8250" y="1619491"/>
            <a:ext cx="31750" cy="114300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05277" y="1619491"/>
            <a:ext cx="31750" cy="11430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1908441" y="1568226"/>
            <a:ext cx="7962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22885" algn="l"/>
                <a:tab pos="638175" algn="l"/>
              </a:tabLst>
            </a:pPr>
            <a:r>
              <a:rPr sz="600" spc="-50" dirty="0">
                <a:latin typeface="Tahoma"/>
                <a:cs typeface="Tahoma"/>
              </a:rPr>
              <a:t>2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30" dirty="0">
                <a:latin typeface="Calibri"/>
                <a:cs typeface="Calibri"/>
              </a:rPr>
              <a:t>ρ</a:t>
            </a:r>
            <a:r>
              <a:rPr sz="600" i="1" dirty="0">
                <a:latin typeface="Calibri"/>
                <a:cs typeface="Calibri"/>
              </a:rPr>
              <a:t>	</a:t>
            </a:r>
            <a:r>
              <a:rPr sz="600" i="1" dirty="0">
                <a:latin typeface="Arial"/>
                <a:cs typeface="Arial"/>
              </a:rPr>
              <a:t>k</a:t>
            </a:r>
            <a:r>
              <a:rPr sz="600" i="1" spc="340" dirty="0">
                <a:latin typeface="Arial"/>
                <a:cs typeface="Arial"/>
              </a:rPr>
              <a:t> </a:t>
            </a: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638399" y="1639918"/>
            <a:ext cx="71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25844" y="1578643"/>
            <a:ext cx="2623185" cy="150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73250" algn="l"/>
                <a:tab pos="2127885" algn="l"/>
                <a:tab pos="2577465" algn="l"/>
              </a:tabLst>
            </a:pPr>
            <a:r>
              <a:rPr sz="900" spc="-80" dirty="0">
                <a:latin typeface="+mj-lt"/>
                <a:cs typeface="Arial Black"/>
              </a:rPr>
              <a:t>Optimization</a:t>
            </a:r>
            <a:r>
              <a:rPr sz="900" spc="-80" dirty="0">
                <a:latin typeface="Tahoma"/>
                <a:cs typeface="Tahoma"/>
              </a:rPr>
              <a:t>:</a:t>
            </a:r>
            <a:r>
              <a:rPr sz="900" spc="1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Minimizes</a:t>
            </a:r>
            <a:r>
              <a:rPr sz="900" spc="49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50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5" dirty="0">
                <a:latin typeface="Cambria"/>
                <a:cs typeface="Cambria"/>
              </a:rPr>
              <a:t> </a:t>
            </a:r>
            <a:r>
              <a:rPr sz="900" i="1" spc="-35" dirty="0">
                <a:latin typeface="Arial"/>
                <a:cs typeface="Arial"/>
              </a:rPr>
              <a:t>RX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15" dirty="0">
                <a:latin typeface="Tahoma"/>
                <a:cs typeface="Tahoma"/>
              </a:rPr>
              <a:t>+</a:t>
            </a:r>
            <a:r>
              <a:rPr sz="900" dirty="0">
                <a:latin typeface="Tahoma"/>
                <a:cs typeface="Tahoma"/>
              </a:rPr>
              <a:t>	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10" dirty="0">
                <a:latin typeface="Cambria"/>
                <a:cs typeface="Cambria"/>
              </a:rPr>
              <a:t> </a:t>
            </a:r>
            <a:r>
              <a:rPr sz="900" i="1" spc="-5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-50" dirty="0">
                <a:latin typeface="Tahoma"/>
                <a:cs typeface="Tahoma"/>
              </a:rPr>
              <a:t>.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25844" y="1717822"/>
            <a:ext cx="596900" cy="150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80" dirty="0">
                <a:latin typeface="+mj-lt"/>
                <a:cs typeface="Arial Black"/>
              </a:rPr>
              <a:t>Derivation</a:t>
            </a:r>
            <a:r>
              <a:rPr sz="900" spc="-80" dirty="0">
                <a:latin typeface="Tahoma"/>
                <a:cs typeface="Tahoma"/>
              </a:rPr>
              <a:t>: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165" y="1966455"/>
            <a:ext cx="65201" cy="65201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1264" y="1948459"/>
            <a:ext cx="31750" cy="114300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1497" y="1948459"/>
            <a:ext cx="31750" cy="114300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1804619" y="1968886"/>
            <a:ext cx="71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804619" y="1897194"/>
            <a:ext cx="10052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1645" algn="l"/>
                <a:tab pos="952500" algn="l"/>
              </a:tabLst>
            </a:pPr>
            <a:r>
              <a:rPr sz="600" spc="-50" dirty="0">
                <a:latin typeface="Tahoma"/>
                <a:cs typeface="Tahoma"/>
              </a:rPr>
              <a:t>2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dirty="0">
                <a:latin typeface="Arial"/>
                <a:cs typeface="Arial"/>
              </a:rPr>
              <a:t>k</a:t>
            </a:r>
            <a:r>
              <a:rPr sz="600" i="1" spc="235" dirty="0">
                <a:latin typeface="Arial"/>
                <a:cs typeface="Arial"/>
              </a:rPr>
              <a:t> </a:t>
            </a:r>
            <a:r>
              <a:rPr sz="600" i="1" spc="15" dirty="0">
                <a:latin typeface="Arial"/>
                <a:cs typeface="Arial"/>
              </a:rPr>
              <a:t>T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50" dirty="0"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39859" y="1895124"/>
            <a:ext cx="7429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30" dirty="0">
                <a:latin typeface="Calibri"/>
                <a:cs typeface="Calibri"/>
              </a:rPr>
              <a:t>ρ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052559" y="2005711"/>
            <a:ext cx="48895" cy="0"/>
          </a:xfrm>
          <a:custGeom>
            <a:avLst/>
            <a:gdLst/>
            <a:ahLst/>
            <a:cxnLst/>
            <a:rect l="l" t="t" r="r" b="b"/>
            <a:pathLst>
              <a:path w="48894">
                <a:moveTo>
                  <a:pt x="0" y="0"/>
                </a:moveTo>
                <a:lnTo>
                  <a:pt x="48513" y="0"/>
                </a:lnTo>
              </a:path>
            </a:pathLst>
          </a:custGeom>
          <a:ln w="480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3043961" y="1984202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36" name="object 3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8949" y="1948459"/>
            <a:ext cx="31750" cy="114300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5977" y="1948459"/>
            <a:ext cx="31750" cy="114300"/>
          </a:xfrm>
          <a:prstGeom prst="rect">
            <a:avLst/>
          </a:prstGeom>
        </p:spPr>
      </p:pic>
      <p:sp>
        <p:nvSpPr>
          <p:cNvPr id="38" name="object 38"/>
          <p:cNvSpPr txBox="1"/>
          <p:nvPr/>
        </p:nvSpPr>
        <p:spPr>
          <a:xfrm>
            <a:off x="3454857" y="1897194"/>
            <a:ext cx="1701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dirty="0">
                <a:latin typeface="Arial"/>
                <a:cs typeface="Arial"/>
              </a:rPr>
              <a:t>k</a:t>
            </a:r>
            <a:r>
              <a:rPr sz="600" i="1" spc="340" dirty="0">
                <a:latin typeface="Arial"/>
                <a:cs typeface="Arial"/>
              </a:rPr>
              <a:t> </a:t>
            </a:r>
            <a:r>
              <a:rPr sz="600" spc="-6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559098" y="1968886"/>
            <a:ext cx="717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77532" y="1907611"/>
            <a:ext cx="331787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517650" algn="l"/>
                <a:tab pos="2797175" algn="l"/>
                <a:tab pos="3246120" algn="l"/>
              </a:tabLst>
            </a:pPr>
            <a:r>
              <a:rPr sz="900" spc="-10" dirty="0">
                <a:latin typeface="Tahoma"/>
                <a:cs typeface="Tahoma"/>
              </a:rPr>
              <a:t>Lagrangian:</a:t>
            </a:r>
            <a:r>
              <a:rPr sz="900" spc="10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L</a:t>
            </a:r>
            <a:r>
              <a:rPr sz="900" i="1" baseline="-9259" dirty="0">
                <a:latin typeface="Arial"/>
                <a:cs typeface="Arial"/>
              </a:rPr>
              <a:t>X</a:t>
            </a:r>
            <a:r>
              <a:rPr sz="900" i="1" spc="172" baseline="-9259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409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60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-5" dirty="0">
                <a:latin typeface="Cambria"/>
                <a:cs typeface="Cambria"/>
              </a:rPr>
              <a:t> </a:t>
            </a:r>
            <a:r>
              <a:rPr sz="900" i="1" spc="-25" dirty="0">
                <a:latin typeface="Arial"/>
                <a:cs typeface="Arial"/>
              </a:rPr>
              <a:t>RX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7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tr((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spc="120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)</a:t>
            </a:r>
            <a:r>
              <a:rPr sz="900" spc="2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15" dirty="0">
                <a:latin typeface="Cambria"/>
                <a:cs typeface="Cambria"/>
              </a:rPr>
              <a:t> 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i="1" spc="120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))</a:t>
            </a:r>
            <a:r>
              <a:rPr sz="900" spc="-75" dirty="0">
                <a:latin typeface="Tahoma"/>
                <a:cs typeface="Tahoma"/>
              </a:rPr>
              <a:t> </a:t>
            </a:r>
            <a:r>
              <a:rPr sz="900" spc="15" dirty="0">
                <a:latin typeface="Tahoma"/>
                <a:cs typeface="Tahoma"/>
              </a:rPr>
              <a:t>+</a:t>
            </a:r>
            <a:r>
              <a:rPr sz="900" dirty="0">
                <a:latin typeface="Tahoma"/>
                <a:cs typeface="Tahoma"/>
              </a:rPr>
              <a:t>	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4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10" dirty="0">
                <a:latin typeface="Cambria"/>
                <a:cs typeface="Cambria"/>
              </a:rPr>
              <a:t> </a:t>
            </a:r>
            <a:r>
              <a:rPr sz="900" i="1" spc="-5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-50" dirty="0"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1" name="object 4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2169414"/>
            <a:ext cx="65201" cy="65201"/>
          </a:xfrm>
          <a:prstGeom prst="rect">
            <a:avLst/>
          </a:prstGeom>
        </p:spPr>
      </p:pic>
      <p:sp>
        <p:nvSpPr>
          <p:cNvPr id="42" name="object 42"/>
          <p:cNvSpPr txBox="1"/>
          <p:nvPr/>
        </p:nvSpPr>
        <p:spPr>
          <a:xfrm>
            <a:off x="377532" y="2057429"/>
            <a:ext cx="2814955" cy="40513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15"/>
              </a:spcBef>
            </a:pPr>
            <a:r>
              <a:rPr sz="900" spc="-10" dirty="0">
                <a:latin typeface="Tahoma"/>
                <a:cs typeface="Tahoma"/>
              </a:rPr>
              <a:t>Gradient:</a:t>
            </a:r>
            <a:r>
              <a:rPr sz="900" spc="155" dirty="0">
                <a:latin typeface="Tahoma"/>
                <a:cs typeface="Tahoma"/>
              </a:rPr>
              <a:t> </a:t>
            </a:r>
            <a:r>
              <a:rPr sz="900" spc="75" dirty="0">
                <a:latin typeface="Cambria"/>
                <a:cs typeface="Cambria"/>
              </a:rPr>
              <a:t>∇</a:t>
            </a:r>
            <a:r>
              <a:rPr sz="900" i="1" spc="112" baseline="-9259" dirty="0">
                <a:latin typeface="Arial"/>
                <a:cs typeface="Arial"/>
              </a:rPr>
              <a:t>X</a:t>
            </a:r>
            <a:r>
              <a:rPr sz="900" i="1" spc="75" dirty="0">
                <a:latin typeface="Arial"/>
                <a:cs typeface="Arial"/>
              </a:rPr>
              <a:t>L</a:t>
            </a:r>
            <a:r>
              <a:rPr sz="900" i="1" spc="112" baseline="-9259" dirty="0">
                <a:latin typeface="Arial"/>
                <a:cs typeface="Arial"/>
              </a:rPr>
              <a:t>X</a:t>
            </a:r>
            <a:r>
              <a:rPr sz="900" i="1" spc="232" baseline="-9259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Cambria"/>
                <a:cs typeface="Cambria"/>
              </a:rPr>
              <a:t>−</a:t>
            </a:r>
            <a:r>
              <a:rPr sz="900" dirty="0">
                <a:latin typeface="Tahoma"/>
                <a:cs typeface="Tahoma"/>
              </a:rPr>
              <a:t>2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baseline="37037" dirty="0">
                <a:latin typeface="Arial"/>
                <a:cs typeface="Arial"/>
              </a:rPr>
              <a:t>T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6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2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baseline="37037" dirty="0">
                <a:latin typeface="Arial"/>
                <a:cs typeface="Arial"/>
              </a:rPr>
              <a:t>T</a:t>
            </a:r>
            <a:r>
              <a:rPr sz="900" i="1" dirty="0">
                <a:latin typeface="Arial"/>
                <a:cs typeface="Arial"/>
              </a:rPr>
              <a:t>RX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6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baseline="37037" dirty="0">
                <a:latin typeface="Arial"/>
                <a:cs typeface="Arial"/>
              </a:rPr>
              <a:t>k</a:t>
            </a:r>
            <a:r>
              <a:rPr sz="900" i="1" spc="150" baseline="37037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65" dirty="0">
                <a:latin typeface="Tahoma"/>
                <a:cs typeface="Tahoma"/>
              </a:rPr>
              <a:t> </a:t>
            </a:r>
            <a:r>
              <a:rPr sz="900" i="1" dirty="0">
                <a:latin typeface="Calibri"/>
                <a:cs typeface="Calibri"/>
              </a:rPr>
              <a:t>ρ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spc="-3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20" dirty="0">
                <a:latin typeface="Cambria"/>
                <a:cs typeface="Cambria"/>
              </a:rPr>
              <a:t> </a:t>
            </a:r>
            <a:r>
              <a:rPr sz="900" i="1" spc="-20" dirty="0">
                <a:latin typeface="Arial"/>
                <a:cs typeface="Arial"/>
              </a:rPr>
              <a:t>Z</a:t>
            </a:r>
            <a:r>
              <a:rPr sz="900" i="1" spc="-30" baseline="37037" dirty="0">
                <a:latin typeface="Arial"/>
                <a:cs typeface="Arial"/>
              </a:rPr>
              <a:t>k</a:t>
            </a:r>
            <a:r>
              <a:rPr sz="900" spc="-20" dirty="0">
                <a:latin typeface="Tahoma"/>
                <a:cs typeface="Tahoma"/>
              </a:rPr>
              <a:t>).</a:t>
            </a:r>
            <a:endParaRPr sz="900">
              <a:latin typeface="Tahoma"/>
              <a:cs typeface="Tahoma"/>
            </a:endParaRPr>
          </a:p>
          <a:p>
            <a:pPr marL="38100">
              <a:lnSpc>
                <a:spcPct val="100000"/>
              </a:lnSpc>
              <a:spcBef>
                <a:spcPts val="414"/>
              </a:spcBef>
            </a:pPr>
            <a:r>
              <a:rPr sz="900" dirty="0">
                <a:latin typeface="Tahoma"/>
                <a:cs typeface="Tahoma"/>
              </a:rPr>
              <a:t>Set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zero:</a:t>
            </a:r>
            <a:r>
              <a:rPr sz="900" spc="1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(2</a:t>
            </a:r>
            <a:r>
              <a:rPr sz="900" i="1" spc="-10" dirty="0">
                <a:latin typeface="Arial"/>
                <a:cs typeface="Arial"/>
              </a:rPr>
              <a:t>R</a:t>
            </a:r>
            <a:r>
              <a:rPr sz="900" i="1" spc="-15" baseline="37037" dirty="0">
                <a:latin typeface="Arial"/>
                <a:cs typeface="Arial"/>
              </a:rPr>
              <a:t>T</a:t>
            </a:r>
            <a:r>
              <a:rPr sz="900" i="1" spc="-10" dirty="0">
                <a:latin typeface="Arial"/>
                <a:cs typeface="Arial"/>
              </a:rPr>
              <a:t>R</a:t>
            </a:r>
            <a:r>
              <a:rPr sz="900" i="1" spc="-50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dirty="0">
                <a:latin typeface="Calibri"/>
                <a:cs typeface="Calibri"/>
              </a:rPr>
              <a:t>ρ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900" dirty="0">
                <a:latin typeface="Tahoma"/>
                <a:cs typeface="Tahoma"/>
              </a:rPr>
              <a:t>)</a:t>
            </a:r>
            <a:r>
              <a:rPr sz="900" i="1" dirty="0">
                <a:latin typeface="Arial"/>
                <a:cs typeface="Arial"/>
              </a:rPr>
              <a:t>X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2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baseline="37037" dirty="0">
                <a:latin typeface="Arial"/>
                <a:cs typeface="Arial"/>
              </a:rPr>
              <a:t>T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55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dirty="0">
                <a:latin typeface="Calibri"/>
                <a:cs typeface="Calibri"/>
              </a:rPr>
              <a:t>ρ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i="1" baseline="37037" dirty="0">
                <a:latin typeface="Arial"/>
                <a:cs typeface="Arial"/>
              </a:rPr>
              <a:t>k</a:t>
            </a:r>
            <a:r>
              <a:rPr sz="900" i="1" spc="120" baseline="37037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5" dirty="0">
                <a:latin typeface="Cambria"/>
                <a:cs typeface="Cambria"/>
              </a:rPr>
              <a:t> </a:t>
            </a:r>
            <a:r>
              <a:rPr sz="900" i="1" spc="-25" dirty="0">
                <a:latin typeface="Arial"/>
                <a:cs typeface="Arial"/>
              </a:rPr>
              <a:t>U</a:t>
            </a:r>
            <a:r>
              <a:rPr sz="900" i="1" spc="-37" baseline="37037" dirty="0">
                <a:latin typeface="Arial"/>
                <a:cs typeface="Arial"/>
              </a:rPr>
              <a:t>k</a:t>
            </a:r>
            <a:r>
              <a:rPr sz="900" spc="-25" dirty="0"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2359202"/>
            <a:ext cx="65201" cy="65201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1165" y="2548991"/>
            <a:ext cx="65201" cy="65201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1120711" y="2479731"/>
            <a:ext cx="11671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38784" algn="l"/>
                <a:tab pos="857250" algn="l"/>
                <a:tab pos="1098550" algn="l"/>
              </a:tabLst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15" dirty="0">
                <a:latin typeface="Arial"/>
                <a:cs typeface="Arial"/>
              </a:rPr>
              <a:t>T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25" dirty="0">
                <a:latin typeface="Verdana"/>
                <a:cs typeface="Verdana"/>
              </a:rPr>
              <a:t>−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02932" y="2490147"/>
            <a:ext cx="19754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11225" algn="l"/>
              </a:tabLst>
            </a:pPr>
            <a:r>
              <a:rPr sz="900" dirty="0">
                <a:latin typeface="Tahoma"/>
                <a:cs typeface="Tahoma"/>
              </a:rPr>
              <a:t>Per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column:</a:t>
            </a:r>
            <a:r>
              <a:rPr sz="900" spc="60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5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215" dirty="0">
                <a:latin typeface="Arial"/>
                <a:cs typeface="Arial"/>
              </a:rPr>
              <a:t> </a:t>
            </a:r>
            <a:r>
              <a:rPr sz="900" i="1" spc="-65" dirty="0">
                <a:latin typeface="Arial"/>
                <a:cs typeface="Arial"/>
              </a:rPr>
              <a:t>R</a:t>
            </a:r>
            <a:r>
              <a:rPr sz="900" i="1" spc="-50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dirty="0">
                <a:latin typeface="Calibri"/>
                <a:cs typeface="Calibri"/>
              </a:rPr>
              <a:t>ρ</a:t>
            </a:r>
            <a:r>
              <a:rPr sz="900" i="1" dirty="0">
                <a:latin typeface="Arial"/>
                <a:cs typeface="Arial"/>
              </a:rPr>
              <a:t>I</a:t>
            </a:r>
            <a:r>
              <a:rPr sz="900" dirty="0">
                <a:latin typeface="Tahoma"/>
                <a:cs typeface="Tahoma"/>
              </a:rPr>
              <a:t>)</a:t>
            </a:r>
            <a:r>
              <a:rPr sz="900" spc="175" dirty="0">
                <a:latin typeface="Tahoma"/>
                <a:cs typeface="Tahoma"/>
              </a:rPr>
              <a:t>  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22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D</a:t>
            </a:r>
            <a:endParaRPr sz="9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2701010" y="2479731"/>
            <a:ext cx="334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305" algn="l"/>
              </a:tabLst>
            </a:pPr>
            <a:r>
              <a:rPr sz="600" i="1" spc="-50" dirty="0">
                <a:latin typeface="Arial"/>
                <a:cs typeface="Arial"/>
              </a:rPr>
              <a:t>k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50" dirty="0"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701010" y="2549149"/>
            <a:ext cx="31623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1305" algn="l"/>
              </a:tabLst>
            </a:pPr>
            <a:r>
              <a:rPr sz="600" i="1" spc="-50" dirty="0">
                <a:latin typeface="Arial"/>
                <a:cs typeface="Arial"/>
              </a:rPr>
              <a:t>j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50" dirty="0">
                <a:latin typeface="Arial"/>
                <a:cs typeface="Arial"/>
              </a:rPr>
              <a:t>j</a:t>
            </a:r>
            <a:endParaRPr sz="6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314740" y="2502796"/>
            <a:ext cx="8756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600" i="1" dirty="0">
                <a:latin typeface="Arial"/>
                <a:cs typeface="Arial"/>
              </a:rPr>
              <a:t>j</a:t>
            </a:r>
            <a:r>
              <a:rPr sz="600" i="1" spc="85" dirty="0">
                <a:latin typeface="Arial"/>
                <a:cs typeface="Arial"/>
              </a:rPr>
              <a:t> </a:t>
            </a:r>
            <a:r>
              <a:rPr sz="1350" spc="97" baseline="6172" dirty="0">
                <a:latin typeface="Tahoma"/>
                <a:cs typeface="Tahoma"/>
              </a:rPr>
              <a:t>+</a:t>
            </a:r>
            <a:r>
              <a:rPr sz="1350" spc="-112" baseline="6172" dirty="0">
                <a:latin typeface="Tahoma"/>
                <a:cs typeface="Tahoma"/>
              </a:rPr>
              <a:t> </a:t>
            </a:r>
            <a:r>
              <a:rPr sz="1350" i="1" baseline="6172" dirty="0">
                <a:latin typeface="Calibri"/>
                <a:cs typeface="Calibri"/>
              </a:rPr>
              <a:t>ρ</a:t>
            </a:r>
            <a:r>
              <a:rPr sz="1350" baseline="6172" dirty="0">
                <a:latin typeface="Tahoma"/>
                <a:cs typeface="Tahoma"/>
              </a:rPr>
              <a:t>(</a:t>
            </a:r>
            <a:r>
              <a:rPr sz="1350" i="1" baseline="6172" dirty="0">
                <a:latin typeface="Arial"/>
                <a:cs typeface="Arial"/>
              </a:rPr>
              <a:t>Z</a:t>
            </a:r>
            <a:r>
              <a:rPr sz="1350" i="1" spc="487" baseline="6172" dirty="0">
                <a:latin typeface="Arial"/>
                <a:cs typeface="Arial"/>
              </a:rPr>
              <a:t> </a:t>
            </a:r>
            <a:r>
              <a:rPr sz="1350" spc="322" baseline="6172" dirty="0">
                <a:latin typeface="Cambria"/>
                <a:cs typeface="Cambria"/>
              </a:rPr>
              <a:t>−</a:t>
            </a:r>
            <a:r>
              <a:rPr sz="1350" spc="15" baseline="6172" dirty="0">
                <a:latin typeface="Cambria"/>
                <a:cs typeface="Cambria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U</a:t>
            </a:r>
            <a:r>
              <a:rPr sz="1350" i="1" spc="172" baseline="6172" dirty="0">
                <a:latin typeface="Arial"/>
                <a:cs typeface="Arial"/>
              </a:rPr>
              <a:t> </a:t>
            </a:r>
            <a:r>
              <a:rPr sz="1350" spc="-37" baseline="6172" dirty="0">
                <a:latin typeface="Tahoma"/>
                <a:cs typeface="Tahoma"/>
              </a:rPr>
              <a:t>)).</a:t>
            </a:r>
            <a:endParaRPr sz="1350" baseline="6172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02932" y="2535855"/>
            <a:ext cx="863600" cy="30670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R="102870" algn="r">
              <a:lnSpc>
                <a:spcPct val="100000"/>
              </a:lnSpc>
              <a:spcBef>
                <a:spcPts val="265"/>
              </a:spcBef>
            </a:pPr>
            <a:r>
              <a:rPr sz="600" i="1" spc="-50" dirty="0">
                <a:latin typeface="Arial"/>
                <a:cs typeface="Arial"/>
              </a:rPr>
              <a:t>j</a:t>
            </a: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5"/>
              </a:spcBef>
            </a:pPr>
            <a:r>
              <a:rPr sz="900" dirty="0">
                <a:latin typeface="Tahoma"/>
                <a:cs typeface="Tahoma"/>
              </a:rPr>
              <a:t>Apply</a:t>
            </a:r>
            <a:r>
              <a:rPr sz="900" spc="4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constraint.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51" name="object 5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165" y="2738780"/>
            <a:ext cx="65201" cy="65201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3039710" y="3334738"/>
            <a:ext cx="204470" cy="111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zation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523276" y="3322038"/>
            <a:ext cx="152971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Document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Summarization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via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Sparse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8" action="ppaction://hlinksldjump"/>
              </a:rPr>
              <a:t>Optimi</a:t>
            </a:r>
            <a:endParaRPr sz="600" dirty="0">
              <a:latin typeface="Tahoma"/>
              <a:cs typeface="Tahoma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August</a:t>
            </a:r>
            <a:r>
              <a:rPr spc="-5" dirty="0"/>
              <a:t> </a:t>
            </a:r>
            <a:r>
              <a:rPr dirty="0"/>
              <a:t>23,</a:t>
            </a:r>
            <a:r>
              <a:rPr spc="10" dirty="0"/>
              <a:t> </a:t>
            </a:r>
            <a:r>
              <a:rPr spc="-20" dirty="0"/>
              <a:t>2025</a:t>
            </a:r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13</a:t>
            </a:fld>
            <a:r>
              <a:rPr spc="-90" dirty="0"/>
              <a:t> </a:t>
            </a:r>
            <a:r>
              <a:rPr spc="90" dirty="0"/>
              <a:t>/</a:t>
            </a:r>
            <a:r>
              <a:rPr spc="-90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437070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Z-</a:t>
            </a:r>
            <a:r>
              <a:rPr spc="-10" dirty="0"/>
              <a:t>Update</a:t>
            </a:r>
            <a:r>
              <a:rPr spc="-60" dirty="0"/>
              <a:t> </a:t>
            </a:r>
            <a:endParaRPr spc="-20" dirty="0"/>
          </a:p>
        </p:txBody>
      </p:sp>
      <p:sp>
        <p:nvSpPr>
          <p:cNvPr id="4" name="object 4"/>
          <p:cNvSpPr txBox="1"/>
          <p:nvPr/>
        </p:nvSpPr>
        <p:spPr>
          <a:xfrm>
            <a:off x="865809" y="1255120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4296" y="1271861"/>
            <a:ext cx="467359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5430" algn="l"/>
              </a:tabLst>
            </a:pPr>
            <a:r>
              <a:rPr sz="900" i="1" spc="-5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S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27709" y="1327536"/>
            <a:ext cx="80137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420370" algn="l"/>
                <a:tab pos="742950" algn="l"/>
              </a:tabLst>
            </a:pPr>
            <a:r>
              <a:rPr sz="900" i="1" spc="-75" baseline="-4629" dirty="0">
                <a:latin typeface="Arial"/>
                <a:cs typeface="Arial"/>
              </a:rPr>
              <a:t>i</a:t>
            </a:r>
            <a:r>
              <a:rPr sz="900" i="1" baseline="-4629" dirty="0">
                <a:latin typeface="Arial"/>
                <a:cs typeface="Arial"/>
              </a:rPr>
              <a:t>	</a:t>
            </a:r>
            <a:r>
              <a:rPr sz="600" i="1" spc="75" dirty="0">
                <a:latin typeface="Calibri"/>
                <a:cs typeface="Calibri"/>
              </a:rPr>
              <a:t>λ</a:t>
            </a:r>
            <a:r>
              <a:rPr sz="750" spc="112" baseline="-16666" dirty="0">
                <a:latin typeface="Tahoma"/>
                <a:cs typeface="Tahoma"/>
              </a:rPr>
              <a:t>1</a:t>
            </a:r>
            <a:r>
              <a:rPr sz="750" spc="-165" baseline="-16666" dirty="0">
                <a:latin typeface="Tahoma"/>
                <a:cs typeface="Tahoma"/>
              </a:rPr>
              <a:t> </a:t>
            </a:r>
            <a:r>
              <a:rPr sz="600" i="1" spc="75" dirty="0">
                <a:latin typeface="Calibri"/>
                <a:cs typeface="Calibri"/>
              </a:rPr>
              <a:t>/ρ</a:t>
            </a:r>
            <a:r>
              <a:rPr sz="600" i="1" dirty="0">
                <a:latin typeface="Calibri"/>
                <a:cs typeface="Calibri"/>
              </a:rPr>
              <a:t>	</a:t>
            </a:r>
            <a:r>
              <a:rPr sz="900" i="1" spc="-75" baseline="-4629" dirty="0">
                <a:latin typeface="Arial"/>
                <a:cs typeface="Arial"/>
              </a:rPr>
              <a:t>i</a:t>
            </a:r>
            <a:endParaRPr sz="900" baseline="-4629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58531" y="1255120"/>
            <a:ext cx="4375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84810" algn="l"/>
              </a:tabLst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-60" dirty="0"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30857" y="1329860"/>
            <a:ext cx="3225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9715" algn="l"/>
              </a:tabLst>
            </a:pPr>
            <a:r>
              <a:rPr sz="600" i="1" spc="-50" dirty="0">
                <a:latin typeface="Arial"/>
                <a:cs typeface="Arial"/>
              </a:rPr>
              <a:t>i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900" i="1" spc="112" baseline="4629" dirty="0">
                <a:latin typeface="Calibri"/>
                <a:cs typeface="Calibri"/>
              </a:rPr>
              <a:t>γ</a:t>
            </a:r>
            <a:endParaRPr sz="900" baseline="4629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34782" y="1271861"/>
            <a:ext cx="9296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11150" algn="l"/>
              </a:tabLst>
            </a:pPr>
            <a:r>
              <a:rPr sz="900" spc="-25" dirty="0">
                <a:latin typeface="Tahoma"/>
                <a:cs typeface="Tahoma"/>
              </a:rPr>
              <a:t>(</a:t>
            </a:r>
            <a:r>
              <a:rPr sz="900" i="1" spc="-25" dirty="0">
                <a:latin typeface="Arial"/>
                <a:cs typeface="Arial"/>
              </a:rPr>
              <a:t>X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spc="75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)</a:t>
            </a:r>
            <a:r>
              <a:rPr sz="900" i="1" dirty="0">
                <a:latin typeface="Calibri"/>
                <a:cs typeface="Calibri"/>
              </a:rPr>
              <a:t>,</a:t>
            </a:r>
            <a:r>
              <a:rPr sz="900" i="1" spc="229" dirty="0">
                <a:latin typeface="Calibri"/>
                <a:cs typeface="Calibri"/>
              </a:rPr>
              <a:t> </a:t>
            </a:r>
            <a:r>
              <a:rPr sz="900" i="1" dirty="0">
                <a:latin typeface="Arial"/>
                <a:cs typeface="Arial"/>
              </a:rPr>
              <a:t>S</a:t>
            </a:r>
            <a:r>
              <a:rPr sz="900" i="1" spc="200" dirty="0">
                <a:latin typeface="Arial"/>
                <a:cs typeface="Arial"/>
              </a:rPr>
              <a:t> </a:t>
            </a:r>
            <a:r>
              <a:rPr sz="900" spc="-35" dirty="0">
                <a:latin typeface="Tahoma"/>
                <a:cs typeface="Tahoma"/>
              </a:rPr>
              <a:t>(</a:t>
            </a:r>
            <a:r>
              <a:rPr sz="900" i="1" spc="-35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067164" y="1198214"/>
            <a:ext cx="243204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u="sng" spc="39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900" i="1" u="sng" spc="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γ</a:t>
            </a:r>
            <a:r>
              <a:rPr sz="900" i="1" u="sng" spc="5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endParaRPr sz="9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92564" y="1389951"/>
            <a:ext cx="31750" cy="11430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05060" y="1389951"/>
            <a:ext cx="31750" cy="114300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3100285" y="1361752"/>
            <a:ext cx="2292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i="1" baseline="6172" dirty="0">
                <a:latin typeface="Arial"/>
                <a:cs typeface="Arial"/>
              </a:rPr>
              <a:t>x</a:t>
            </a:r>
            <a:r>
              <a:rPr sz="1350" i="1" spc="270" baseline="6172" dirty="0">
                <a:latin typeface="Arial"/>
                <a:cs typeface="Arial"/>
              </a:rPr>
              <a:t> </a:t>
            </a: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62630" y="1111562"/>
            <a:ext cx="761365" cy="162560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  <a:tabLst>
                <a:tab pos="660400" algn="l"/>
              </a:tabLst>
            </a:pPr>
            <a:r>
              <a:rPr sz="900" dirty="0">
                <a:latin typeface="Georgia"/>
                <a:cs typeface="Georgia"/>
              </a:rPr>
              <a:t>	 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338425" y="1271861"/>
            <a:ext cx="125920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74090" algn="l"/>
              </a:tabLst>
            </a:pPr>
            <a:r>
              <a:rPr sz="900" dirty="0">
                <a:latin typeface="Tahoma"/>
                <a:cs typeface="Tahoma"/>
              </a:rPr>
              <a:t>)</a:t>
            </a:r>
            <a:r>
              <a:rPr sz="900" spc="-55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max</a:t>
            </a:r>
            <a:r>
              <a:rPr sz="900" spc="125" dirty="0">
                <a:latin typeface="Tahoma"/>
                <a:cs typeface="Tahoma"/>
              </a:rPr>
              <a:t>  </a:t>
            </a:r>
            <a:r>
              <a:rPr sz="900" spc="-35" dirty="0">
                <a:latin typeface="Tahoma"/>
                <a:cs typeface="Tahoma"/>
              </a:rPr>
              <a:t>1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spc="165" dirty="0">
                <a:latin typeface="Cambria"/>
                <a:cs typeface="Cambria"/>
              </a:rPr>
              <a:t>−</a:t>
            </a:r>
            <a:r>
              <a:rPr sz="900" dirty="0">
                <a:latin typeface="Cambria"/>
                <a:cs typeface="Cambria"/>
              </a:rPr>
              <a:t>	</a:t>
            </a:r>
            <a:r>
              <a:rPr sz="900" i="1" dirty="0">
                <a:latin typeface="Calibri"/>
                <a:cs typeface="Calibri"/>
              </a:rPr>
              <a:t>,</a:t>
            </a:r>
            <a:r>
              <a:rPr sz="900" i="1" spc="-50" dirty="0">
                <a:latin typeface="Calibri"/>
                <a:cs typeface="Calibri"/>
              </a:rPr>
              <a:t> </a:t>
            </a:r>
            <a:r>
              <a:rPr sz="900" dirty="0">
                <a:latin typeface="Tahoma"/>
                <a:cs typeface="Tahoma"/>
              </a:rPr>
              <a:t>0</a:t>
            </a:r>
            <a:r>
              <a:rPr sz="900" spc="140" dirty="0">
                <a:latin typeface="Tahoma"/>
                <a:cs typeface="Tahoma"/>
              </a:rPr>
              <a:t>  </a:t>
            </a:r>
            <a:r>
              <a:rPr sz="900" i="1" spc="-50" dirty="0">
                <a:latin typeface="Arial"/>
                <a:cs typeface="Arial"/>
              </a:rPr>
              <a:t>x</a:t>
            </a:r>
            <a:endParaRPr sz="9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571798" y="1271861"/>
            <a:ext cx="2419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latin typeface="Calibri"/>
                <a:cs typeface="Calibri"/>
              </a:rPr>
              <a:t>,</a:t>
            </a:r>
            <a:r>
              <a:rPr sz="900" i="1" spc="275" dirty="0">
                <a:latin typeface="Calibri"/>
                <a:cs typeface="Calibri"/>
              </a:rPr>
              <a:t> </a:t>
            </a:r>
            <a:r>
              <a:rPr sz="900" spc="-25" dirty="0">
                <a:latin typeface="Cambria"/>
                <a:cs typeface="Cambria"/>
              </a:rPr>
              <a:t>∀</a:t>
            </a:r>
            <a:r>
              <a:rPr sz="900" i="1" spc="-25" dirty="0">
                <a:latin typeface="Arial"/>
                <a:cs typeface="Arial"/>
              </a:rPr>
              <a:t>i</a:t>
            </a:r>
            <a:r>
              <a:rPr sz="900" i="1" spc="-25" dirty="0">
                <a:latin typeface="Calibri"/>
                <a:cs typeface="Calibri"/>
              </a:rPr>
              <a:t>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14299" y="1533949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31684" y="1533949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14299" y="1611266"/>
            <a:ext cx="68389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29920" algn="l"/>
              </a:tabLst>
            </a:pPr>
            <a:r>
              <a:rPr sz="600" i="1" spc="-25" dirty="0">
                <a:latin typeface="Arial"/>
                <a:cs typeface="Arial"/>
              </a:rPr>
              <a:t>ij</a:t>
            </a:r>
            <a:r>
              <a:rPr sz="600" i="1" dirty="0">
                <a:latin typeface="Arial"/>
                <a:cs typeface="Arial"/>
              </a:rPr>
              <a:t>	</a:t>
            </a:r>
            <a:r>
              <a:rPr sz="600" i="1" spc="-25" dirty="0">
                <a:latin typeface="Arial"/>
                <a:cs typeface="Arial"/>
              </a:rPr>
              <a:t>ij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5844" y="1544365"/>
            <a:ext cx="138176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82295" algn="l"/>
                <a:tab pos="1167130" algn="l"/>
              </a:tabLst>
            </a:pPr>
            <a:r>
              <a:rPr sz="900" dirty="0">
                <a:latin typeface="Tahoma"/>
                <a:cs typeface="Tahoma"/>
              </a:rPr>
              <a:t>Then:</a:t>
            </a:r>
            <a:r>
              <a:rPr sz="900" spc="55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max</a:t>
            </a:r>
            <a:r>
              <a:rPr sz="900" spc="-10" dirty="0">
                <a:latin typeface="Cambria"/>
                <a:cs typeface="Cambria"/>
              </a:rPr>
              <a:t>{</a:t>
            </a:r>
            <a:r>
              <a:rPr sz="900" i="1" spc="-10" dirty="0">
                <a:latin typeface="Arial"/>
                <a:cs typeface="Arial"/>
              </a:rPr>
              <a:t>z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i="1" dirty="0">
                <a:latin typeface="Calibri"/>
                <a:cs typeface="Calibri"/>
              </a:rPr>
              <a:t>,</a:t>
            </a:r>
            <a:r>
              <a:rPr sz="900" i="1" spc="-25" dirty="0">
                <a:latin typeface="Calibri"/>
                <a:cs typeface="Calibri"/>
              </a:rPr>
              <a:t> </a:t>
            </a:r>
            <a:r>
              <a:rPr sz="900" spc="-25" dirty="0">
                <a:latin typeface="Tahoma"/>
                <a:cs typeface="Tahoma"/>
              </a:rPr>
              <a:t>0</a:t>
            </a:r>
            <a:r>
              <a:rPr sz="900" spc="-25" dirty="0">
                <a:latin typeface="Cambria"/>
                <a:cs typeface="Cambria"/>
              </a:rPr>
              <a:t>}</a:t>
            </a:r>
            <a:r>
              <a:rPr sz="900" spc="-25" dirty="0"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5044" y="1696194"/>
            <a:ext cx="2809875" cy="8149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3500">
              <a:lnSpc>
                <a:spcPts val="1040"/>
              </a:lnSpc>
            </a:pPr>
            <a:endParaRPr lang="en-US" sz="900" dirty="0">
              <a:latin typeface="Tahoma"/>
              <a:cs typeface="Tahoma"/>
            </a:endParaRPr>
          </a:p>
          <a:p>
            <a:pPr marL="63500">
              <a:lnSpc>
                <a:spcPts val="1040"/>
              </a:lnSpc>
            </a:pPr>
            <a:endParaRPr lang="en-US" sz="900" dirty="0">
              <a:latin typeface="Tahoma"/>
              <a:cs typeface="Tahoma"/>
            </a:endParaRPr>
          </a:p>
          <a:p>
            <a:pPr marL="63500">
              <a:lnSpc>
                <a:spcPts val="1040"/>
              </a:lnSpc>
            </a:pPr>
            <a:r>
              <a:rPr sz="900" dirty="0">
                <a:latin typeface="Tahoma"/>
                <a:cs typeface="Tahoma"/>
              </a:rPr>
              <a:t>Trims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Z</a:t>
            </a:r>
            <a:r>
              <a:rPr sz="900" i="1" spc="15" dirty="0">
                <a:latin typeface="Arial"/>
                <a:cs typeface="Arial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keep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key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sentences,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same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as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lang="en-US" sz="900" dirty="0">
                <a:latin typeface="Tahoma"/>
                <a:cs typeface="Tahoma"/>
              </a:rPr>
              <a:t>before equation</a:t>
            </a:r>
            <a:r>
              <a:rPr sz="900" spc="-25" dirty="0">
                <a:latin typeface="Tahoma"/>
                <a:cs typeface="Tahoma"/>
              </a:rPr>
              <a:t>.</a:t>
            </a:r>
            <a:endParaRPr sz="900" dirty="0">
              <a:latin typeface="Tahoma"/>
              <a:cs typeface="Tahoma"/>
            </a:endParaRPr>
          </a:p>
          <a:p>
            <a:pPr marL="62865">
              <a:spcBef>
                <a:spcPts val="15"/>
              </a:spcBef>
            </a:pPr>
            <a:r>
              <a:rPr sz="900" spc="-80" dirty="0">
                <a:latin typeface="Arial Black" panose="020B0A04020102020204" pitchFamily="34" charset="0"/>
                <a:cs typeface="Arial Black"/>
              </a:rPr>
              <a:t>Optimization</a:t>
            </a:r>
            <a:r>
              <a:rPr sz="900" spc="-80" dirty="0">
                <a:latin typeface="Tahoma"/>
                <a:cs typeface="Tahoma"/>
              </a:rPr>
              <a:t>:</a:t>
            </a:r>
            <a:r>
              <a:rPr sz="900" spc="75" dirty="0">
                <a:latin typeface="Tahoma"/>
                <a:cs typeface="Tahoma"/>
              </a:rPr>
              <a:t> </a:t>
            </a:r>
            <a:r>
              <a:rPr lang="en-US" sz="900" spc="75" dirty="0">
                <a:latin typeface="Tahoma"/>
                <a:cs typeface="Tahoma"/>
              </a:rPr>
              <a:t>Minimizes the equation</a:t>
            </a:r>
            <a:r>
              <a:rPr sz="900" spc="-25" dirty="0">
                <a:latin typeface="Tahoma"/>
                <a:cs typeface="Tahoma"/>
              </a:rPr>
              <a:t>.</a:t>
            </a:r>
            <a:endParaRPr sz="900" dirty="0">
              <a:latin typeface="Tahoma"/>
              <a:cs typeface="Tahoma"/>
            </a:endParaRPr>
          </a:p>
          <a:p>
            <a:pPr marL="62865">
              <a:lnSpc>
                <a:spcPct val="100000"/>
              </a:lnSpc>
              <a:spcBef>
                <a:spcPts val="114"/>
              </a:spcBef>
            </a:pPr>
            <a:r>
              <a:rPr sz="1350" spc="-120" baseline="6172" dirty="0">
                <a:latin typeface="Arial Black" panose="020B0A04020102020204" pitchFamily="34" charset="0"/>
                <a:cs typeface="Arial Black"/>
              </a:rPr>
              <a:t>Derivation</a:t>
            </a:r>
            <a:r>
              <a:rPr sz="1350" spc="-120" baseline="6172" dirty="0">
                <a:latin typeface="Tahoma"/>
                <a:cs typeface="Tahoma"/>
              </a:rPr>
              <a:t>:</a:t>
            </a:r>
            <a:r>
              <a:rPr sz="1350" spc="97" baseline="6172" dirty="0">
                <a:latin typeface="Tahoma"/>
                <a:cs typeface="Tahoma"/>
              </a:rPr>
              <a:t> </a:t>
            </a:r>
            <a:r>
              <a:rPr sz="1350" spc="-30" baseline="6172" dirty="0">
                <a:latin typeface="Tahoma"/>
                <a:cs typeface="Tahoma"/>
              </a:rPr>
              <a:t>Unchanged, </a:t>
            </a:r>
            <a:r>
              <a:rPr sz="1350" spc="-15" baseline="6172" dirty="0">
                <a:latin typeface="Tahoma"/>
                <a:cs typeface="Tahoma"/>
              </a:rPr>
              <a:t>using</a:t>
            </a:r>
            <a:r>
              <a:rPr sz="1350" spc="-30" baseline="6172" dirty="0">
                <a:latin typeface="Tahoma"/>
                <a:cs typeface="Tahoma"/>
              </a:rPr>
              <a:t> </a:t>
            </a:r>
            <a:r>
              <a:rPr sz="1350" i="1" spc="-37" baseline="6172" dirty="0">
                <a:latin typeface="Calibri"/>
                <a:cs typeface="Calibri"/>
              </a:rPr>
              <a:t>λ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1350" spc="-37" baseline="6172" dirty="0">
                <a:latin typeface="Tahoma"/>
                <a:cs typeface="Tahoma"/>
              </a:rPr>
              <a:t>.</a:t>
            </a:r>
            <a:endParaRPr sz="1350" baseline="6172" dirty="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039710" y="3334738"/>
            <a:ext cx="204470" cy="111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zation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523276" y="3322038"/>
            <a:ext cx="152971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Document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Summarization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via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Sparse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Optimi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August</a:t>
            </a:r>
            <a:r>
              <a:rPr spc="-5" dirty="0"/>
              <a:t> </a:t>
            </a:r>
            <a:r>
              <a:rPr dirty="0"/>
              <a:t>23,</a:t>
            </a:r>
            <a:r>
              <a:rPr spc="10" dirty="0"/>
              <a:t> </a:t>
            </a:r>
            <a:r>
              <a:rPr spc="-20" dirty="0"/>
              <a:t>2025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14</a:t>
            </a:fld>
            <a:r>
              <a:rPr spc="-90" dirty="0"/>
              <a:t> </a:t>
            </a:r>
            <a:r>
              <a:rPr spc="90" dirty="0"/>
              <a:t>/</a:t>
            </a:r>
            <a:r>
              <a:rPr spc="-90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437070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65" dirty="0"/>
              <a:t> </a:t>
            </a:r>
            <a:r>
              <a:rPr spc="-10" dirty="0"/>
              <a:t>U-Update</a:t>
            </a:r>
            <a:r>
              <a:rPr spc="-65" dirty="0"/>
              <a:t> </a:t>
            </a:r>
            <a:endParaRPr spc="-20" dirty="0"/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100444" y="1284875"/>
            <a:ext cx="3500006" cy="758541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489075">
              <a:lnSpc>
                <a:spcPct val="100000"/>
              </a:lnSpc>
              <a:spcBef>
                <a:spcPts val="515"/>
              </a:spcBef>
            </a:pPr>
            <a:r>
              <a:rPr i="1" dirty="0">
                <a:latin typeface="Arial"/>
                <a:cs typeface="Arial"/>
              </a:rPr>
              <a:t>U</a:t>
            </a:r>
            <a:r>
              <a:rPr sz="900" i="1" baseline="41666" dirty="0">
                <a:latin typeface="Arial"/>
                <a:cs typeface="Arial"/>
              </a:rPr>
              <a:t>k</a:t>
            </a:r>
            <a:r>
              <a:rPr sz="900" baseline="41666" dirty="0">
                <a:latin typeface="Verdana"/>
                <a:cs typeface="Verdana"/>
              </a:rPr>
              <a:t>+</a:t>
            </a:r>
            <a:r>
              <a:rPr sz="900" baseline="41666" dirty="0"/>
              <a:t>1</a:t>
            </a:r>
            <a:r>
              <a:rPr sz="900" spc="172" baseline="41666" dirty="0"/>
              <a:t> </a:t>
            </a:r>
            <a:r>
              <a:rPr sz="900" spc="65" dirty="0"/>
              <a:t>=</a:t>
            </a:r>
            <a:r>
              <a:rPr sz="900" spc="-25" dirty="0"/>
              <a:t> </a:t>
            </a:r>
            <a:r>
              <a:rPr sz="900" i="1" dirty="0">
                <a:latin typeface="Arial"/>
                <a:cs typeface="Arial"/>
              </a:rPr>
              <a:t>U</a:t>
            </a:r>
            <a:r>
              <a:rPr sz="900" i="1" baseline="41666" dirty="0">
                <a:latin typeface="Arial"/>
                <a:cs typeface="Arial"/>
              </a:rPr>
              <a:t>k</a:t>
            </a:r>
            <a:r>
              <a:rPr sz="900" i="1" spc="120" baseline="41666" dirty="0">
                <a:latin typeface="Arial"/>
                <a:cs typeface="Arial"/>
              </a:rPr>
              <a:t> </a:t>
            </a:r>
            <a:r>
              <a:rPr sz="900" spc="65" dirty="0"/>
              <a:t>+</a:t>
            </a:r>
            <a:r>
              <a:rPr sz="900" spc="-80" dirty="0"/>
              <a:t> </a:t>
            </a:r>
            <a:r>
              <a:rPr sz="900" i="1" dirty="0">
                <a:latin typeface="Calibri"/>
                <a:cs typeface="Calibri"/>
              </a:rPr>
              <a:t>ρ</a:t>
            </a:r>
            <a:r>
              <a:rPr sz="900" dirty="0"/>
              <a:t>(</a:t>
            </a:r>
            <a:r>
              <a:rPr sz="900" i="1" dirty="0">
                <a:latin typeface="Arial"/>
                <a:cs typeface="Arial"/>
              </a:rPr>
              <a:t>X</a:t>
            </a:r>
            <a:r>
              <a:rPr sz="900" i="1" baseline="41666" dirty="0">
                <a:latin typeface="Arial"/>
                <a:cs typeface="Arial"/>
              </a:rPr>
              <a:t>k</a:t>
            </a:r>
            <a:r>
              <a:rPr sz="900" baseline="41666" dirty="0">
                <a:latin typeface="Verdana"/>
                <a:cs typeface="Verdana"/>
              </a:rPr>
              <a:t>+</a:t>
            </a:r>
            <a:r>
              <a:rPr sz="900" baseline="41666" dirty="0"/>
              <a:t>1</a:t>
            </a:r>
            <a:r>
              <a:rPr sz="900" spc="104" baseline="41666" dirty="0"/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5" dirty="0">
                <a:latin typeface="Cambria"/>
                <a:cs typeface="Cambria"/>
              </a:rPr>
              <a:t> </a:t>
            </a:r>
            <a:r>
              <a:rPr sz="900" i="1" spc="-10" dirty="0">
                <a:latin typeface="Arial"/>
                <a:cs typeface="Arial"/>
              </a:rPr>
              <a:t>Z</a:t>
            </a:r>
            <a:r>
              <a:rPr sz="900" i="1" spc="-15" baseline="41666" dirty="0">
                <a:latin typeface="Arial"/>
                <a:cs typeface="Arial"/>
              </a:rPr>
              <a:t>k</a:t>
            </a:r>
            <a:r>
              <a:rPr sz="900" spc="-15" baseline="41666" dirty="0">
                <a:latin typeface="Verdana"/>
                <a:cs typeface="Verdana"/>
              </a:rPr>
              <a:t>+</a:t>
            </a:r>
            <a:r>
              <a:rPr sz="900" spc="-15" baseline="41666" dirty="0"/>
              <a:t>1</a:t>
            </a:r>
            <a:r>
              <a:rPr sz="900" spc="-10" dirty="0"/>
              <a:t>)</a:t>
            </a:r>
            <a:r>
              <a:rPr sz="900" i="1" spc="-10" dirty="0">
                <a:latin typeface="Calibri"/>
                <a:cs typeface="Calibri"/>
              </a:rPr>
              <a:t>.</a:t>
            </a:r>
            <a:endParaRPr sz="900" dirty="0">
              <a:latin typeface="Calibri"/>
              <a:cs typeface="Calibri"/>
            </a:endParaRPr>
          </a:p>
          <a:p>
            <a:pPr marL="38100">
              <a:lnSpc>
                <a:spcPct val="100000"/>
              </a:lnSpc>
              <a:spcBef>
                <a:spcPts val="15"/>
              </a:spcBef>
            </a:pPr>
            <a:endParaRPr lang="en-US" spc="-55" dirty="0">
              <a:latin typeface="Arial Black"/>
            </a:endParaRPr>
          </a:p>
          <a:p>
            <a:r>
              <a:rPr spc="-20" dirty="0"/>
              <a:t>Ensures</a:t>
            </a:r>
            <a:r>
              <a:rPr spc="-15" dirty="0"/>
              <a:t> </a:t>
            </a:r>
            <a:r>
              <a:rPr i="1" dirty="0">
                <a:latin typeface="Arial"/>
                <a:cs typeface="Arial"/>
              </a:rPr>
              <a:t>X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i="1" dirty="0">
                <a:latin typeface="Arial"/>
                <a:cs typeface="Arial"/>
              </a:rPr>
              <a:t>Z</a:t>
            </a:r>
            <a:r>
              <a:rPr i="1" spc="10" dirty="0">
                <a:latin typeface="Arial"/>
                <a:cs typeface="Arial"/>
              </a:rPr>
              <a:t> </a:t>
            </a:r>
            <a:r>
              <a:rPr spc="-35" dirty="0"/>
              <a:t>agree,</a:t>
            </a:r>
            <a:r>
              <a:rPr spc="-15" dirty="0"/>
              <a:t> </a:t>
            </a:r>
            <a:r>
              <a:rPr lang="en-IN" dirty="0"/>
              <a:t>Like a referee ensuring puzzle pieces match.</a:t>
            </a:r>
          </a:p>
          <a:p>
            <a:pPr marL="38100">
              <a:lnSpc>
                <a:spcPct val="100000"/>
              </a:lnSpc>
              <a:spcBef>
                <a:spcPts val="15"/>
              </a:spcBef>
            </a:pPr>
            <a:r>
              <a:rPr spc="-80" dirty="0">
                <a:latin typeface="Arial Black"/>
                <a:cs typeface="Arial Black"/>
              </a:rPr>
              <a:t>Optimization</a:t>
            </a:r>
            <a:r>
              <a:rPr spc="-80" dirty="0"/>
              <a:t>:</a:t>
            </a:r>
            <a:r>
              <a:rPr spc="75" dirty="0"/>
              <a:t> </a:t>
            </a:r>
            <a:r>
              <a:rPr lang="en-IN" dirty="0"/>
              <a:t>Dual ascent for </a:t>
            </a:r>
            <a:r>
              <a:rPr lang="en-IN" i="1" dirty="0"/>
              <a:t>X </a:t>
            </a:r>
            <a:r>
              <a:rPr lang="en-IN" dirty="0"/>
              <a:t>= </a:t>
            </a:r>
            <a:r>
              <a:rPr lang="en-IN" i="1" dirty="0"/>
              <a:t>Z</a:t>
            </a:r>
            <a:r>
              <a:rPr spc="-25" dirty="0"/>
              <a:t>.</a:t>
            </a:r>
          </a:p>
          <a:p>
            <a:pPr marL="38100">
              <a:lnSpc>
                <a:spcPct val="100000"/>
              </a:lnSpc>
              <a:spcBef>
                <a:spcPts val="15"/>
              </a:spcBef>
            </a:pPr>
            <a:r>
              <a:rPr spc="-80" dirty="0">
                <a:latin typeface="Arial Black"/>
                <a:cs typeface="Arial Black"/>
              </a:rPr>
              <a:t>Derivation</a:t>
            </a:r>
            <a:r>
              <a:rPr spc="-80" dirty="0"/>
              <a:t>:</a:t>
            </a:r>
            <a:r>
              <a:rPr spc="85" dirty="0"/>
              <a:t> </a:t>
            </a:r>
            <a:r>
              <a:rPr spc="-10" dirty="0"/>
              <a:t>Standard</a:t>
            </a:r>
            <a:r>
              <a:rPr spc="-5" dirty="0"/>
              <a:t> </a:t>
            </a:r>
            <a:r>
              <a:rPr spc="85" dirty="0"/>
              <a:t>ADMM</a:t>
            </a:r>
            <a:r>
              <a:rPr dirty="0"/>
              <a:t> </a:t>
            </a:r>
            <a:r>
              <a:rPr spc="-10" dirty="0"/>
              <a:t>update.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3039710" y="3334738"/>
            <a:ext cx="204470" cy="111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zation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23276" y="3322038"/>
            <a:ext cx="152971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Document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Summarization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via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Sparse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2" action="ppaction://hlinksldjump"/>
              </a:rPr>
              <a:t>Optimi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August</a:t>
            </a:r>
            <a:r>
              <a:rPr spc="-5" dirty="0"/>
              <a:t> </a:t>
            </a:r>
            <a:r>
              <a:rPr dirty="0"/>
              <a:t>23,</a:t>
            </a:r>
            <a:r>
              <a:rPr spc="10" dirty="0"/>
              <a:t> </a:t>
            </a:r>
            <a:r>
              <a:rPr spc="-20" dirty="0"/>
              <a:t>2025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15</a:t>
            </a:fld>
            <a:r>
              <a:rPr spc="-90" dirty="0"/>
              <a:t> </a:t>
            </a:r>
            <a:r>
              <a:rPr spc="90" dirty="0"/>
              <a:t>/</a:t>
            </a:r>
            <a:r>
              <a:rPr spc="-90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578485"/>
          </a:xfrm>
          <a:custGeom>
            <a:avLst/>
            <a:gdLst/>
            <a:ahLst/>
            <a:cxnLst/>
            <a:rect l="l" t="t" r="r" b="b"/>
            <a:pathLst>
              <a:path w="4608195" h="578485">
                <a:moveTo>
                  <a:pt x="4608004" y="0"/>
                </a:moveTo>
                <a:lnTo>
                  <a:pt x="0" y="0"/>
                </a:lnTo>
                <a:lnTo>
                  <a:pt x="0" y="578027"/>
                </a:lnTo>
                <a:lnTo>
                  <a:pt x="4608004" y="578027"/>
                </a:lnTo>
                <a:lnTo>
                  <a:pt x="460800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4370705" cy="233077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20"/>
              </a:spcBef>
            </a:pPr>
            <a:r>
              <a:rPr spc="-50" dirty="0" err="1"/>
              <a:t>Subproblem</a:t>
            </a:r>
            <a:r>
              <a:rPr spc="-45" dirty="0"/>
              <a:t> </a:t>
            </a:r>
            <a:r>
              <a:rPr spc="-10" dirty="0"/>
              <a:t>for</a:t>
            </a:r>
            <a:r>
              <a:rPr spc="-45" dirty="0"/>
              <a:t> </a:t>
            </a:r>
            <a:r>
              <a:rPr b="1" i="1" dirty="0">
                <a:latin typeface="Roboto Bk"/>
                <a:cs typeface="Roboto Bk"/>
              </a:rPr>
              <a:t>R</a:t>
            </a:r>
            <a:r>
              <a:rPr b="1" i="1" spc="45" dirty="0">
                <a:latin typeface="Roboto Bk"/>
                <a:cs typeface="Roboto Bk"/>
              </a:rPr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spc="-55" dirty="0"/>
              <a:t>Compressive </a:t>
            </a:r>
            <a:r>
              <a:rPr spc="-10" dirty="0"/>
              <a:t>Summarization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14284" y="1280838"/>
            <a:ext cx="781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R</a:t>
            </a:r>
            <a:endParaRPr sz="6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5980" y="1212062"/>
            <a:ext cx="31750" cy="1143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49717" y="1171214"/>
            <a:ext cx="6667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Tahoma"/>
                <a:cs typeface="Tahoma"/>
              </a:rPr>
              <a:t>min</a:t>
            </a:r>
            <a:r>
              <a:rPr sz="900" spc="325" dirty="0">
                <a:latin typeface="Tahoma"/>
                <a:cs typeface="Tahoma"/>
              </a:rPr>
              <a:t>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spc="-55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dirty="0">
                <a:latin typeface="Cambria"/>
                <a:cs typeface="Cambria"/>
              </a:rPr>
              <a:t> </a:t>
            </a:r>
            <a:r>
              <a:rPr sz="900" i="1" spc="-25" dirty="0">
                <a:latin typeface="Arial"/>
                <a:cs typeface="Arial"/>
              </a:rPr>
              <a:t>RA</a:t>
            </a:r>
            <a:endParaRPr sz="9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6213" y="1212062"/>
            <a:ext cx="31750" cy="1143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249335" y="1154473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23935" y="1171214"/>
            <a:ext cx="3930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i="1" baseline="-13888" dirty="0">
                <a:latin typeface="Arial"/>
                <a:cs typeface="Arial"/>
              </a:rPr>
              <a:t>F</a:t>
            </a:r>
            <a:r>
              <a:rPr sz="900" i="1" spc="120" baseline="-13888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i="1" spc="30" dirty="0">
                <a:latin typeface="Calibri"/>
                <a:cs typeface="Calibri"/>
              </a:rPr>
              <a:t>λ</a:t>
            </a:r>
            <a:r>
              <a:rPr sz="900" spc="44" baseline="-9259" dirty="0">
                <a:latin typeface="Tahoma"/>
                <a:cs typeface="Tahoma"/>
              </a:rPr>
              <a:t>2</a:t>
            </a:r>
            <a:endParaRPr sz="900" baseline="-9259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642958" y="1066830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n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579281" y="1063035"/>
            <a:ext cx="1949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740" dirty="0">
                <a:latin typeface="Georgia"/>
                <a:cs typeface="Georgia"/>
              </a:rPr>
              <a:t>Σ</a:t>
            </a:r>
            <a:endParaRPr sz="900">
              <a:latin typeface="Georgia"/>
              <a:cs typeface="Georg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02674" y="1342179"/>
            <a:ext cx="14795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i</a:t>
            </a:r>
            <a:r>
              <a:rPr sz="600" spc="-25" dirty="0">
                <a:latin typeface="Verdana"/>
                <a:cs typeface="Verdana"/>
              </a:rPr>
              <a:t>=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93238" y="1212062"/>
            <a:ext cx="31750" cy="11430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826346" y="1171214"/>
            <a:ext cx="1016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50" dirty="0">
                <a:latin typeface="Arial"/>
                <a:cs typeface="Arial"/>
              </a:rPr>
              <a:t>R</a:t>
            </a:r>
            <a:endParaRPr sz="900">
              <a:latin typeface="Arial"/>
              <a:cs typeface="Arial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3118" y="1212062"/>
            <a:ext cx="31750" cy="114300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902191" y="1221821"/>
            <a:ext cx="14986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dirty="0">
                <a:latin typeface="Arial"/>
                <a:cs typeface="Arial"/>
              </a:rPr>
              <a:t>i</a:t>
            </a:r>
            <a:r>
              <a:rPr sz="600" i="1" spc="345" dirty="0">
                <a:latin typeface="Arial"/>
                <a:cs typeface="Arial"/>
              </a:rPr>
              <a:t> </a:t>
            </a:r>
            <a:r>
              <a:rPr sz="600" spc="-50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7744" y="1425057"/>
            <a:ext cx="4172585" cy="1004762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915795">
              <a:lnSpc>
                <a:spcPct val="100000"/>
              </a:lnSpc>
              <a:spcBef>
                <a:spcPts val="515"/>
              </a:spcBef>
            </a:pPr>
            <a:r>
              <a:rPr sz="1350" baseline="6172" dirty="0" err="1">
                <a:latin typeface="Tahoma"/>
                <a:cs typeface="Tahoma"/>
              </a:rPr>
              <a:t>s.t.</a:t>
            </a:r>
            <a:r>
              <a:rPr sz="1350" spc="247" baseline="6172" dirty="0">
                <a:latin typeface="Tahoma"/>
                <a:cs typeface="Tahoma"/>
              </a:rPr>
              <a:t>  </a:t>
            </a:r>
            <a:r>
              <a:rPr sz="1350" i="1" baseline="6172" dirty="0" err="1">
                <a:latin typeface="Arial"/>
                <a:cs typeface="Arial"/>
              </a:rPr>
              <a:t>r</a:t>
            </a:r>
            <a:r>
              <a:rPr sz="600" i="1" dirty="0" err="1">
                <a:latin typeface="Arial"/>
                <a:cs typeface="Arial"/>
              </a:rPr>
              <a:t>ij</a:t>
            </a:r>
            <a:r>
              <a:rPr sz="600" i="1" spc="130" dirty="0">
                <a:latin typeface="Arial"/>
                <a:cs typeface="Arial"/>
              </a:rPr>
              <a:t> </a:t>
            </a:r>
            <a:r>
              <a:rPr sz="1350" spc="322" baseline="6172" dirty="0">
                <a:latin typeface="Cambria"/>
                <a:cs typeface="Cambria"/>
              </a:rPr>
              <a:t>≥</a:t>
            </a:r>
            <a:r>
              <a:rPr sz="1350" spc="82" baseline="6172" dirty="0">
                <a:latin typeface="Cambria"/>
                <a:cs typeface="Cambria"/>
              </a:rPr>
              <a:t> </a:t>
            </a:r>
            <a:r>
              <a:rPr sz="1350" spc="-37" baseline="6172" dirty="0">
                <a:latin typeface="Tahoma"/>
                <a:cs typeface="Tahoma"/>
              </a:rPr>
              <a:t>0</a:t>
            </a:r>
            <a:r>
              <a:rPr sz="1350" i="1" spc="-37" baseline="6172" dirty="0">
                <a:latin typeface="Calibri"/>
                <a:cs typeface="Calibri"/>
              </a:rPr>
              <a:t>.</a:t>
            </a:r>
            <a:endParaRPr sz="1350" baseline="6172" dirty="0">
              <a:latin typeface="Calibri"/>
              <a:cs typeface="Calibri"/>
            </a:endParaRPr>
          </a:p>
          <a:p>
            <a:pPr marL="50800">
              <a:lnSpc>
                <a:spcPts val="1040"/>
              </a:lnSpc>
            </a:pPr>
            <a:endParaRPr lang="en-US" sz="900" dirty="0">
              <a:latin typeface="Tahoma"/>
              <a:cs typeface="Tahoma"/>
            </a:endParaRPr>
          </a:p>
          <a:p>
            <a:pPr marL="50800">
              <a:lnSpc>
                <a:spcPts val="1040"/>
              </a:lnSpc>
            </a:pPr>
            <a:endParaRPr lang="en-US" sz="900" dirty="0">
              <a:latin typeface="Tahoma"/>
              <a:cs typeface="Tahoma"/>
            </a:endParaRPr>
          </a:p>
          <a:p>
            <a:pPr marL="50800">
              <a:lnSpc>
                <a:spcPts val="1040"/>
              </a:lnSpc>
            </a:pPr>
            <a:r>
              <a:rPr sz="900" dirty="0">
                <a:latin typeface="Tahoma"/>
                <a:cs typeface="Tahoma"/>
              </a:rPr>
              <a:t>With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sentences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chosen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dirty="0">
                <a:latin typeface="Tahoma"/>
                <a:cs typeface="Tahoma"/>
              </a:rPr>
              <a:t>),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pick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key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words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dirty="0">
                <a:latin typeface="Tahoma"/>
                <a:cs typeface="Tahoma"/>
              </a:rPr>
              <a:t>)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keep</a:t>
            </a:r>
            <a:r>
              <a:rPr sz="900" spc="-1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summary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short.</a:t>
            </a:r>
            <a:r>
              <a:rPr sz="900" spc="7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Like</a:t>
            </a:r>
            <a:endParaRPr sz="9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15"/>
              </a:spcBef>
            </a:pPr>
            <a:r>
              <a:rPr sz="900" dirty="0">
                <a:latin typeface="Tahoma"/>
                <a:cs typeface="Tahoma"/>
              </a:rPr>
              <a:t>trimming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words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keep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sentences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meaningful.</a:t>
            </a:r>
            <a:endParaRPr sz="9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15"/>
              </a:spcBef>
            </a:pPr>
            <a:r>
              <a:rPr sz="900" spc="-80" dirty="0">
                <a:latin typeface="Arial Black" panose="020B0A04020102020204" pitchFamily="34" charset="0"/>
                <a:cs typeface="Arial Black"/>
              </a:rPr>
              <a:t>Optimization</a:t>
            </a:r>
            <a:r>
              <a:rPr sz="900" spc="-80" dirty="0">
                <a:latin typeface="Tahoma"/>
                <a:cs typeface="Tahoma"/>
              </a:rPr>
              <a:t>:</a:t>
            </a:r>
            <a:r>
              <a:rPr sz="900" spc="10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Convex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LASSO,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solved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via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proximal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gradient</a:t>
            </a:r>
            <a:r>
              <a:rPr sz="900" spc="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(not</a:t>
            </a:r>
            <a:r>
              <a:rPr sz="900" spc="10" dirty="0">
                <a:latin typeface="Tahoma"/>
                <a:cs typeface="Tahoma"/>
              </a:rPr>
              <a:t> </a:t>
            </a:r>
            <a:r>
              <a:rPr sz="900" spc="45" dirty="0">
                <a:latin typeface="Tahoma"/>
                <a:cs typeface="Tahoma"/>
              </a:rPr>
              <a:t>ADMM).</a:t>
            </a:r>
            <a:endParaRPr sz="900" dirty="0">
              <a:latin typeface="Tahoma"/>
              <a:cs typeface="Tahoma"/>
            </a:endParaRPr>
          </a:p>
          <a:p>
            <a:pPr marL="50800">
              <a:lnSpc>
                <a:spcPct val="100000"/>
              </a:lnSpc>
              <a:spcBef>
                <a:spcPts val="15"/>
              </a:spcBef>
            </a:pPr>
            <a:r>
              <a:rPr sz="900" spc="-85" dirty="0">
                <a:latin typeface="Arial Black" panose="020B0A04020102020204" pitchFamily="34" charset="0"/>
                <a:cs typeface="Arial Black"/>
              </a:rPr>
              <a:t>Objective</a:t>
            </a:r>
            <a:r>
              <a:rPr sz="900" spc="-85" dirty="0">
                <a:latin typeface="Tahoma"/>
                <a:cs typeface="Tahoma"/>
              </a:rPr>
              <a:t>:</a:t>
            </a:r>
            <a:r>
              <a:rPr sz="900" spc="8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Per</a:t>
            </a:r>
            <a:r>
              <a:rPr sz="900" spc="-10" dirty="0">
                <a:latin typeface="Tahoma"/>
                <a:cs typeface="Tahoma"/>
              </a:rPr>
              <a:t> column: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33804" y="2562065"/>
            <a:ext cx="1447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R</a:t>
            </a:r>
            <a:r>
              <a:rPr sz="750" i="1" spc="-37" baseline="-11111" dirty="0">
                <a:latin typeface="Arial"/>
                <a:cs typeface="Arial"/>
              </a:rPr>
              <a:t>i</a:t>
            </a:r>
            <a:endParaRPr sz="750" baseline="-11111">
              <a:latin typeface="Arial"/>
              <a:cs typeface="Arial"/>
            </a:endParaRPr>
          </a:p>
        </p:txBody>
      </p:sp>
      <p:pic>
        <p:nvPicPr>
          <p:cNvPr id="20" name="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2064" y="2493289"/>
            <a:ext cx="31750" cy="11430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8903" y="2493289"/>
            <a:ext cx="31750" cy="114300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182012" y="251042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2009" y="2493289"/>
            <a:ext cx="31750" cy="11430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1889" y="2493289"/>
            <a:ext cx="31750" cy="114300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1380401" y="2465090"/>
            <a:ext cx="1847214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baseline="6172" dirty="0">
                <a:latin typeface="Tahoma"/>
                <a:cs typeface="Tahoma"/>
              </a:rPr>
              <a:t>min</a:t>
            </a:r>
            <a:r>
              <a:rPr sz="1350" spc="517" baseline="6172" dirty="0">
                <a:latin typeface="Tahoma"/>
                <a:cs typeface="Tahoma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D</a:t>
            </a:r>
            <a:r>
              <a:rPr sz="600" i="1" dirty="0">
                <a:latin typeface="Arial"/>
                <a:cs typeface="Arial"/>
              </a:rPr>
              <a:t>i</a:t>
            </a:r>
            <a:r>
              <a:rPr sz="600" i="1" spc="85" dirty="0">
                <a:latin typeface="Arial"/>
                <a:cs typeface="Arial"/>
              </a:rPr>
              <a:t> </a:t>
            </a:r>
            <a:r>
              <a:rPr sz="1350" spc="322" baseline="6172" dirty="0">
                <a:latin typeface="Cambria"/>
                <a:cs typeface="Cambria"/>
              </a:rPr>
              <a:t>−</a:t>
            </a:r>
            <a:r>
              <a:rPr sz="1350" spc="15" baseline="6172" dirty="0">
                <a:latin typeface="Cambria"/>
                <a:cs typeface="Cambria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R</a:t>
            </a:r>
            <a:r>
              <a:rPr sz="600" i="1" dirty="0">
                <a:latin typeface="Arial"/>
                <a:cs typeface="Arial"/>
              </a:rPr>
              <a:t>i</a:t>
            </a:r>
            <a:r>
              <a:rPr sz="1350" i="1" baseline="6172" dirty="0">
                <a:latin typeface="Arial"/>
                <a:cs typeface="Arial"/>
              </a:rPr>
              <a:t>A</a:t>
            </a:r>
            <a:r>
              <a:rPr sz="600" i="1" dirty="0">
                <a:latin typeface="Arial"/>
                <a:cs typeface="Arial"/>
              </a:rPr>
              <a:t>i</a:t>
            </a:r>
            <a:r>
              <a:rPr sz="600" i="1" spc="345" dirty="0">
                <a:latin typeface="Arial"/>
                <a:cs typeface="Arial"/>
              </a:rPr>
              <a:t> </a:t>
            </a:r>
            <a:r>
              <a:rPr sz="900" baseline="50925" dirty="0">
                <a:latin typeface="Tahoma"/>
                <a:cs typeface="Tahoma"/>
              </a:rPr>
              <a:t>2</a:t>
            </a:r>
            <a:r>
              <a:rPr sz="900" spc="104" baseline="50925" dirty="0">
                <a:latin typeface="Tahoma"/>
                <a:cs typeface="Tahoma"/>
              </a:rPr>
              <a:t> </a:t>
            </a:r>
            <a:r>
              <a:rPr sz="1350" spc="97" baseline="6172" dirty="0">
                <a:latin typeface="Tahoma"/>
                <a:cs typeface="Tahoma"/>
              </a:rPr>
              <a:t>+</a:t>
            </a:r>
            <a:r>
              <a:rPr sz="1350" spc="-112" baseline="6172" dirty="0">
                <a:latin typeface="Tahoma"/>
                <a:cs typeface="Tahoma"/>
              </a:rPr>
              <a:t> </a:t>
            </a:r>
            <a:r>
              <a:rPr sz="1350" i="1" spc="82" baseline="6172" dirty="0">
                <a:latin typeface="Calibri"/>
                <a:cs typeface="Calibri"/>
              </a:rPr>
              <a:t>λ</a:t>
            </a:r>
            <a:r>
              <a:rPr sz="600" spc="55" dirty="0">
                <a:latin typeface="Tahoma"/>
                <a:cs typeface="Tahoma"/>
              </a:rPr>
              <a:t>2</a:t>
            </a:r>
            <a:r>
              <a:rPr sz="600" spc="335" dirty="0">
                <a:latin typeface="Tahoma"/>
                <a:cs typeface="Tahoma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R</a:t>
            </a:r>
            <a:r>
              <a:rPr sz="600" i="1" dirty="0">
                <a:latin typeface="Arial"/>
                <a:cs typeface="Arial"/>
              </a:rPr>
              <a:t>i</a:t>
            </a:r>
            <a:r>
              <a:rPr sz="600" i="1" spc="345" dirty="0">
                <a:latin typeface="Arial"/>
                <a:cs typeface="Arial"/>
              </a:rPr>
              <a:t> </a:t>
            </a:r>
            <a:r>
              <a:rPr sz="600" dirty="0">
                <a:latin typeface="Tahoma"/>
                <a:cs typeface="Tahoma"/>
              </a:rPr>
              <a:t>1</a:t>
            </a:r>
            <a:r>
              <a:rPr sz="1350" i="1" baseline="6172" dirty="0">
                <a:latin typeface="Calibri"/>
                <a:cs typeface="Calibri"/>
              </a:rPr>
              <a:t>,</a:t>
            </a:r>
            <a:r>
              <a:rPr sz="1350" i="1" spc="390" baseline="6172" dirty="0">
                <a:latin typeface="Calibri"/>
                <a:cs typeface="Calibri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r</a:t>
            </a:r>
            <a:r>
              <a:rPr sz="600" i="1" dirty="0">
                <a:latin typeface="Arial"/>
                <a:cs typeface="Arial"/>
              </a:rPr>
              <a:t>ij</a:t>
            </a:r>
            <a:r>
              <a:rPr sz="600" i="1" spc="135" dirty="0">
                <a:latin typeface="Arial"/>
                <a:cs typeface="Arial"/>
              </a:rPr>
              <a:t> </a:t>
            </a:r>
            <a:r>
              <a:rPr sz="1350" spc="322" baseline="6172" dirty="0">
                <a:latin typeface="Cambria"/>
                <a:cs typeface="Cambria"/>
              </a:rPr>
              <a:t>≥</a:t>
            </a:r>
            <a:r>
              <a:rPr sz="1350" spc="89" baseline="6172" dirty="0">
                <a:latin typeface="Cambria"/>
                <a:cs typeface="Cambria"/>
              </a:rPr>
              <a:t> </a:t>
            </a:r>
            <a:r>
              <a:rPr sz="1350" spc="-37" baseline="6172" dirty="0">
                <a:latin typeface="Tahoma"/>
                <a:cs typeface="Tahoma"/>
              </a:rPr>
              <a:t>0</a:t>
            </a:r>
            <a:r>
              <a:rPr sz="1350" i="1" spc="-37" baseline="6172" dirty="0">
                <a:latin typeface="Calibri"/>
                <a:cs typeface="Calibri"/>
              </a:rPr>
              <a:t>.</a:t>
            </a:r>
            <a:endParaRPr sz="1350" baseline="6172">
              <a:latin typeface="Calibri"/>
              <a:cs typeface="Calibr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039710" y="3334738"/>
            <a:ext cx="204470" cy="111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zation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523276" y="3322038"/>
            <a:ext cx="152971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Document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Summarization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via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Sparse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3" action="ppaction://hlinksldjump"/>
              </a:rPr>
              <a:t>Optimi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August</a:t>
            </a:r>
            <a:r>
              <a:rPr spc="-5" dirty="0"/>
              <a:t> </a:t>
            </a:r>
            <a:r>
              <a:rPr dirty="0"/>
              <a:t>23,</a:t>
            </a:r>
            <a:r>
              <a:rPr spc="10" dirty="0"/>
              <a:t> </a:t>
            </a:r>
            <a:r>
              <a:rPr spc="-20" dirty="0"/>
              <a:t>2025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16</a:t>
            </a:fld>
            <a:r>
              <a:rPr spc="-90" dirty="0"/>
              <a:t> </a:t>
            </a:r>
            <a:r>
              <a:rPr spc="90" dirty="0"/>
              <a:t>/</a:t>
            </a:r>
            <a:r>
              <a:rPr spc="-90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278"/>
                </a:lnTo>
                <a:lnTo>
                  <a:pt x="4608004" y="350278"/>
                </a:lnTo>
                <a:lnTo>
                  <a:pt x="4608004" y="0"/>
                </a:lnTo>
                <a:close/>
              </a:path>
            </a:pathLst>
          </a:custGeom>
          <a:solidFill>
            <a:schemeClr val="accent3">
              <a:lumMod val="75000"/>
            </a:scheme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60004"/>
            <a:ext cx="437070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Proximal</a:t>
            </a:r>
            <a:r>
              <a:rPr spc="-55" dirty="0"/>
              <a:t> </a:t>
            </a:r>
            <a:r>
              <a:rPr spc="-25" dirty="0"/>
              <a:t>Gradient</a:t>
            </a:r>
            <a:r>
              <a:rPr spc="-45" dirty="0"/>
              <a:t> </a:t>
            </a:r>
            <a:r>
              <a:rPr spc="-10" dirty="0"/>
              <a:t>Update</a:t>
            </a:r>
            <a:r>
              <a:rPr spc="-45" dirty="0"/>
              <a:t> </a:t>
            </a:r>
            <a:r>
              <a:rPr dirty="0"/>
              <a:t>(P1-</a:t>
            </a:r>
            <a:r>
              <a:rPr spc="-25" dirty="0"/>
              <a:t>P2)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00035" y="772152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00035" y="849482"/>
            <a:ext cx="45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4190" y="788893"/>
            <a:ext cx="58801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69240" algn="l"/>
              </a:tabLst>
            </a:pPr>
            <a:r>
              <a:rPr sz="900" i="1" spc="-50" dirty="0">
                <a:latin typeface="Arial"/>
                <a:cs typeface="Arial"/>
              </a:rPr>
              <a:t>R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soft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42134" y="869692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86254" y="840351"/>
            <a:ext cx="1701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60" dirty="0">
                <a:latin typeface="Calibri"/>
                <a:cs typeface="Calibri"/>
              </a:rPr>
              <a:t>λ</a:t>
            </a:r>
            <a:r>
              <a:rPr sz="600" i="1" spc="175" dirty="0">
                <a:latin typeface="Calibri"/>
                <a:cs typeface="Calibri"/>
              </a:rPr>
              <a:t> </a:t>
            </a:r>
            <a:r>
              <a:rPr sz="600" i="1" spc="15" dirty="0">
                <a:latin typeface="Calibri"/>
                <a:cs typeface="Calibri"/>
              </a:rPr>
              <a:t>η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61349" y="772152"/>
            <a:ext cx="654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61349" y="846891"/>
            <a:ext cx="45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39988" y="788893"/>
            <a:ext cx="5867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254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2</a:t>
            </a:r>
            <a:r>
              <a:rPr sz="900" i="1" spc="-20" dirty="0">
                <a:latin typeface="Calibri"/>
                <a:cs typeface="Calibri"/>
              </a:rPr>
              <a:t>η</a:t>
            </a:r>
            <a:r>
              <a:rPr sz="900" spc="-20" dirty="0">
                <a:latin typeface="Tahoma"/>
                <a:cs typeface="Tahoma"/>
              </a:rPr>
              <a:t>(</a:t>
            </a:r>
            <a:r>
              <a:rPr sz="900" i="1" spc="-20" dirty="0">
                <a:latin typeface="Arial"/>
                <a:cs typeface="Arial"/>
              </a:rPr>
              <a:t>D</a:t>
            </a:r>
            <a:endParaRPr sz="9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845701" y="772152"/>
            <a:ext cx="654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45701" y="846891"/>
            <a:ext cx="45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69870" y="788893"/>
            <a:ext cx="2254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50" dirty="0">
                <a:latin typeface="Arial"/>
                <a:cs typeface="Arial"/>
              </a:rPr>
              <a:t> </a:t>
            </a:r>
            <a:r>
              <a:rPr sz="900" i="1" spc="-50" dirty="0">
                <a:latin typeface="Arial"/>
                <a:cs typeface="Arial"/>
              </a:rPr>
              <a:t>A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575890" y="801555"/>
            <a:ext cx="51562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06400" algn="l"/>
              </a:tabLst>
            </a:pPr>
            <a:r>
              <a:rPr sz="600" i="1" dirty="0">
                <a:latin typeface="Arial"/>
                <a:cs typeface="Arial"/>
              </a:rPr>
              <a:t>i</a:t>
            </a:r>
            <a:r>
              <a:rPr sz="600" i="1" spc="90" dirty="0">
                <a:latin typeface="Arial"/>
                <a:cs typeface="Arial"/>
              </a:rPr>
              <a:t> </a:t>
            </a:r>
            <a:r>
              <a:rPr sz="1350" spc="247" baseline="6172" dirty="0">
                <a:latin typeface="Cambria"/>
                <a:cs typeface="Cambria"/>
              </a:rPr>
              <a:t>−</a:t>
            </a:r>
            <a:r>
              <a:rPr sz="1350" baseline="6172" dirty="0">
                <a:latin typeface="Cambria"/>
                <a:cs typeface="Cambria"/>
              </a:rPr>
              <a:t>	</a:t>
            </a:r>
            <a:r>
              <a:rPr sz="600" i="1" spc="-25" dirty="0">
                <a:latin typeface="Arial"/>
                <a:cs typeface="Arial"/>
              </a:rPr>
              <a:t>i</a:t>
            </a:r>
            <a:r>
              <a:rPr sz="1350" spc="-37" baseline="6172" dirty="0">
                <a:latin typeface="Tahoma"/>
                <a:cs typeface="Tahoma"/>
              </a:rPr>
              <a:t>)</a:t>
            </a:r>
            <a:endParaRPr sz="1350" baseline="6172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118942" y="772152"/>
            <a:ext cx="80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18942" y="846891"/>
            <a:ext cx="45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40710" y="788893"/>
            <a:ext cx="243204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240" dirty="0">
                <a:latin typeface="Arial"/>
                <a:cs typeface="Arial"/>
              </a:rPr>
              <a:t> </a:t>
            </a:r>
            <a:r>
              <a:rPr sz="900" spc="-25" dirty="0">
                <a:latin typeface="Tahoma"/>
                <a:cs typeface="Tahoma"/>
              </a:rPr>
              <a:t>)</a:t>
            </a:r>
            <a:r>
              <a:rPr sz="900" i="1" spc="-25" dirty="0">
                <a:latin typeface="Calibri"/>
                <a:cs typeface="Calibri"/>
              </a:rPr>
              <a:t>,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99285" y="961941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99285" y="1039258"/>
            <a:ext cx="666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ij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305735" y="961941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05735" y="1039258"/>
            <a:ext cx="666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ij</a:t>
            </a:r>
            <a:endParaRPr sz="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659305" y="978682"/>
            <a:ext cx="125730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33679" algn="l"/>
                <a:tab pos="807720" algn="l"/>
              </a:tabLst>
            </a:pPr>
            <a:r>
              <a:rPr sz="900" i="1" spc="-50" dirty="0">
                <a:latin typeface="Arial"/>
                <a:cs typeface="Arial"/>
              </a:rPr>
              <a:t>r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3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max</a:t>
            </a:r>
            <a:r>
              <a:rPr sz="900" spc="-10" dirty="0">
                <a:latin typeface="Cambria"/>
                <a:cs typeface="Cambria"/>
              </a:rPr>
              <a:t>{</a:t>
            </a:r>
            <a:r>
              <a:rPr sz="900" i="1" spc="-10" dirty="0">
                <a:latin typeface="Arial"/>
                <a:cs typeface="Arial"/>
              </a:rPr>
              <a:t>r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i="1" dirty="0">
                <a:latin typeface="Calibri"/>
                <a:cs typeface="Calibri"/>
              </a:rPr>
              <a:t>,</a:t>
            </a:r>
            <a:r>
              <a:rPr sz="900" i="1" spc="-20" dirty="0">
                <a:latin typeface="Calibri"/>
                <a:cs typeface="Calibri"/>
              </a:rPr>
              <a:t> </a:t>
            </a:r>
            <a:r>
              <a:rPr sz="900" dirty="0">
                <a:latin typeface="Tahoma"/>
                <a:cs typeface="Tahoma"/>
              </a:rPr>
              <a:t>0</a:t>
            </a:r>
            <a:r>
              <a:rPr sz="900" dirty="0">
                <a:latin typeface="Cambria"/>
                <a:cs typeface="Cambria"/>
              </a:rPr>
              <a:t>}</a:t>
            </a:r>
            <a:r>
              <a:rPr sz="900" i="1" dirty="0">
                <a:latin typeface="Calibri"/>
                <a:cs typeface="Calibri"/>
              </a:rPr>
              <a:t>,</a:t>
            </a:r>
            <a:r>
              <a:rPr sz="900" i="1" spc="345" dirty="0">
                <a:latin typeface="Calibri"/>
                <a:cs typeface="Calibri"/>
              </a:rPr>
              <a:t> </a:t>
            </a:r>
            <a:r>
              <a:rPr sz="900" spc="-10" dirty="0">
                <a:latin typeface="Cambria"/>
                <a:cs typeface="Cambria"/>
              </a:rPr>
              <a:t>∀</a:t>
            </a:r>
            <a:r>
              <a:rPr sz="900" i="1" spc="-10" dirty="0">
                <a:latin typeface="Arial"/>
                <a:cs typeface="Arial"/>
              </a:rPr>
              <a:t>i</a:t>
            </a:r>
            <a:r>
              <a:rPr sz="900" i="1" spc="-10" dirty="0">
                <a:latin typeface="Calibri"/>
                <a:cs typeface="Calibri"/>
              </a:rPr>
              <a:t>,</a:t>
            </a:r>
            <a:r>
              <a:rPr sz="900" i="1" spc="-20" dirty="0">
                <a:latin typeface="Calibri"/>
                <a:cs typeface="Calibri"/>
              </a:rPr>
              <a:t> </a:t>
            </a:r>
            <a:r>
              <a:rPr sz="900" i="1" spc="-50" dirty="0">
                <a:latin typeface="Arial"/>
                <a:cs typeface="Arial"/>
              </a:rPr>
              <a:t>j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890773" y="978682"/>
            <a:ext cx="58419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i="1" spc="-50" dirty="0">
                <a:latin typeface="Calibri"/>
                <a:cs typeface="Calibri"/>
              </a:rPr>
              <a:t>.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7744" y="1320299"/>
            <a:ext cx="4012565" cy="56705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50800" marR="43180">
              <a:lnSpc>
                <a:spcPts val="1000"/>
              </a:lnSpc>
              <a:spcBef>
                <a:spcPts val="195"/>
              </a:spcBef>
            </a:pPr>
            <a:r>
              <a:rPr sz="1350" spc="-15" baseline="6172" dirty="0">
                <a:latin typeface="Tahoma"/>
                <a:cs typeface="Tahoma"/>
              </a:rPr>
              <a:t>Updates</a:t>
            </a:r>
            <a:r>
              <a:rPr sz="1350" spc="-44" baseline="6172" dirty="0">
                <a:latin typeface="Tahoma"/>
                <a:cs typeface="Tahoma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R</a:t>
            </a:r>
            <a:r>
              <a:rPr sz="600" i="1" dirty="0">
                <a:latin typeface="Arial"/>
                <a:cs typeface="Arial"/>
              </a:rPr>
              <a:t>i</a:t>
            </a:r>
            <a:r>
              <a:rPr sz="600" i="1" spc="120" dirty="0">
                <a:latin typeface="Arial"/>
                <a:cs typeface="Arial"/>
              </a:rPr>
              <a:t> </a:t>
            </a:r>
            <a:r>
              <a:rPr sz="1350" baseline="6172" dirty="0">
                <a:latin typeface="Tahoma"/>
                <a:cs typeface="Tahoma"/>
              </a:rPr>
              <a:t>to</a:t>
            </a:r>
            <a:r>
              <a:rPr sz="1350" spc="-44" baseline="6172" dirty="0">
                <a:latin typeface="Tahoma"/>
                <a:cs typeface="Tahoma"/>
              </a:rPr>
              <a:t> </a:t>
            </a:r>
            <a:r>
              <a:rPr sz="1350" baseline="6172" dirty="0">
                <a:latin typeface="Tahoma"/>
                <a:cs typeface="Tahoma"/>
              </a:rPr>
              <a:t>pick</a:t>
            </a:r>
            <a:r>
              <a:rPr sz="1350" spc="-37" baseline="6172" dirty="0">
                <a:latin typeface="Tahoma"/>
                <a:cs typeface="Tahoma"/>
              </a:rPr>
              <a:t> </a:t>
            </a:r>
            <a:r>
              <a:rPr sz="1350" spc="-30" baseline="6172" dirty="0">
                <a:latin typeface="Tahoma"/>
                <a:cs typeface="Tahoma"/>
              </a:rPr>
              <a:t>key</a:t>
            </a:r>
            <a:r>
              <a:rPr sz="1350" spc="-44" baseline="6172" dirty="0">
                <a:latin typeface="Tahoma"/>
                <a:cs typeface="Tahoma"/>
              </a:rPr>
              <a:t> words, </a:t>
            </a:r>
            <a:r>
              <a:rPr sz="1350" spc="-15" baseline="6172" dirty="0">
                <a:latin typeface="Tahoma"/>
                <a:cs typeface="Tahoma"/>
              </a:rPr>
              <a:t>balancing</a:t>
            </a:r>
            <a:r>
              <a:rPr sz="1350" spc="-44" baseline="6172" dirty="0">
                <a:latin typeface="Tahoma"/>
                <a:cs typeface="Tahoma"/>
              </a:rPr>
              <a:t> </a:t>
            </a:r>
            <a:r>
              <a:rPr sz="1350" spc="-15" baseline="6172" dirty="0">
                <a:latin typeface="Tahoma"/>
                <a:cs typeface="Tahoma"/>
              </a:rPr>
              <a:t>reconstruction</a:t>
            </a:r>
            <a:r>
              <a:rPr sz="1350" spc="-44" baseline="6172" dirty="0">
                <a:latin typeface="Tahoma"/>
                <a:cs typeface="Tahoma"/>
              </a:rPr>
              <a:t> </a:t>
            </a:r>
            <a:r>
              <a:rPr sz="1350" baseline="6172" dirty="0">
                <a:latin typeface="Tahoma"/>
                <a:cs typeface="Tahoma"/>
              </a:rPr>
              <a:t>and</a:t>
            </a:r>
            <a:r>
              <a:rPr sz="1350" spc="-44" baseline="6172" dirty="0">
                <a:latin typeface="Tahoma"/>
                <a:cs typeface="Tahoma"/>
              </a:rPr>
              <a:t> </a:t>
            </a:r>
            <a:r>
              <a:rPr sz="1350" spc="-37" baseline="6172" dirty="0">
                <a:latin typeface="Tahoma"/>
                <a:cs typeface="Tahoma"/>
              </a:rPr>
              <a:t>sparsity.</a:t>
            </a:r>
            <a:r>
              <a:rPr sz="1350" spc="82" baseline="6172" dirty="0">
                <a:latin typeface="Tahoma"/>
                <a:cs typeface="Tahoma"/>
              </a:rPr>
              <a:t> </a:t>
            </a:r>
            <a:r>
              <a:rPr sz="1350" spc="-30" baseline="6172" dirty="0">
                <a:latin typeface="Tahoma"/>
                <a:cs typeface="Tahoma"/>
              </a:rPr>
              <a:t>Like </a:t>
            </a:r>
            <a:r>
              <a:rPr sz="900" dirty="0">
                <a:latin typeface="Tahoma"/>
                <a:cs typeface="Tahoma"/>
              </a:rPr>
              <a:t>trimming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words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to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keep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sentences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short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dirty="0">
                <a:latin typeface="Tahoma"/>
                <a:cs typeface="Tahoma"/>
              </a:rPr>
              <a:t>but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meaningful.</a:t>
            </a:r>
            <a:endParaRPr sz="900" dirty="0">
              <a:latin typeface="Tahoma"/>
              <a:cs typeface="Tahoma"/>
            </a:endParaRPr>
          </a:p>
          <a:p>
            <a:pPr marL="50800">
              <a:lnSpc>
                <a:spcPts val="1040"/>
              </a:lnSpc>
              <a:spcBef>
                <a:spcPts val="90"/>
              </a:spcBef>
            </a:pPr>
            <a:r>
              <a:rPr sz="1350" spc="-120" baseline="6172" dirty="0">
                <a:latin typeface="Arial Black"/>
                <a:cs typeface="Arial Black"/>
              </a:rPr>
              <a:t>Optimization</a:t>
            </a:r>
            <a:r>
              <a:rPr sz="1350" spc="-120" baseline="6172" dirty="0">
                <a:latin typeface="Tahoma"/>
                <a:cs typeface="Tahoma"/>
              </a:rPr>
              <a:t>:</a:t>
            </a:r>
            <a:r>
              <a:rPr sz="1350" spc="142" baseline="6172" dirty="0">
                <a:latin typeface="Tahoma"/>
                <a:cs typeface="Tahoma"/>
              </a:rPr>
              <a:t> </a:t>
            </a:r>
            <a:r>
              <a:rPr sz="1350" baseline="6172" dirty="0">
                <a:latin typeface="Tahoma"/>
                <a:cs typeface="Tahoma"/>
              </a:rPr>
              <a:t>Minimizes </a:t>
            </a:r>
            <a:r>
              <a:rPr sz="1350" spc="-15" baseline="6172" dirty="0">
                <a:latin typeface="Tahoma"/>
                <a:cs typeface="Tahoma"/>
              </a:rPr>
              <a:t>quadratic</a:t>
            </a:r>
            <a:r>
              <a:rPr sz="1350" baseline="6172" dirty="0">
                <a:latin typeface="Tahoma"/>
                <a:cs typeface="Tahoma"/>
              </a:rPr>
              <a:t> plus</a:t>
            </a:r>
            <a:r>
              <a:rPr sz="1350" spc="7" baseline="6172" dirty="0">
                <a:latin typeface="Tahoma"/>
                <a:cs typeface="Tahoma"/>
              </a:rPr>
              <a:t> </a:t>
            </a:r>
            <a:r>
              <a:rPr sz="1350" i="1" spc="-37" baseline="6172" dirty="0">
                <a:latin typeface="Calibri"/>
                <a:cs typeface="Calibri"/>
              </a:rPr>
              <a:t>ℓ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1350" spc="-37" baseline="6172" dirty="0">
                <a:latin typeface="Tahoma"/>
                <a:cs typeface="Tahoma"/>
              </a:rPr>
              <a:t>-</a:t>
            </a:r>
            <a:r>
              <a:rPr sz="1350" spc="-15" baseline="6172" dirty="0">
                <a:latin typeface="Tahoma"/>
                <a:cs typeface="Tahoma"/>
              </a:rPr>
              <a:t>norm.</a:t>
            </a:r>
            <a:endParaRPr sz="1350" baseline="6172" dirty="0">
              <a:latin typeface="Tahoma"/>
              <a:cs typeface="Tahoma"/>
            </a:endParaRPr>
          </a:p>
          <a:p>
            <a:pPr marL="50800">
              <a:lnSpc>
                <a:spcPts val="1040"/>
              </a:lnSpc>
            </a:pPr>
            <a:r>
              <a:rPr sz="900" spc="-10" dirty="0">
                <a:latin typeface="Arial Black"/>
                <a:cs typeface="Arial Black"/>
              </a:rPr>
              <a:t>Derivation</a:t>
            </a:r>
            <a:r>
              <a:rPr sz="900" spc="-10" dirty="0">
                <a:latin typeface="Tahoma"/>
                <a:cs typeface="Tahoma"/>
              </a:rPr>
              <a:t>: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33" name="object 3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165" y="1973821"/>
            <a:ext cx="65201" cy="65201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5521" y="1955825"/>
            <a:ext cx="31750" cy="11430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72360" y="1955825"/>
            <a:ext cx="31750" cy="114300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1905482" y="1975185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-50" dirty="0"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37" name="object 3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5466" y="1955825"/>
            <a:ext cx="31750" cy="114300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95359" y="1955825"/>
            <a:ext cx="31750" cy="114300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377532" y="1927626"/>
            <a:ext cx="21812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350" spc="-15" baseline="6172" dirty="0">
                <a:latin typeface="Tahoma"/>
                <a:cs typeface="Tahoma"/>
              </a:rPr>
              <a:t>Objective:</a:t>
            </a:r>
            <a:r>
              <a:rPr sz="1350" spc="179" baseline="6172" dirty="0">
                <a:latin typeface="Tahoma"/>
                <a:cs typeface="Tahoma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f</a:t>
            </a:r>
            <a:r>
              <a:rPr sz="1350" baseline="6172" dirty="0">
                <a:latin typeface="Tahoma"/>
                <a:cs typeface="Tahoma"/>
              </a:rPr>
              <a:t>(</a:t>
            </a:r>
            <a:r>
              <a:rPr sz="1350" i="1" baseline="6172" dirty="0">
                <a:latin typeface="Arial"/>
                <a:cs typeface="Arial"/>
              </a:rPr>
              <a:t>R</a:t>
            </a:r>
            <a:r>
              <a:rPr sz="600" i="1" dirty="0">
                <a:latin typeface="Arial"/>
                <a:cs typeface="Arial"/>
              </a:rPr>
              <a:t>i</a:t>
            </a:r>
            <a:r>
              <a:rPr sz="1350" baseline="6172" dirty="0">
                <a:latin typeface="Tahoma"/>
                <a:cs typeface="Tahoma"/>
              </a:rPr>
              <a:t>)</a:t>
            </a:r>
            <a:r>
              <a:rPr sz="1350" spc="-52" baseline="6172" dirty="0">
                <a:latin typeface="Tahoma"/>
                <a:cs typeface="Tahoma"/>
              </a:rPr>
              <a:t> </a:t>
            </a:r>
            <a:r>
              <a:rPr sz="1350" spc="97" baseline="6172" dirty="0">
                <a:latin typeface="Tahoma"/>
                <a:cs typeface="Tahoma"/>
              </a:rPr>
              <a:t>=</a:t>
            </a:r>
            <a:r>
              <a:rPr sz="1350" spc="660" baseline="6172" dirty="0">
                <a:latin typeface="Tahoma"/>
                <a:cs typeface="Tahoma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D</a:t>
            </a:r>
            <a:r>
              <a:rPr sz="600" i="1" dirty="0">
                <a:latin typeface="Arial"/>
                <a:cs typeface="Arial"/>
              </a:rPr>
              <a:t>i</a:t>
            </a:r>
            <a:r>
              <a:rPr sz="600" i="1" spc="80" dirty="0">
                <a:latin typeface="Arial"/>
                <a:cs typeface="Arial"/>
              </a:rPr>
              <a:t> </a:t>
            </a:r>
            <a:r>
              <a:rPr sz="1350" spc="322" baseline="6172" dirty="0">
                <a:latin typeface="Cambria"/>
                <a:cs typeface="Cambria"/>
              </a:rPr>
              <a:t>−</a:t>
            </a:r>
            <a:r>
              <a:rPr sz="1350" baseline="6172" dirty="0">
                <a:latin typeface="Cambria"/>
                <a:cs typeface="Cambria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R</a:t>
            </a:r>
            <a:r>
              <a:rPr sz="600" i="1" dirty="0">
                <a:latin typeface="Arial"/>
                <a:cs typeface="Arial"/>
              </a:rPr>
              <a:t>i</a:t>
            </a:r>
            <a:r>
              <a:rPr sz="1350" i="1" baseline="6172" dirty="0">
                <a:latin typeface="Arial"/>
                <a:cs typeface="Arial"/>
              </a:rPr>
              <a:t>A</a:t>
            </a:r>
            <a:r>
              <a:rPr sz="600" i="1" dirty="0">
                <a:latin typeface="Arial"/>
                <a:cs typeface="Arial"/>
              </a:rPr>
              <a:t>i</a:t>
            </a:r>
            <a:r>
              <a:rPr sz="600" i="1" spc="330" dirty="0">
                <a:latin typeface="Arial"/>
                <a:cs typeface="Arial"/>
              </a:rPr>
              <a:t> </a:t>
            </a:r>
            <a:r>
              <a:rPr sz="900" baseline="46296" dirty="0">
                <a:latin typeface="Tahoma"/>
                <a:cs typeface="Tahoma"/>
              </a:rPr>
              <a:t>2</a:t>
            </a:r>
            <a:r>
              <a:rPr sz="900" spc="97" baseline="46296" dirty="0">
                <a:latin typeface="Tahoma"/>
                <a:cs typeface="Tahoma"/>
              </a:rPr>
              <a:t> </a:t>
            </a:r>
            <a:r>
              <a:rPr sz="1350" spc="97" baseline="6172" dirty="0">
                <a:latin typeface="Tahoma"/>
                <a:cs typeface="Tahoma"/>
              </a:rPr>
              <a:t>+</a:t>
            </a:r>
            <a:r>
              <a:rPr sz="1350" spc="-120" baseline="6172" dirty="0">
                <a:latin typeface="Tahoma"/>
                <a:cs typeface="Tahoma"/>
              </a:rPr>
              <a:t> </a:t>
            </a:r>
            <a:r>
              <a:rPr sz="1350" i="1" spc="82" baseline="6172" dirty="0">
                <a:latin typeface="Calibri"/>
                <a:cs typeface="Calibri"/>
              </a:rPr>
              <a:t>λ</a:t>
            </a:r>
            <a:r>
              <a:rPr sz="600" spc="55" dirty="0">
                <a:latin typeface="Tahoma"/>
                <a:cs typeface="Tahoma"/>
              </a:rPr>
              <a:t>2</a:t>
            </a:r>
            <a:r>
              <a:rPr sz="600" spc="315" dirty="0">
                <a:latin typeface="Tahoma"/>
                <a:cs typeface="Tahoma"/>
              </a:rPr>
              <a:t> </a:t>
            </a:r>
            <a:r>
              <a:rPr sz="1350" i="1" baseline="6172" dirty="0">
                <a:latin typeface="Arial"/>
                <a:cs typeface="Arial"/>
              </a:rPr>
              <a:t>R</a:t>
            </a:r>
            <a:r>
              <a:rPr sz="600" i="1" dirty="0">
                <a:latin typeface="Arial"/>
                <a:cs typeface="Arial"/>
              </a:rPr>
              <a:t>i</a:t>
            </a:r>
            <a:r>
              <a:rPr sz="600" i="1" spc="330" dirty="0">
                <a:latin typeface="Arial"/>
                <a:cs typeface="Arial"/>
              </a:rPr>
              <a:t> </a:t>
            </a:r>
            <a:r>
              <a:rPr sz="600" spc="-25" dirty="0">
                <a:latin typeface="Tahoma"/>
                <a:cs typeface="Tahoma"/>
              </a:rPr>
              <a:t>1</a:t>
            </a:r>
            <a:r>
              <a:rPr sz="1350" spc="-37" baseline="6172" dirty="0">
                <a:latin typeface="Tahoma"/>
                <a:cs typeface="Tahoma"/>
              </a:rPr>
              <a:t>.</a:t>
            </a:r>
            <a:endParaRPr sz="1350" baseline="6172">
              <a:latin typeface="Tahoma"/>
              <a:cs typeface="Tahoma"/>
            </a:endParaRPr>
          </a:p>
        </p:txBody>
      </p:sp>
      <p:pic>
        <p:nvPicPr>
          <p:cNvPr id="40" name="object 4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165" y="2163610"/>
            <a:ext cx="65201" cy="65201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1054684" y="2184510"/>
            <a:ext cx="419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-50" dirty="0">
                <a:latin typeface="Arial"/>
                <a:cs typeface="Arial"/>
              </a:rPr>
              <a:t>i</a:t>
            </a:r>
            <a:endParaRPr sz="500">
              <a:latin typeface="Arial"/>
              <a:cs typeface="Arial"/>
            </a:endParaRPr>
          </a:p>
        </p:txBody>
      </p:sp>
      <p:pic>
        <p:nvPicPr>
          <p:cNvPr id="42" name="object 4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08748" y="2145614"/>
            <a:ext cx="31750" cy="114300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25574" y="2145614"/>
            <a:ext cx="31750" cy="114300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1658696" y="2164974"/>
            <a:ext cx="102489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91869" algn="l"/>
              </a:tabLst>
            </a:pPr>
            <a:r>
              <a:rPr sz="600" spc="-50" dirty="0">
                <a:latin typeface="Tahoma"/>
                <a:cs typeface="Tahoma"/>
              </a:rPr>
              <a:t>2</a:t>
            </a:r>
            <a:r>
              <a:rPr sz="600" dirty="0">
                <a:latin typeface="Tahoma"/>
                <a:cs typeface="Tahoma"/>
              </a:rPr>
              <a:t>	</a:t>
            </a:r>
            <a:r>
              <a:rPr sz="600" i="1" spc="-50" dirty="0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77532" y="2104766"/>
            <a:ext cx="24060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Tahoma"/>
                <a:cs typeface="Tahoma"/>
              </a:rPr>
              <a:t>Gradient:</a:t>
            </a:r>
            <a:r>
              <a:rPr sz="900" spc="150" dirty="0">
                <a:latin typeface="Tahoma"/>
                <a:cs typeface="Tahoma"/>
              </a:rPr>
              <a:t> </a:t>
            </a:r>
            <a:r>
              <a:rPr sz="900" spc="95" dirty="0">
                <a:latin typeface="Cambria"/>
                <a:cs typeface="Cambria"/>
              </a:rPr>
              <a:t>∇</a:t>
            </a:r>
            <a:r>
              <a:rPr sz="900" i="1" spc="142" baseline="-9259" dirty="0">
                <a:latin typeface="Arial"/>
                <a:cs typeface="Arial"/>
              </a:rPr>
              <a:t>R</a:t>
            </a:r>
            <a:r>
              <a:rPr sz="900" i="1" spc="284" baseline="-9259" dirty="0">
                <a:latin typeface="Arial"/>
                <a:cs typeface="Arial"/>
              </a:rPr>
              <a:t>  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baseline="-9259" dirty="0">
                <a:latin typeface="Arial"/>
                <a:cs typeface="Arial"/>
              </a:rPr>
              <a:t>i</a:t>
            </a:r>
            <a:r>
              <a:rPr sz="900" i="1" spc="150" baseline="-9259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20" dirty="0">
                <a:latin typeface="Cambria"/>
                <a:cs typeface="Cambria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baseline="-9259" dirty="0">
                <a:latin typeface="Arial"/>
                <a:cs typeface="Arial"/>
              </a:rPr>
              <a:t>i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baseline="-9259" dirty="0">
                <a:latin typeface="Arial"/>
                <a:cs typeface="Arial"/>
              </a:rPr>
              <a:t>i</a:t>
            </a:r>
            <a:r>
              <a:rPr sz="900" i="1" spc="555" baseline="-9259" dirty="0">
                <a:latin typeface="Arial"/>
                <a:cs typeface="Arial"/>
              </a:rPr>
              <a:t> </a:t>
            </a:r>
            <a:r>
              <a:rPr sz="900" baseline="37037" dirty="0">
                <a:latin typeface="Tahoma"/>
                <a:cs typeface="Tahoma"/>
              </a:rPr>
              <a:t>2</a:t>
            </a:r>
            <a:r>
              <a:rPr sz="900" spc="202" baseline="37037" dirty="0">
                <a:latin typeface="Tahoma"/>
                <a:cs typeface="Tahoma"/>
              </a:rPr>
              <a:t> 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5" dirty="0">
                <a:latin typeface="Tahoma"/>
                <a:cs typeface="Tahoma"/>
              </a:rPr>
              <a:t> </a:t>
            </a:r>
            <a:r>
              <a:rPr sz="900" dirty="0">
                <a:latin typeface="Cambria"/>
                <a:cs typeface="Cambria"/>
              </a:rPr>
              <a:t>−</a:t>
            </a:r>
            <a:r>
              <a:rPr sz="900" dirty="0">
                <a:latin typeface="Tahoma"/>
                <a:cs typeface="Tahoma"/>
              </a:rPr>
              <a:t>2(</a:t>
            </a:r>
            <a:r>
              <a:rPr sz="900" i="1" dirty="0">
                <a:latin typeface="Arial"/>
                <a:cs typeface="Arial"/>
              </a:rPr>
              <a:t>D</a:t>
            </a:r>
            <a:r>
              <a:rPr sz="900" i="1" baseline="-9259" dirty="0">
                <a:latin typeface="Arial"/>
                <a:cs typeface="Arial"/>
              </a:rPr>
              <a:t>i</a:t>
            </a:r>
            <a:r>
              <a:rPr sz="900" i="1" spc="142" baseline="-9259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20" dirty="0">
                <a:latin typeface="Cambria"/>
                <a:cs typeface="Cambria"/>
              </a:rPr>
              <a:t> </a:t>
            </a:r>
            <a:r>
              <a:rPr sz="900" i="1" spc="-10" dirty="0">
                <a:latin typeface="Arial"/>
                <a:cs typeface="Arial"/>
              </a:rPr>
              <a:t>R</a:t>
            </a:r>
            <a:r>
              <a:rPr sz="900" i="1" spc="-15" baseline="-9259" dirty="0">
                <a:latin typeface="Arial"/>
                <a:cs typeface="Arial"/>
              </a:rPr>
              <a:t>i</a:t>
            </a:r>
            <a:r>
              <a:rPr sz="900" i="1" spc="-10" dirty="0">
                <a:latin typeface="Arial"/>
                <a:cs typeface="Arial"/>
              </a:rPr>
              <a:t>A</a:t>
            </a:r>
            <a:r>
              <a:rPr sz="900" i="1" spc="-15" baseline="-9259" dirty="0">
                <a:latin typeface="Arial"/>
                <a:cs typeface="Arial"/>
              </a:rPr>
              <a:t>i</a:t>
            </a:r>
            <a:r>
              <a:rPr sz="900" spc="-10" dirty="0">
                <a:latin typeface="Tahoma"/>
                <a:cs typeface="Tahoma"/>
              </a:rPr>
              <a:t>)</a:t>
            </a:r>
            <a:r>
              <a:rPr sz="900" i="1" spc="-10" dirty="0">
                <a:latin typeface="Arial"/>
                <a:cs typeface="Arial"/>
              </a:rPr>
              <a:t>A</a:t>
            </a:r>
            <a:r>
              <a:rPr sz="900" i="1" spc="-15" baseline="37037" dirty="0">
                <a:latin typeface="Arial"/>
                <a:cs typeface="Arial"/>
              </a:rPr>
              <a:t>T</a:t>
            </a:r>
            <a:r>
              <a:rPr sz="900" spc="-10" dirty="0"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46" name="object 4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1165" y="2353398"/>
            <a:ext cx="65201" cy="65201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1366685" y="2284138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66685" y="2361455"/>
            <a:ext cx="45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02932" y="2294554"/>
            <a:ext cx="150050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57605" algn="l"/>
              </a:tabLst>
            </a:pPr>
            <a:r>
              <a:rPr sz="900" dirty="0">
                <a:latin typeface="Tahoma"/>
                <a:cs typeface="Tahoma"/>
              </a:rPr>
              <a:t>Proximal</a:t>
            </a:r>
            <a:r>
              <a:rPr sz="900" spc="-4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update:</a:t>
            </a:r>
            <a:r>
              <a:rPr sz="900" spc="40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R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prox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50" name="object 5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27862" y="2392387"/>
            <a:ext cx="22225" cy="76200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50656" y="2392387"/>
            <a:ext cx="22225" cy="76200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1839734" y="2360922"/>
            <a:ext cx="549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491490" algn="l"/>
              </a:tabLst>
            </a:pPr>
            <a:r>
              <a:rPr sz="600" i="1" spc="75" dirty="0">
                <a:latin typeface="Calibri"/>
                <a:cs typeface="Calibri"/>
              </a:rPr>
              <a:t>λ</a:t>
            </a:r>
            <a:r>
              <a:rPr sz="750" spc="112" baseline="-16666" dirty="0">
                <a:latin typeface="Tahoma"/>
                <a:cs typeface="Tahoma"/>
              </a:rPr>
              <a:t>2</a:t>
            </a:r>
            <a:r>
              <a:rPr sz="750" spc="-179" baseline="-16666" dirty="0">
                <a:latin typeface="Tahoma"/>
                <a:cs typeface="Tahoma"/>
              </a:rPr>
              <a:t> </a:t>
            </a:r>
            <a:r>
              <a:rPr sz="600" i="1" spc="65" dirty="0">
                <a:latin typeface="Calibri"/>
                <a:cs typeface="Calibri"/>
              </a:rPr>
              <a:t>η</a:t>
            </a:r>
            <a:r>
              <a:rPr sz="600" i="1" spc="275" dirty="0">
                <a:latin typeface="Calibri"/>
                <a:cs typeface="Calibri"/>
              </a:rPr>
              <a:t> </a:t>
            </a:r>
            <a:r>
              <a:rPr sz="600" i="1" spc="-25" dirty="0">
                <a:latin typeface="Verdana"/>
                <a:cs typeface="Verdana"/>
              </a:rPr>
              <a:t>·</a:t>
            </a:r>
            <a:r>
              <a:rPr sz="750" spc="-37" baseline="-16666" dirty="0">
                <a:latin typeface="Tahoma"/>
                <a:cs typeface="Tahoma"/>
              </a:rPr>
              <a:t>1</a:t>
            </a:r>
            <a:r>
              <a:rPr sz="750" baseline="-16666" dirty="0">
                <a:latin typeface="Tahoma"/>
                <a:cs typeface="Tahoma"/>
              </a:rPr>
              <a:t>	</a:t>
            </a:r>
            <a:r>
              <a:rPr sz="900" i="1" spc="-75" baseline="4629" dirty="0">
                <a:latin typeface="Arial"/>
                <a:cs typeface="Arial"/>
              </a:rPr>
              <a:t>i</a:t>
            </a:r>
            <a:endParaRPr sz="900" baseline="4629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2719730" y="2374299"/>
            <a:ext cx="4191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i="1" spc="-50" dirty="0">
                <a:latin typeface="Arial"/>
                <a:cs typeface="Arial"/>
              </a:rPr>
              <a:t>i</a:t>
            </a:r>
            <a:endParaRPr sz="5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171915" y="2294554"/>
            <a:ext cx="7054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baseline="37037" dirty="0">
                <a:latin typeface="Arial"/>
                <a:cs typeface="Arial"/>
              </a:rPr>
              <a:t>k</a:t>
            </a:r>
            <a:r>
              <a:rPr sz="900" i="1" spc="89" baseline="37037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-5" dirty="0">
                <a:latin typeface="Cambria"/>
                <a:cs typeface="Cambria"/>
              </a:rPr>
              <a:t> </a:t>
            </a:r>
            <a:r>
              <a:rPr sz="900" i="1" spc="70" dirty="0">
                <a:latin typeface="Calibri"/>
                <a:cs typeface="Calibri"/>
              </a:rPr>
              <a:t>η</a:t>
            </a:r>
            <a:r>
              <a:rPr sz="900" spc="70" dirty="0">
                <a:latin typeface="Cambria"/>
                <a:cs typeface="Cambria"/>
              </a:rPr>
              <a:t>∇</a:t>
            </a:r>
            <a:r>
              <a:rPr sz="900" i="1" spc="104" baseline="-9259" dirty="0">
                <a:latin typeface="Arial"/>
                <a:cs typeface="Arial"/>
              </a:rPr>
              <a:t>R</a:t>
            </a:r>
            <a:r>
              <a:rPr sz="900" i="1" spc="60" baseline="-9259" dirty="0">
                <a:latin typeface="Arial"/>
                <a:cs typeface="Arial"/>
              </a:rPr>
              <a:t> </a:t>
            </a:r>
            <a:r>
              <a:rPr sz="900" spc="-25" dirty="0">
                <a:latin typeface="Tahoma"/>
                <a:cs typeface="Tahoma"/>
              </a:rPr>
              <a:t>).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55" name="object 5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81165" y="2565107"/>
            <a:ext cx="65201" cy="65201"/>
          </a:xfrm>
          <a:prstGeom prst="rect">
            <a:avLst/>
          </a:prstGeom>
        </p:spPr>
      </p:pic>
      <p:sp>
        <p:nvSpPr>
          <p:cNvPr id="56" name="object 56"/>
          <p:cNvSpPr txBox="1"/>
          <p:nvPr/>
        </p:nvSpPr>
        <p:spPr>
          <a:xfrm>
            <a:off x="1004912" y="2495860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04912" y="2573177"/>
            <a:ext cx="45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402932" y="2506276"/>
            <a:ext cx="111379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95655" algn="l"/>
              </a:tabLst>
            </a:pPr>
            <a:r>
              <a:rPr sz="900" spc="-10" dirty="0">
                <a:latin typeface="Tahoma"/>
                <a:cs typeface="Tahoma"/>
              </a:rPr>
              <a:t>Compute:</a:t>
            </a:r>
            <a:r>
              <a:rPr sz="900" spc="50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R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25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soft</a:t>
            </a:r>
            <a:endParaRPr sz="900">
              <a:latin typeface="Tahoma"/>
              <a:cs typeface="Tahoma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547012" y="2587062"/>
            <a:ext cx="5905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00" spc="-50" dirty="0">
                <a:latin typeface="Tahoma"/>
                <a:cs typeface="Tahoma"/>
              </a:rPr>
              <a:t>2</a:t>
            </a:r>
            <a:endParaRPr sz="500">
              <a:latin typeface="Tahoma"/>
              <a:cs typeface="Tahoma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491132" y="2557721"/>
            <a:ext cx="17018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60" dirty="0">
                <a:latin typeface="Calibri"/>
                <a:cs typeface="Calibri"/>
              </a:rPr>
              <a:t>λ</a:t>
            </a:r>
            <a:r>
              <a:rPr sz="600" i="1" spc="175" dirty="0">
                <a:latin typeface="Calibri"/>
                <a:cs typeface="Calibri"/>
              </a:rPr>
              <a:t> </a:t>
            </a:r>
            <a:r>
              <a:rPr sz="600" i="1" spc="15" dirty="0">
                <a:latin typeface="Calibri"/>
                <a:cs typeface="Calibri"/>
              </a:rPr>
              <a:t>η</a:t>
            </a:r>
            <a:endParaRPr sz="600">
              <a:latin typeface="Calibri"/>
              <a:cs typeface="Calibri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766214" y="2495860"/>
            <a:ext cx="654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766214" y="2565265"/>
            <a:ext cx="45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644865" y="2506276"/>
            <a:ext cx="58674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latin typeface="Tahoma"/>
                <a:cs typeface="Tahoma"/>
              </a:rPr>
              <a:t>(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spc="254" dirty="0">
                <a:latin typeface="Arial"/>
                <a:cs typeface="Arial"/>
              </a:rPr>
              <a:t> </a:t>
            </a:r>
            <a:r>
              <a:rPr sz="900" spc="65" dirty="0">
                <a:latin typeface="Tahoma"/>
                <a:cs typeface="Tahoma"/>
              </a:rPr>
              <a:t>+</a:t>
            </a:r>
            <a:r>
              <a:rPr sz="900" spc="-8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2</a:t>
            </a:r>
            <a:r>
              <a:rPr sz="900" i="1" spc="-20" dirty="0">
                <a:latin typeface="Calibri"/>
                <a:cs typeface="Calibri"/>
              </a:rPr>
              <a:t>η</a:t>
            </a:r>
            <a:r>
              <a:rPr sz="900" spc="-20" dirty="0">
                <a:latin typeface="Tahoma"/>
                <a:cs typeface="Tahoma"/>
              </a:rPr>
              <a:t>(</a:t>
            </a:r>
            <a:r>
              <a:rPr sz="900" i="1" spc="-20" dirty="0">
                <a:latin typeface="Arial"/>
                <a:cs typeface="Arial"/>
              </a:rPr>
              <a:t>D</a:t>
            </a:r>
            <a:endParaRPr sz="9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450579" y="2495860"/>
            <a:ext cx="6540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k</a:t>
            </a:r>
            <a:endParaRPr sz="6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723819" y="2495860"/>
            <a:ext cx="8064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15" dirty="0">
                <a:latin typeface="Arial"/>
                <a:cs typeface="Arial"/>
              </a:rPr>
              <a:t>T</a:t>
            </a:r>
            <a:endParaRPr sz="6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723819" y="2565265"/>
            <a:ext cx="4508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i</a:t>
            </a:r>
            <a:endParaRPr sz="6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2142667" y="2506276"/>
            <a:ext cx="77152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</a:pPr>
            <a:r>
              <a:rPr sz="900" i="1" baseline="-9259" dirty="0">
                <a:latin typeface="Arial"/>
                <a:cs typeface="Arial"/>
              </a:rPr>
              <a:t>i</a:t>
            </a:r>
            <a:r>
              <a:rPr sz="900" i="1" spc="135" baseline="-9259" dirty="0">
                <a:latin typeface="Arial"/>
                <a:cs typeface="Arial"/>
              </a:rPr>
              <a:t> </a:t>
            </a:r>
            <a:r>
              <a:rPr sz="900" spc="215" dirty="0">
                <a:latin typeface="Cambria"/>
                <a:cs typeface="Cambria"/>
              </a:rPr>
              <a:t>−</a:t>
            </a:r>
            <a:r>
              <a:rPr sz="900" spc="10" dirty="0">
                <a:latin typeface="Cambria"/>
                <a:cs typeface="Cambria"/>
              </a:rPr>
              <a:t> </a:t>
            </a:r>
            <a:r>
              <a:rPr sz="900" i="1" dirty="0">
                <a:latin typeface="Arial"/>
                <a:cs typeface="Arial"/>
              </a:rPr>
              <a:t>R</a:t>
            </a:r>
            <a:r>
              <a:rPr sz="900" i="1" baseline="-13888" dirty="0">
                <a:latin typeface="Arial"/>
                <a:cs typeface="Arial"/>
              </a:rPr>
              <a:t>i</a:t>
            </a:r>
            <a:r>
              <a:rPr sz="900" i="1" spc="75" baseline="-13888" dirty="0">
                <a:latin typeface="Arial"/>
                <a:cs typeface="Arial"/>
              </a:rPr>
              <a:t> 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baseline="-9259" dirty="0">
                <a:latin typeface="Arial"/>
                <a:cs typeface="Arial"/>
              </a:rPr>
              <a:t>i</a:t>
            </a:r>
            <a:r>
              <a:rPr sz="900" dirty="0">
                <a:latin typeface="Tahoma"/>
                <a:cs typeface="Tahoma"/>
              </a:rPr>
              <a:t>)</a:t>
            </a:r>
            <a:r>
              <a:rPr sz="900" i="1" dirty="0">
                <a:latin typeface="Arial"/>
                <a:cs typeface="Arial"/>
              </a:rPr>
              <a:t>A</a:t>
            </a:r>
            <a:r>
              <a:rPr sz="900" i="1" spc="250" dirty="0">
                <a:latin typeface="Arial"/>
                <a:cs typeface="Arial"/>
              </a:rPr>
              <a:t> </a:t>
            </a:r>
            <a:r>
              <a:rPr sz="900" spc="-25" dirty="0">
                <a:latin typeface="Tahoma"/>
                <a:cs typeface="Tahoma"/>
              </a:rPr>
              <a:t>).</a:t>
            </a:r>
            <a:endParaRPr sz="900">
              <a:latin typeface="Tahoma"/>
              <a:cs typeface="Tahoma"/>
            </a:endParaRPr>
          </a:p>
        </p:txBody>
      </p:sp>
      <p:pic>
        <p:nvPicPr>
          <p:cNvPr id="68" name="object 6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81165" y="2754896"/>
            <a:ext cx="65201" cy="65201"/>
          </a:xfrm>
          <a:prstGeom prst="rect">
            <a:avLst/>
          </a:prstGeom>
        </p:spPr>
      </p:pic>
      <p:sp>
        <p:nvSpPr>
          <p:cNvPr id="69" name="object 69"/>
          <p:cNvSpPr txBox="1"/>
          <p:nvPr/>
        </p:nvSpPr>
        <p:spPr>
          <a:xfrm>
            <a:off x="1332636" y="2685648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332636" y="2762966"/>
            <a:ext cx="666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ij</a:t>
            </a:r>
            <a:endParaRPr sz="60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939086" y="2685648"/>
            <a:ext cx="1682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k</a:t>
            </a:r>
            <a:r>
              <a:rPr sz="600" spc="-25" dirty="0">
                <a:latin typeface="Verdana"/>
                <a:cs typeface="Verdana"/>
              </a:rPr>
              <a:t>+</a:t>
            </a:r>
            <a:r>
              <a:rPr sz="600" spc="-25" dirty="0"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939086" y="2762966"/>
            <a:ext cx="6667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25" dirty="0">
                <a:latin typeface="Arial"/>
                <a:cs typeface="Arial"/>
              </a:rPr>
              <a:t>ij</a:t>
            </a:r>
            <a:endParaRPr sz="6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402932" y="2696065"/>
            <a:ext cx="191198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23315" algn="l"/>
                <a:tab pos="1697355" algn="l"/>
              </a:tabLst>
            </a:pPr>
            <a:r>
              <a:rPr sz="900" dirty="0">
                <a:latin typeface="Tahoma"/>
                <a:cs typeface="Tahoma"/>
              </a:rPr>
              <a:t>Apply</a:t>
            </a:r>
            <a:r>
              <a:rPr sz="900" spc="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constraint:</a:t>
            </a:r>
            <a:r>
              <a:rPr sz="900" spc="105" dirty="0">
                <a:latin typeface="Tahoma"/>
                <a:cs typeface="Tahoma"/>
              </a:rPr>
              <a:t> </a:t>
            </a:r>
            <a:r>
              <a:rPr sz="900" i="1" spc="-50" dirty="0">
                <a:latin typeface="Arial"/>
                <a:cs typeface="Arial"/>
              </a:rPr>
              <a:t>r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spc="65" dirty="0">
                <a:latin typeface="Tahoma"/>
                <a:cs typeface="Tahoma"/>
              </a:rPr>
              <a:t>=</a:t>
            </a: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max</a:t>
            </a:r>
            <a:r>
              <a:rPr sz="900" spc="-20" dirty="0">
                <a:latin typeface="Cambria"/>
                <a:cs typeface="Cambria"/>
              </a:rPr>
              <a:t>{</a:t>
            </a:r>
            <a:r>
              <a:rPr sz="900" i="1" spc="-20" dirty="0">
                <a:latin typeface="Arial"/>
                <a:cs typeface="Arial"/>
              </a:rPr>
              <a:t>r</a:t>
            </a:r>
            <a:r>
              <a:rPr sz="900" i="1" dirty="0">
                <a:latin typeface="Arial"/>
                <a:cs typeface="Arial"/>
              </a:rPr>
              <a:t>	</a:t>
            </a:r>
            <a:r>
              <a:rPr sz="900" i="1" dirty="0">
                <a:latin typeface="Calibri"/>
                <a:cs typeface="Calibri"/>
              </a:rPr>
              <a:t>,</a:t>
            </a:r>
            <a:r>
              <a:rPr sz="900" i="1" spc="-25" dirty="0">
                <a:latin typeface="Calibri"/>
                <a:cs typeface="Calibri"/>
              </a:rPr>
              <a:t> </a:t>
            </a:r>
            <a:r>
              <a:rPr sz="900" spc="-25" dirty="0">
                <a:latin typeface="Tahoma"/>
                <a:cs typeface="Tahoma"/>
              </a:rPr>
              <a:t>0</a:t>
            </a:r>
            <a:r>
              <a:rPr sz="900" spc="-25" dirty="0">
                <a:latin typeface="Cambria"/>
                <a:cs typeface="Cambria"/>
              </a:rPr>
              <a:t>}</a:t>
            </a:r>
            <a:r>
              <a:rPr sz="900" spc="-25" dirty="0">
                <a:latin typeface="Tahoma"/>
                <a:cs typeface="Tahoma"/>
              </a:rPr>
              <a:t>.</a:t>
            </a:r>
            <a:endParaRPr sz="900">
              <a:latin typeface="Tahoma"/>
              <a:cs typeface="Tahoma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3039710" y="3334738"/>
            <a:ext cx="204470" cy="11176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0"/>
              </a:spcBef>
            </a:pP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zation</a:t>
            </a:r>
            <a:endParaRPr sz="600">
              <a:latin typeface="Tahoma"/>
              <a:cs typeface="Tahoma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523276" y="3322038"/>
            <a:ext cx="1529715" cy="13716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Document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Summarization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60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via</a:t>
            </a:r>
            <a:r>
              <a:rPr sz="600" spc="25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Sparse</a:t>
            </a:r>
            <a:r>
              <a:rPr sz="600" spc="3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 </a:t>
            </a:r>
            <a:r>
              <a:rPr sz="600" spc="-10" dirty="0">
                <a:solidFill>
                  <a:srgbClr val="FFFFFF"/>
                </a:solidFill>
                <a:latin typeface="Tahoma"/>
                <a:cs typeface="Tahoma"/>
                <a:hlinkClick r:id="rId9" action="ppaction://hlinksldjump"/>
              </a:rPr>
              <a:t>Optimi</a:t>
            </a:r>
            <a:endParaRPr sz="600">
              <a:latin typeface="Tahoma"/>
              <a:cs typeface="Tahoma"/>
            </a:endParaRPr>
          </a:p>
        </p:txBody>
      </p:sp>
      <p:sp>
        <p:nvSpPr>
          <p:cNvPr id="80" name="object 8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/>
              <a:t>August</a:t>
            </a:r>
            <a:r>
              <a:rPr spc="-5" dirty="0"/>
              <a:t> </a:t>
            </a:r>
            <a:r>
              <a:rPr dirty="0"/>
              <a:t>23,</a:t>
            </a:r>
            <a:r>
              <a:rPr spc="10" dirty="0"/>
              <a:t> </a:t>
            </a:r>
            <a:r>
              <a:rPr spc="-20" dirty="0"/>
              <a:t>2025</a:t>
            </a:r>
          </a:p>
        </p:txBody>
      </p:sp>
      <p:sp>
        <p:nvSpPr>
          <p:cNvPr id="81" name="object 8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pc="-10" dirty="0"/>
              <a:t>17</a:t>
            </a:fld>
            <a:r>
              <a:rPr spc="-90" dirty="0"/>
              <a:t> </a:t>
            </a:r>
            <a:r>
              <a:rPr spc="90" dirty="0"/>
              <a:t>/</a:t>
            </a:r>
            <a:r>
              <a:rPr spc="-90" dirty="0"/>
              <a:t> </a:t>
            </a:r>
            <a:r>
              <a:rPr spc="-35" dirty="0"/>
              <a:t>16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677799-59A4-2A3B-9AEA-C6491A9770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5" y="587375"/>
            <a:ext cx="4610100" cy="1949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121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438785-1BD9-82C2-E698-FC5EF0C2D5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400" y="0"/>
            <a:ext cx="2803299" cy="346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2371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</TotalTime>
  <Words>2388</Words>
  <Application>Microsoft Office PowerPoint</Application>
  <PresentationFormat>Custom</PresentationFormat>
  <Paragraphs>417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30" baseType="lpstr">
      <vt:lpstr>Arial</vt:lpstr>
      <vt:lpstr>Arial Black</vt:lpstr>
      <vt:lpstr>Arial MT</vt:lpstr>
      <vt:lpstr>Calibri</vt:lpstr>
      <vt:lpstr>Cambria</vt:lpstr>
      <vt:lpstr>Georgia</vt:lpstr>
      <vt:lpstr>Roboto Bk</vt:lpstr>
      <vt:lpstr>Tahoma</vt:lpstr>
      <vt:lpstr>Verdana</vt:lpstr>
      <vt:lpstr>Wingdings</vt:lpstr>
      <vt:lpstr>Office Theme</vt:lpstr>
      <vt:lpstr>PowerPoint Presentation</vt:lpstr>
      <vt:lpstr>PowerPoint Presentation</vt:lpstr>
      <vt:lpstr>Problem Statement</vt:lpstr>
      <vt:lpstr> Extractive Summarization</vt:lpstr>
      <vt:lpstr>X-Update </vt:lpstr>
      <vt:lpstr>Z-Update </vt:lpstr>
      <vt:lpstr>U-Update </vt:lpstr>
      <vt:lpstr>Diversity-Augmented Extractive Summarization</vt:lpstr>
      <vt:lpstr>X-Update </vt:lpstr>
      <vt:lpstr> Z-Update </vt:lpstr>
      <vt:lpstr>U-Update </vt:lpstr>
      <vt:lpstr>Subproblem for A in Compressive Summarization</vt:lpstr>
      <vt:lpstr> X-Update </vt:lpstr>
      <vt:lpstr>Z-Update </vt:lpstr>
      <vt:lpstr> U-Update </vt:lpstr>
      <vt:lpstr>Subproblem for R in Compressive Summarization</vt:lpstr>
      <vt:lpstr>Proximal Gradient Update (P1-P2)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Document Summarization via Sparse Optimization - ADMM and Optimization Derivations</dc:title>
  <dc:creator>ASUS</dc:creator>
  <cp:lastModifiedBy>Kalluru Abhishek Reddy</cp:lastModifiedBy>
  <cp:revision>16</cp:revision>
  <dcterms:created xsi:type="dcterms:W3CDTF">2025-08-23T10:07:10Z</dcterms:created>
  <dcterms:modified xsi:type="dcterms:W3CDTF">2025-10-09T03:27:26Z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2025-08-23T00:00:00Z</vt:filetime>
  </property>
  <property fmtid="{D5CDD505-2E9C-101B-9397-08002B2CF9AE}" pid="3" name="Creator">
    <vt:lpwstr>LaTeX with Beamer class</vt:lpwstr>
  </property>
  <property fmtid="{D5CDD505-2E9C-101B-9397-08002B2CF9AE}" pid="4" name="Producer">
    <vt:lpwstr>xdvipdfmx (20220710)</vt:lpwstr>
  </property>
  <property fmtid="{D5CDD505-2E9C-101B-9397-08002B2CF9AE}" pid="5" name="LastSaved">
    <vt:filetime>2025-08-23T00:00:00Z</vt:filetime>
  </property>
</Properties>
</file>